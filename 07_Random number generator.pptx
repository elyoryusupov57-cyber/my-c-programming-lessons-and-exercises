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lv-LV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137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9511-0736-4446-A3AB-C2DAB0C39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1552B-F92D-42EF-9C76-08BAC9C96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48663-8188-49DE-84B5-0EE68D5B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4A3E4-84BE-48CC-87C8-4CB79964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02E7A-89CB-433D-90A5-BBA2CC334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830972-52C3-41BD-A410-3AE36B3EA9B7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05566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5B51-6BD8-4FB0-884F-4DA900DFE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7AA75-5A97-4A37-9A06-F8A943750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54746-1C1D-4903-90A3-9A508560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AB88C-629B-4E7E-BC1C-B941085B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4DE5F-A1A7-4BA4-8BBD-ED0522E5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9AF941-A3C2-4F67-B6B5-30B99C793528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09101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CBBC9-31FE-4ED7-AB16-81ED12FA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BA5D1-AAE3-4F57-BA92-81EB78197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AA03B-D694-448F-A77F-7EFE69302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CAD1-0585-4DC8-9123-C5FA4EB5E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1F9B6-20EC-478D-B562-9F5BF838F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8D7F5-9C2B-4B2A-997A-895CD5DAA3AA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11041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9CFBF-1D1B-48B3-9870-36CAEF608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E7C7B-A15C-412E-939D-6127D03E3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8AE1D-161F-4FAF-9A96-E372EEA3C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EF61D-9BE0-454D-A39D-439332D5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1B7B8-2DC7-4AE8-AC8F-E3587FA92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0BAFA-B364-4DD4-8938-8F0ED572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F90DA2-910E-47B6-8E3D-3C7DC77A3098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61774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9E84-5E3B-43C5-B367-39E0EF25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2642E-1264-484A-BA10-14E8E233B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3B578-1CAF-4589-A3BA-A8E13DE34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24884B-5E3D-4EDC-9382-F2DC44503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3C0BB-F72A-4BA7-BDB9-67DE9C5BA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581537-20D2-4975-8EDB-2318D510C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646C75-E102-4295-A6F1-B09B0BC6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E2CD33-53FA-44A0-AC52-2F096DC2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2BC1E8-BCAA-40B0-8453-237FAAC47839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22847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C69E-200D-4489-BF60-748F1BDF1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F2B7AF-0E94-4C58-8085-B80FC0BC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B5C4C-2969-471F-AC1F-CC2B5884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6177C-409D-4302-B942-A869032A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11A0DE-1083-4094-8B0E-7861C9D8DED2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27372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FC0B9D-1B50-4856-8C3A-F0D12E326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342B6-0345-4DFF-9370-84B82C53E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7E6ED-DE5D-48DC-B5F0-2945581A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3AAAA-2918-4D95-9DD7-9AA102DA42AC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958553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2B87-4300-4183-B195-C2301CEA9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BD26B-CB33-4A36-8FAB-96F7FC0E0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DA715-DE6F-47BF-A19C-9F4E05D8B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AC32E-B01C-4CB2-BAF5-917EF1619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D66C0-279A-44DA-A622-5E8795A7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046E5-BDA6-43CF-889F-9C95394B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20FE0-7E9E-4142-A266-7498498F3588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84199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53CC-B86C-4D19-B7CD-AAFEAD32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36C2A-62FC-49E4-B3AD-63C997DD2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AF850-7A41-495C-9E57-4FD798FB7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5623F-4BA7-453A-B531-87043D38E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C2C43-1464-4295-A240-3FBA4DE97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FF7AD-AD2E-4F3C-9B64-5B7EE3D5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1E7545-E2E3-4848-972F-13290D4EB8A5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714082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07114-B437-432B-998B-E2A88951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000D9-8B33-44C5-AE67-AB083FA3A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7B9A-C278-4EAE-9A57-84A33AE45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C5466-E7C8-4ABF-9422-F6DFF36B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6E195-9D72-4C49-88B5-F11C58C5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E5E927-F36F-40F2-A853-C559033C56EC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02466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DB6C0-EB67-428A-BFF3-D3EA387E95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6B688-3763-4E19-9DAE-E76D54778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85049-2F9F-47E4-8246-DBB402A7F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61C69-FF88-4F05-B2E4-C128D194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1E861-90C7-47DE-8746-5D058005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BAABAD-59A6-4185-BA83-84176952D1F6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96792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457AB4D-5CE9-4CC7-9813-39EC2CC5D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D576250-1BE0-42BA-806C-6EF79E1AC0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414B302-1216-4301-B30F-099257AC96B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lv-LV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811A3E5-69AE-42F8-9391-10A9DD5645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lv-LV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2346062-23E9-4B0A-AD78-BB63366B5D1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437A982-926D-4B45-A826-9CA662418286}" type="slidenum">
              <a:rPr lang="lv-LV" altLang="en-US"/>
              <a:pPr/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682BF5B-F11B-40FA-BD74-6C941C5470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dirty="0"/>
              <a:t>Random number generator</a:t>
            </a:r>
            <a:endParaRPr lang="lv-LV" alt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3CAAC85-80D4-45B9-847F-DBE5EA942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Random</a:t>
            </a:r>
            <a:r>
              <a:rPr lang="lv-LV" altLang="en-US" dirty="0"/>
              <a:t> </a:t>
            </a:r>
            <a:r>
              <a:rPr lang="lv-LV" altLang="en-US" dirty="0" err="1"/>
              <a:t>number</a:t>
            </a:r>
            <a:r>
              <a:rPr lang="lv-LV" altLang="en-US" dirty="0"/>
              <a:t> </a:t>
            </a:r>
            <a:r>
              <a:rPr lang="lv-LV" altLang="en-US" dirty="0" err="1"/>
              <a:t>generator</a:t>
            </a:r>
            <a:endParaRPr lang="lv-LV" alt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2888B03-715A-4A0D-AC03-4B6634D23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811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3600" dirty="0"/>
              <a:t>Is necessary to model random processes in programs</a:t>
            </a:r>
            <a:r>
              <a:rPr lang="lv-LV" altLang="en-US" sz="3600" dirty="0"/>
              <a:t>. </a:t>
            </a:r>
            <a:r>
              <a:rPr lang="en-US" altLang="en-US" sz="3600" dirty="0"/>
              <a:t>For example</a:t>
            </a:r>
            <a:r>
              <a:rPr lang="lv-LV" altLang="en-US" sz="3600" dirty="0"/>
              <a:t>:</a:t>
            </a:r>
          </a:p>
          <a:p>
            <a:pPr marL="0" indent="0">
              <a:buFontTx/>
              <a:buNone/>
            </a:pPr>
            <a:endParaRPr lang="lv-LV" altLang="en-US" sz="3600" dirty="0"/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65B997C0-62BD-4EE5-BD04-EDB507718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141663"/>
            <a:ext cx="484940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52425" indent="-3524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31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3600" dirty="0">
                <a:latin typeface="Times New Roman" panose="02020603050405020304" pitchFamily="18" charset="0"/>
              </a:rPr>
              <a:t>Probability calculation 
Systems modelling
Computer games</a:t>
            </a:r>
            <a:endParaRPr lang="lv-LV" altLang="en-US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302B97F-8CEC-4633-B94D-278241782F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Random</a:t>
            </a:r>
            <a:r>
              <a:rPr lang="lv-LV" altLang="en-US" dirty="0"/>
              <a:t> </a:t>
            </a:r>
            <a:r>
              <a:rPr lang="lv-LV" altLang="en-US" dirty="0" err="1"/>
              <a:t>number</a:t>
            </a:r>
            <a:r>
              <a:rPr lang="lv-LV" altLang="en-US" dirty="0"/>
              <a:t> </a:t>
            </a:r>
            <a:r>
              <a:rPr lang="lv-LV" altLang="en-US" dirty="0" err="1"/>
              <a:t>generator</a:t>
            </a:r>
            <a:endParaRPr lang="lv-LV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2236D38-704A-4AAB-B905-78229E6D3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811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3600" dirty="0"/>
              <a:t>How will we use it?
</a:t>
            </a:r>
            <a:endParaRPr lang="lv-LV" altLang="en-US" sz="3600" dirty="0"/>
          </a:p>
        </p:txBody>
      </p:sp>
      <p:sp>
        <p:nvSpPr>
          <p:cNvPr id="4100" name="Text Box 4">
            <a:extLst>
              <a:ext uri="{FF2B5EF4-FFF2-40B4-BE49-F238E27FC236}">
                <a16:creationId xmlns:a16="http://schemas.microsoft.com/office/drawing/2014/main" id="{D3309F1F-EE69-41AD-B954-F929875A1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852738"/>
            <a:ext cx="80645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31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dirty="0">
                <a:latin typeface="Times New Roman" panose="02020603050405020304" pitchFamily="18" charset="0"/>
              </a:rPr>
              <a:t>There are a lot of programs when you need to request multiple inputs from a user. Now we can generate the numeric arrays automatically.
</a:t>
            </a:r>
            <a:endParaRPr lang="lv-LV" altLang="en-US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DAECD9A-B0AD-4977-B402-D0073C614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Example</a:t>
            </a:r>
            <a:r>
              <a:rPr lang="lv-LV" altLang="en-US" dirty="0"/>
              <a:t> 1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6DB5AE9-314F-43C4-A892-99128EB1B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6762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Single number generation 
</a:t>
            </a:r>
            <a:endParaRPr lang="lv-LV" altLang="en-US" dirty="0"/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8B5D3602-ACA2-4D8C-90F2-412D0CD34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1945863"/>
            <a:ext cx="4115229" cy="31393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#include &lt;iostream&gt;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#include &lt;</a:t>
            </a:r>
            <a:r>
              <a:rPr lang="en-US" altLang="en-US" dirty="0" err="1">
                <a:latin typeface="Courier New" panose="02070309020205020404" pitchFamily="49" charset="0"/>
              </a:rPr>
              <a:t>cstdlib</a:t>
            </a:r>
            <a:r>
              <a:rPr lang="en-US" altLang="en-US" dirty="0">
                <a:latin typeface="Courier New" panose="02070309020205020404" pitchFamily="49" charset="0"/>
              </a:rPr>
              <a:t>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using namespace std;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 </a:t>
            </a:r>
            <a:endParaRPr lang="en-US" altLang="en-US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int main()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{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</a:t>
            </a:r>
            <a:r>
              <a:rPr lang="en-US" altLang="en-US" dirty="0" err="1">
                <a:latin typeface="Courier New" panose="02070309020205020404" pitchFamily="49" charset="0"/>
              </a:rPr>
              <a:t>cout</a:t>
            </a:r>
            <a:r>
              <a:rPr lang="en-US" altLang="en-US" dirty="0">
                <a:latin typeface="Courier New" panose="02070309020205020404" pitchFamily="49" charset="0"/>
              </a:rPr>
              <a:t> &lt;&lt; rand() &lt;&lt; </a:t>
            </a:r>
            <a:r>
              <a:rPr lang="en-US" altLang="en-US" dirty="0" err="1">
                <a:latin typeface="Courier New" panose="02070309020205020404" pitchFamily="49" charset="0"/>
              </a:rPr>
              <a:t>endl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 </a:t>
            </a:r>
            <a:endParaRPr lang="en-US" altLang="en-US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system("pause");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return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}</a:t>
            </a:r>
            <a:endParaRPr lang="lv-LV" altLang="en-US" dirty="0">
              <a:latin typeface="Courier New" panose="02070309020205020404" pitchFamily="49" charset="0"/>
            </a:endParaRPr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41A6056B-D33E-426D-AF83-4A5073444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373688"/>
            <a:ext cx="813593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74713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970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91928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44157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987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559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131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703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spcBef>
                <a:spcPct val="50000"/>
              </a:spcBef>
              <a:buClr>
                <a:srgbClr val="0000FF"/>
              </a:buClr>
              <a:buFont typeface="+mj-lt"/>
              <a:buAutoNum type="arabicPeriod" startAt="2"/>
            </a:pPr>
            <a:r>
              <a:rPr lang="en-US" altLang="en-US" sz="2000" dirty="0"/>
              <a:t>Random functions library</a:t>
            </a:r>
          </a:p>
          <a:p>
            <a:pPr marL="457200" indent="-457200">
              <a:spcBef>
                <a:spcPct val="50000"/>
              </a:spcBef>
              <a:buClr>
                <a:srgbClr val="0000FF"/>
              </a:buClr>
              <a:buFont typeface="+mj-lt"/>
              <a:buAutoNum type="arabicPeriod" startAt="7"/>
            </a:pPr>
            <a:r>
              <a:rPr lang="en-US" altLang="en-US" sz="2000" dirty="0"/>
              <a:t>The </a:t>
            </a:r>
            <a:r>
              <a:rPr lang="en-US" altLang="en-US" sz="2000" b="1" dirty="0"/>
              <a:t>rand() </a:t>
            </a:r>
            <a:r>
              <a:rPr lang="en-US" altLang="en-US" sz="2000" dirty="0"/>
              <a:t>function generates numbers from 0 to a built-in constant value RAND_MAX, which is usually equal to </a:t>
            </a:r>
            <a:r>
              <a:rPr lang="lv-LV" altLang="en-US" sz="2000" dirty="0"/>
              <a:t>2</a:t>
            </a:r>
            <a:r>
              <a:rPr lang="lv-LV" altLang="en-US" sz="2000" baseline="30000" dirty="0"/>
              <a:t>16</a:t>
            </a:r>
            <a:r>
              <a:rPr lang="lv-LV" altLang="en-US" sz="20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B62C8EB-9895-46FA-9CC2-D37E51431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Example</a:t>
            </a:r>
            <a:r>
              <a:rPr lang="lv-LV" altLang="en-US" dirty="0"/>
              <a:t> 1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FE9691-9398-4539-A0D6-D2BCA504B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Launch the program more than once. What do you see?
Random numbers are not real!!!
How do generate numbers in some interval?</a:t>
            </a:r>
            <a:endParaRPr lang="lv-LV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FB60740-B13C-4D6F-A9D1-926359C9C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Example</a:t>
            </a:r>
            <a:r>
              <a:rPr lang="lv-LV" altLang="en-US" dirty="0"/>
              <a:t> 2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25607B3-1EE5-4AF0-B872-8980C5CEDF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0483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10 number generation in interval 0-99
</a:t>
            </a:r>
            <a:endParaRPr lang="lv-LV" altLang="en-US" dirty="0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9E865DE6-C877-4673-A009-497A1F225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2244725"/>
            <a:ext cx="5698996" cy="45243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#include &lt;iostream&gt;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#include &lt;</a:t>
            </a:r>
            <a:r>
              <a:rPr lang="en-US" altLang="en-US" dirty="0" err="1">
                <a:latin typeface="Courier New" panose="02070309020205020404" pitchFamily="49" charset="0"/>
              </a:rPr>
              <a:t>cstdlib</a:t>
            </a:r>
            <a:r>
              <a:rPr lang="en-US" altLang="en-US" dirty="0">
                <a:latin typeface="Courier New" panose="02070309020205020404" pitchFamily="49" charset="0"/>
              </a:rPr>
              <a:t>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#include &lt;</a:t>
            </a:r>
            <a:r>
              <a:rPr lang="en-US" altLang="en-US" dirty="0" err="1">
                <a:latin typeface="Courier New" panose="02070309020205020404" pitchFamily="49" charset="0"/>
              </a:rPr>
              <a:t>ctime</a:t>
            </a:r>
            <a:r>
              <a:rPr lang="en-US" altLang="en-US" dirty="0">
                <a:latin typeface="Courier New" panose="02070309020205020404" pitchFamily="49" charset="0"/>
              </a:rPr>
              <a:t>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using namespace std;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 </a:t>
            </a:r>
            <a:endParaRPr lang="en-US" altLang="en-US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int main()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{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dirty="0" err="1">
                <a:latin typeface="Courier New" panose="02070309020205020404" pitchFamily="49" charset="0"/>
              </a:rPr>
              <a:t>time_t</a:t>
            </a:r>
            <a:r>
              <a:rPr lang="en-US" altLang="en-US" dirty="0">
                <a:latin typeface="Courier New" panose="02070309020205020404" pitchFamily="49" charset="0"/>
              </a:rPr>
              <a:t> 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dirty="0" err="1">
                <a:latin typeface="Courier New" panose="02070309020205020404" pitchFamily="49" charset="0"/>
              </a:rPr>
              <a:t>srand</a:t>
            </a:r>
            <a:r>
              <a:rPr lang="en-US" altLang="en-US" dirty="0">
                <a:latin typeface="Courier New" panose="02070309020205020404" pitchFamily="49" charset="0"/>
              </a:rPr>
              <a:t>((unsigned) time(&amp;t));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for(long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=0;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&lt;10;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++)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    </a:t>
            </a:r>
            <a:r>
              <a:rPr lang="en-US" altLang="en-US" dirty="0" err="1">
                <a:latin typeface="Courier New" panose="02070309020205020404" pitchFamily="49" charset="0"/>
              </a:rPr>
              <a:t>cout</a:t>
            </a:r>
            <a:r>
              <a:rPr lang="en-US" altLang="en-US" dirty="0">
                <a:latin typeface="Courier New" panose="02070309020205020404" pitchFamily="49" charset="0"/>
              </a:rPr>
              <a:t> &lt;&lt; rand() % 100&lt;&lt; </a:t>
            </a:r>
            <a:r>
              <a:rPr lang="en-US" altLang="en-US" dirty="0" err="1">
                <a:latin typeface="Courier New" panose="02070309020205020404" pitchFamily="49" charset="0"/>
              </a:rPr>
              <a:t>endl</a:t>
            </a:r>
            <a:r>
              <a:rPr lang="en-US" altLang="en-US" dirty="0">
                <a:latin typeface="Courier New" panose="02070309020205020404" pitchFamily="49" charset="0"/>
              </a:rPr>
              <a:t>;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 </a:t>
            </a:r>
            <a:endParaRPr lang="en-US" altLang="en-US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system("pause");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return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}</a:t>
            </a:r>
            <a:endParaRPr lang="lv-LV" altLang="en-US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A42D004-079F-4FF2-B807-C6D8019F8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850900"/>
          </a:xfrm>
        </p:spPr>
        <p:txBody>
          <a:bodyPr/>
          <a:lstStyle/>
          <a:p>
            <a:r>
              <a:rPr lang="lv-LV" altLang="en-US" dirty="0"/>
              <a:t>2</a:t>
            </a:r>
            <a:r>
              <a:rPr lang="en-US" altLang="en-US" baseline="30000" dirty="0" err="1"/>
              <a:t>nd</a:t>
            </a:r>
            <a:r>
              <a:rPr lang="en-US" altLang="en-US" dirty="0"/>
              <a:t> example analysis</a:t>
            </a:r>
            <a:endParaRPr lang="lv-LV" altLang="en-US" dirty="0"/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BDAC101C-60D3-4098-A9E2-7F915D12E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81075"/>
            <a:ext cx="5654675" cy="35394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#include &lt;iostream&gt;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#include &lt;</a:t>
            </a:r>
            <a:r>
              <a:rPr lang="en-US" altLang="en-US" sz="1400" dirty="0" err="1">
                <a:latin typeface="Courier New" panose="02070309020205020404" pitchFamily="49" charset="0"/>
              </a:rPr>
              <a:t>cstdlib</a:t>
            </a:r>
            <a:r>
              <a:rPr lang="en-US" altLang="en-US" sz="1400" dirty="0">
                <a:latin typeface="Courier New" panose="02070309020205020404" pitchFamily="49" charset="0"/>
              </a:rPr>
              <a:t>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#include &lt;</a:t>
            </a:r>
            <a:r>
              <a:rPr lang="en-US" altLang="en-US" sz="1400" dirty="0" err="1">
                <a:latin typeface="Courier New" panose="02070309020205020404" pitchFamily="49" charset="0"/>
              </a:rPr>
              <a:t>ctime</a:t>
            </a:r>
            <a:r>
              <a:rPr lang="en-US" altLang="en-US" sz="1400" dirty="0">
                <a:latin typeface="Courier New" panose="02070309020205020404" pitchFamily="49" charset="0"/>
              </a:rPr>
              <a:t>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using namespace std;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</a:t>
            </a:r>
            <a:endParaRPr lang="en-US" altLang="en-US" sz="14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int main()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{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    </a:t>
            </a:r>
            <a:r>
              <a:rPr lang="en-US" altLang="en-US" sz="1400" dirty="0" err="1">
                <a:latin typeface="Courier New" panose="02070309020205020404" pitchFamily="49" charset="0"/>
              </a:rPr>
              <a:t>time_t</a:t>
            </a:r>
            <a:r>
              <a:rPr lang="en-US" altLang="en-US" sz="1400" dirty="0">
                <a:latin typeface="Courier New" panose="02070309020205020404" pitchFamily="49" charset="0"/>
              </a:rPr>
              <a:t> 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    </a:t>
            </a:r>
            <a:r>
              <a:rPr lang="en-US" altLang="en-US" sz="1400" dirty="0" err="1">
                <a:latin typeface="Courier New" panose="02070309020205020404" pitchFamily="49" charset="0"/>
              </a:rPr>
              <a:t>srand</a:t>
            </a:r>
            <a:r>
              <a:rPr lang="en-US" altLang="en-US" sz="1400" dirty="0">
                <a:latin typeface="Courier New" panose="02070309020205020404" pitchFamily="49" charset="0"/>
              </a:rPr>
              <a:t>((unsigned) time(&amp;t));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    for(long </a:t>
            </a:r>
            <a:r>
              <a:rPr lang="en-US" altLang="en-US" sz="1400" dirty="0" err="1">
                <a:latin typeface="Courier New" panose="02070309020205020404" pitchFamily="49" charset="0"/>
              </a:rPr>
              <a:t>i</a:t>
            </a:r>
            <a:r>
              <a:rPr lang="en-US" altLang="en-US" sz="1400" dirty="0">
                <a:latin typeface="Courier New" panose="02070309020205020404" pitchFamily="49" charset="0"/>
              </a:rPr>
              <a:t>=0; </a:t>
            </a:r>
            <a:r>
              <a:rPr lang="en-US" altLang="en-US" sz="1400" dirty="0" err="1">
                <a:latin typeface="Courier New" panose="02070309020205020404" pitchFamily="49" charset="0"/>
              </a:rPr>
              <a:t>i</a:t>
            </a:r>
            <a:r>
              <a:rPr lang="en-US" altLang="en-US" sz="1400" dirty="0">
                <a:latin typeface="Courier New" panose="02070309020205020404" pitchFamily="49" charset="0"/>
              </a:rPr>
              <a:t>&lt;10; </a:t>
            </a:r>
            <a:r>
              <a:rPr lang="en-US" altLang="en-US" sz="1400" dirty="0" err="1">
                <a:latin typeface="Courier New" panose="02070309020205020404" pitchFamily="49" charset="0"/>
              </a:rPr>
              <a:t>i</a:t>
            </a:r>
            <a:r>
              <a:rPr lang="en-US" altLang="en-US" sz="1400" dirty="0">
                <a:latin typeface="Courier New" panose="02070309020205020404" pitchFamily="49" charset="0"/>
              </a:rPr>
              <a:t>++)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        </a:t>
            </a:r>
            <a:r>
              <a:rPr lang="en-US" altLang="en-US" sz="1400" dirty="0" err="1">
                <a:latin typeface="Courier New" panose="02070309020205020404" pitchFamily="49" charset="0"/>
              </a:rPr>
              <a:t>cout</a:t>
            </a:r>
            <a:r>
              <a:rPr lang="en-US" altLang="en-US" sz="1400" dirty="0">
                <a:latin typeface="Courier New" panose="02070309020205020404" pitchFamily="49" charset="0"/>
              </a:rPr>
              <a:t> &lt;&lt; rand() % 100&lt;&lt; </a:t>
            </a:r>
            <a:r>
              <a:rPr lang="en-US" altLang="en-US" sz="1400" dirty="0" err="1">
                <a:latin typeface="Courier New" panose="02070309020205020404" pitchFamily="49" charset="0"/>
              </a:rPr>
              <a:t>endl</a:t>
            </a:r>
            <a:r>
              <a:rPr lang="en-US" altLang="en-US" sz="1400" dirty="0">
                <a:latin typeface="Courier New" panose="02070309020205020404" pitchFamily="49" charset="0"/>
              </a:rPr>
              <a:t>;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</a:t>
            </a:r>
            <a:endParaRPr lang="en-US" altLang="en-US" sz="14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   system("pause");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   return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400" dirty="0">
                <a:latin typeface="Courier New" panose="02070309020205020404" pitchFamily="49" charset="0"/>
              </a:rPr>
              <a:t>}</a:t>
            </a:r>
            <a:endParaRPr lang="lv-LV" altLang="en-US" sz="1400" dirty="0">
              <a:latin typeface="Courier New" panose="02070309020205020404" pitchFamily="49" charset="0"/>
            </a:endParaRPr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8FACAA4C-5B56-4167-BBDB-25C47919D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" y="4524201"/>
            <a:ext cx="84241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 typeface="+mj-lt"/>
              <a:buAutoNum type="arabicPeriod" startAt="3"/>
            </a:pPr>
            <a:r>
              <a:rPr lang="lv-LV" altLang="en-US" b="1" i="1" dirty="0" err="1">
                <a:latin typeface="Times New Roman" panose="02020603050405020304" pitchFamily="18" charset="0"/>
              </a:rPr>
              <a:t>ctime</a:t>
            </a:r>
            <a:r>
              <a:rPr lang="lv-LV" altLang="en-US" dirty="0">
                <a:latin typeface="Times New Roman" panose="02020603050405020304" pitchFamily="18" charset="0"/>
              </a:rPr>
              <a:t> – </a:t>
            </a:r>
            <a:r>
              <a:rPr lang="en-US" altLang="en-US" dirty="0">
                <a:latin typeface="Times New Roman" panose="02020603050405020304" pitchFamily="18" charset="0"/>
              </a:rPr>
              <a:t>library for </a:t>
            </a:r>
            <a:r>
              <a:rPr lang="en-US" altLang="en-US" i="1" dirty="0">
                <a:latin typeface="Times New Roman" panose="02020603050405020304" pitchFamily="18" charset="0"/>
              </a:rPr>
              <a:t>time</a:t>
            </a:r>
            <a:r>
              <a:rPr lang="en-US" altLang="en-US" dirty="0">
                <a:latin typeface="Times New Roman" panose="02020603050405020304" pitchFamily="18" charset="0"/>
              </a:rPr>
              <a:t> functions</a:t>
            </a:r>
            <a:r>
              <a:rPr lang="lv-LV" altLang="en-US" dirty="0">
                <a:latin typeface="Times New Roman" panose="02020603050405020304" pitchFamily="18" charset="0"/>
              </a:rPr>
              <a:t>.</a:t>
            </a:r>
          </a:p>
          <a:p>
            <a:pPr>
              <a:buClr>
                <a:srgbClr val="0000FF"/>
              </a:buClr>
              <a:buFont typeface="+mj-lt"/>
              <a:buAutoNum type="arabicPeriod" startAt="8"/>
            </a:pPr>
            <a:r>
              <a:rPr lang="lv-LV" altLang="en-US" b="1" i="1" dirty="0" err="1">
                <a:latin typeface="Times New Roman" panose="02020603050405020304" pitchFamily="18" charset="0"/>
              </a:rPr>
              <a:t>time_t</a:t>
            </a:r>
            <a:r>
              <a:rPr lang="lv-LV" altLang="en-US" b="1" i="1" dirty="0">
                <a:latin typeface="Times New Roman" panose="02020603050405020304" pitchFamily="18" charset="0"/>
              </a:rPr>
              <a:t> t</a:t>
            </a:r>
            <a:r>
              <a:rPr lang="lv-LV" altLang="en-US" dirty="0">
                <a:latin typeface="Times New Roman" panose="02020603050405020304" pitchFamily="18" charset="0"/>
              </a:rPr>
              <a:t> – </a:t>
            </a:r>
            <a:r>
              <a:rPr lang="en-US" altLang="en-US" dirty="0">
                <a:latin typeface="Times New Roman" panose="02020603050405020304" pitchFamily="18" charset="0"/>
              </a:rPr>
              <a:t>variable type where you can store the time</a:t>
            </a:r>
            <a:r>
              <a:rPr lang="lv-LV" altLang="en-US" dirty="0">
                <a:latin typeface="Times New Roman" panose="02020603050405020304" pitchFamily="18" charset="0"/>
              </a:rPr>
              <a:t>.</a:t>
            </a:r>
          </a:p>
          <a:p>
            <a:pPr>
              <a:buClr>
                <a:srgbClr val="0000FF"/>
              </a:buClr>
              <a:buFontTx/>
              <a:buAutoNum type="arabicPeriod" startAt="8"/>
            </a:pPr>
            <a:r>
              <a:rPr lang="en-US" altLang="en-US" b="1" i="1" dirty="0" err="1">
                <a:latin typeface="Times New Roman" panose="02020603050405020304" pitchFamily="18" charset="0"/>
              </a:rPr>
              <a:t>srand</a:t>
            </a:r>
            <a:r>
              <a:rPr lang="en-US" altLang="en-US" b="1" i="1" dirty="0">
                <a:latin typeface="Times New Roman" panose="02020603050405020304" pitchFamily="18" charset="0"/>
              </a:rPr>
              <a:t>((unsigned) time(&amp;t))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</a:p>
          <a:p>
            <a:pPr lvl="1">
              <a:buClr>
                <a:srgbClr val="0000FF"/>
              </a:buClr>
              <a:buFontTx/>
              <a:buChar char="•"/>
            </a:pPr>
            <a:r>
              <a:rPr lang="en-US" altLang="en-US" b="1" i="1" dirty="0">
                <a:latin typeface="Times New Roman" panose="02020603050405020304" pitchFamily="18" charset="0"/>
              </a:rPr>
              <a:t>time(&amp;t)</a:t>
            </a:r>
            <a:r>
              <a:rPr lang="lv-LV" altLang="en-US" dirty="0">
                <a:latin typeface="Times New Roman" panose="02020603050405020304" pitchFamily="18" charset="0"/>
              </a:rPr>
              <a:t> – </a:t>
            </a:r>
            <a:r>
              <a:rPr lang="en-US" altLang="en-US" dirty="0">
                <a:latin typeface="Times New Roman" panose="02020603050405020304" pitchFamily="18" charset="0"/>
              </a:rPr>
              <a:t>function that records the time to variable </a:t>
            </a:r>
            <a:r>
              <a:rPr lang="en-US" altLang="en-US" b="1" dirty="0">
                <a:latin typeface="Times New Roman" panose="02020603050405020304" pitchFamily="18" charset="0"/>
              </a:rPr>
              <a:t>t</a:t>
            </a:r>
            <a:r>
              <a:rPr lang="en-US" altLang="en-US" dirty="0">
                <a:latin typeface="Times New Roman" panose="02020603050405020304" pitchFamily="18" charset="0"/>
              </a:rPr>
              <a:t>. Time is taken in seconds</a:t>
            </a:r>
            <a:r>
              <a:rPr lang="lv-LV" altLang="en-US" dirty="0">
                <a:latin typeface="Times New Roman" panose="02020603050405020304" pitchFamily="18" charset="0"/>
              </a:rPr>
              <a:t>.</a:t>
            </a:r>
          </a:p>
          <a:p>
            <a:pPr lvl="1">
              <a:buClr>
                <a:srgbClr val="0000FF"/>
              </a:buClr>
              <a:buFontTx/>
              <a:buChar char="•"/>
            </a:pPr>
            <a:r>
              <a:rPr lang="en-US" altLang="en-US" b="1" i="1" dirty="0" err="1">
                <a:latin typeface="Times New Roman" panose="02020603050405020304" pitchFamily="18" charset="0"/>
              </a:rPr>
              <a:t>srand</a:t>
            </a:r>
            <a:r>
              <a:rPr lang="lv-LV" altLang="en-US" dirty="0">
                <a:latin typeface="Times New Roman" panose="02020603050405020304" pitchFamily="18" charset="0"/>
              </a:rPr>
              <a:t> – </a:t>
            </a:r>
            <a:r>
              <a:rPr lang="lv-LV" altLang="en-US" dirty="0" err="1">
                <a:latin typeface="Times New Roman" panose="02020603050405020304" pitchFamily="18" charset="0"/>
              </a:rPr>
              <a:t>Random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  <a:r>
              <a:rPr lang="lv-LV" altLang="en-US" dirty="0" err="1">
                <a:latin typeface="Times New Roman" panose="02020603050405020304" pitchFamily="18" charset="0"/>
              </a:rPr>
              <a:t>numbers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  <a:r>
              <a:rPr lang="lv-LV" altLang="en-US" dirty="0" err="1">
                <a:latin typeface="Times New Roman" panose="02020603050405020304" pitchFamily="18" charset="0"/>
              </a:rPr>
              <a:t>Generator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  <a:r>
              <a:rPr lang="lv-LV" altLang="en-US" dirty="0" err="1">
                <a:latin typeface="Times New Roman" panose="02020603050405020304" pitchFamily="18" charset="0"/>
              </a:rPr>
              <a:t>initialization</a:t>
            </a:r>
            <a:r>
              <a:rPr lang="lv-LV" altLang="en-US" dirty="0">
                <a:latin typeface="Times New Roman" panose="02020603050405020304" pitchFamily="18" charset="0"/>
              </a:rPr>
              <a:t>.</a:t>
            </a:r>
          </a:p>
          <a:p>
            <a:pPr lvl="1">
              <a:buClr>
                <a:srgbClr val="0000FF"/>
              </a:buClr>
              <a:buFontTx/>
              <a:buChar char="•"/>
            </a:pPr>
            <a:r>
              <a:rPr lang="en-US" altLang="en-US" b="1" i="1" dirty="0">
                <a:latin typeface="Times New Roman" panose="02020603050405020304" pitchFamily="18" charset="0"/>
              </a:rPr>
              <a:t>(unsigned) time(&amp;t)</a:t>
            </a:r>
            <a:r>
              <a:rPr lang="lv-LV" altLang="en-US" dirty="0">
                <a:latin typeface="Times New Roman" panose="02020603050405020304" pitchFamily="18" charset="0"/>
              </a:rPr>
              <a:t> – </a:t>
            </a:r>
            <a:r>
              <a:rPr lang="en-US" altLang="en-US" dirty="0">
                <a:latin typeface="Times New Roman" panose="02020603050405020304" pitchFamily="18" charset="0"/>
              </a:rPr>
              <a:t>Conversion of time value to unsigned int type</a:t>
            </a:r>
            <a:r>
              <a:rPr lang="lv-LV" altLang="en-US" dirty="0">
                <a:latin typeface="Times New Roman" panose="02020603050405020304" pitchFamily="18" charset="0"/>
              </a:rPr>
              <a:t> (</a:t>
            </a:r>
            <a:r>
              <a:rPr lang="en-US" altLang="en-US" dirty="0">
                <a:latin typeface="Times New Roman" panose="02020603050405020304" pitchFamily="18" charset="0"/>
              </a:rPr>
              <a:t>because that's what </a:t>
            </a:r>
            <a:r>
              <a:rPr lang="en-US" altLang="en-US" i="1" dirty="0" err="1">
                <a:latin typeface="Times New Roman" panose="02020603050405020304" pitchFamily="18" charset="0"/>
              </a:rPr>
              <a:t>srand</a:t>
            </a:r>
            <a:r>
              <a:rPr lang="en-US" altLang="en-US" dirty="0">
                <a:latin typeface="Times New Roman" panose="02020603050405020304" pitchFamily="18" charset="0"/>
              </a:rPr>
              <a:t> function requires</a:t>
            </a:r>
            <a:r>
              <a:rPr lang="lv-LV" altLang="en-US" dirty="0">
                <a:latin typeface="Times New Roman" panose="02020603050405020304" pitchFamily="18" charset="0"/>
              </a:rPr>
              <a:t>).</a:t>
            </a:r>
          </a:p>
          <a:p>
            <a:pPr>
              <a:buClr>
                <a:srgbClr val="0000FF"/>
              </a:buClr>
              <a:buFont typeface="+mj-lt"/>
              <a:buAutoNum type="arabicPeriod" startAt="12"/>
            </a:pPr>
            <a:r>
              <a:rPr lang="en-US" altLang="en-US" b="1" i="1" dirty="0">
                <a:latin typeface="Times New Roman" panose="02020603050405020304" pitchFamily="18" charset="0"/>
              </a:rPr>
              <a:t>rand() % 100</a:t>
            </a:r>
            <a:r>
              <a:rPr lang="lv-LV" altLang="en-US" dirty="0">
                <a:latin typeface="Times New Roman" panose="02020603050405020304" pitchFamily="18" charset="0"/>
              </a:rPr>
              <a:t> – </a:t>
            </a:r>
            <a:r>
              <a:rPr lang="en-US" altLang="en-US" dirty="0">
                <a:latin typeface="Times New Roman" panose="02020603050405020304" pitchFamily="18" charset="0"/>
              </a:rPr>
              <a:t>reminder after </a:t>
            </a:r>
            <a:r>
              <a:rPr lang="lv-LV" altLang="en-US" dirty="0">
                <a:latin typeface="Times New Roman" panose="02020603050405020304" pitchFamily="18" charset="0"/>
              </a:rPr>
              <a:t>RAND_MAX </a:t>
            </a:r>
            <a:r>
              <a:rPr lang="en-US" altLang="en-US" dirty="0">
                <a:latin typeface="Times New Roman" panose="02020603050405020304" pitchFamily="18" charset="0"/>
              </a:rPr>
              <a:t>d</a:t>
            </a:r>
            <a:r>
              <a:rPr lang="lv-LV" altLang="en-US" dirty="0" err="1">
                <a:latin typeface="Times New Roman" panose="02020603050405020304" pitchFamily="18" charset="0"/>
              </a:rPr>
              <a:t>ivision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  <a:r>
              <a:rPr lang="lv-LV" altLang="en-US" dirty="0" err="1">
                <a:latin typeface="Times New Roman" panose="02020603050405020304" pitchFamily="18" charset="0"/>
              </a:rPr>
              <a:t>by</a:t>
            </a:r>
            <a:r>
              <a:rPr lang="lv-LV" altLang="en-US" dirty="0">
                <a:latin typeface="Times New Roman" panose="02020603050405020304" pitchFamily="18" charset="0"/>
              </a:rPr>
              <a:t> 100.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A551D75-F384-4E12-98F9-5D048B4D7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/>
              <a:t>2</a:t>
            </a:r>
            <a:r>
              <a:rPr lang="en-US" altLang="en-US" baseline="30000" dirty="0" err="1"/>
              <a:t>nd</a:t>
            </a:r>
            <a:r>
              <a:rPr lang="en-US" altLang="en-US" dirty="0"/>
              <a:t> example analysis</a:t>
            </a:r>
            <a:endParaRPr lang="lv-LV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52F55A4-E50C-4A13-9FB6-C95B8ADC7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600200"/>
            <a:ext cx="8964612" cy="5068888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en-US" dirty="0"/>
              <a:t>How it works? </a:t>
            </a:r>
            <a:r>
              <a:rPr lang="en-US" altLang="en-US" b="1" i="1" dirty="0" err="1"/>
              <a:t>srand</a:t>
            </a:r>
            <a:r>
              <a:rPr lang="en-US" altLang="en-US" b="1" i="1" dirty="0"/>
              <a:t>((unsigned) time(&amp;t))</a:t>
            </a:r>
            <a:endParaRPr lang="lv-LV" altLang="en-US" dirty="0"/>
          </a:p>
          <a:p>
            <a:pPr marL="609600" indent="-609600">
              <a:lnSpc>
                <a:spcPct val="90000"/>
              </a:lnSpc>
            </a:pPr>
            <a:r>
              <a:rPr lang="en-US" altLang="en-US" dirty="0"/>
              <a:t>Not real random numbers means that some sort of formula is used for generation.
Without using the initialization function </a:t>
            </a:r>
            <a:r>
              <a:rPr lang="en-US" altLang="en-US" b="1" dirty="0" err="1"/>
              <a:t>srand</a:t>
            </a:r>
            <a:r>
              <a:rPr lang="en-US" altLang="en-US" dirty="0"/>
              <a:t>, or using it with any numeric constant, generated value also is a constant. That's why each time the same number appears!
Use a time instead of a constant! It gives you a different value each time you run the program</a:t>
            </a:r>
            <a:r>
              <a:rPr lang="lv-LV" altLang="en-US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E07A7F3-18BC-47FA-AA50-D2791354C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Some</a:t>
            </a:r>
            <a:r>
              <a:rPr lang="lv-LV" altLang="en-US" dirty="0"/>
              <a:t> </a:t>
            </a:r>
            <a:r>
              <a:rPr lang="lv-LV" altLang="en-US" dirty="0" err="1"/>
              <a:t>words</a:t>
            </a:r>
            <a:r>
              <a:rPr lang="lv-LV" altLang="en-US" dirty="0"/>
              <a:t> </a:t>
            </a:r>
            <a:r>
              <a:rPr lang="en-US" altLang="en-US" dirty="0"/>
              <a:t>about</a:t>
            </a:r>
            <a:r>
              <a:rPr lang="lv-LV" altLang="en-US" dirty="0"/>
              <a:t> </a:t>
            </a:r>
            <a:r>
              <a:rPr lang="lv-LV" altLang="en-US" dirty="0" err="1"/>
              <a:t>time</a:t>
            </a:r>
            <a:endParaRPr lang="lv-LV" altLang="en-US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24FF2D9-8B57-48AC-BA81-1FCE1AB18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5554663" cy="5472113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#include &lt;iostream&gt;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#include &lt;ctime&gt;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using namespace std;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int main()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time_t t;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long sec = time(&amp;t);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cout &lt;&lt; "seconds: " &lt;&lt; sec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long min = (sec - (sec%60))/60;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cout &lt;&lt; "minutes: " &lt;&lt; min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long hour = (min - (min%60))/60;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cout &lt;&lt; "hours: " &lt;&lt; hour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long days = (hour - (hour%24))/24;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cout &lt;&lt; "days: " &lt;&lt; days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long years = (days - (days%365))/365;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cout &lt;&lt; "years: " &lt;&lt; years &lt;&lt; endl;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system("pause");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return 0;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239A8B63-52A7-471F-803A-B4FB2224A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1484313"/>
            <a:ext cx="273685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</a:rPr>
              <a:t>By looking at the values obtained, you may notice that the reference point is 1 January 1970. There was no time before :)
</a:t>
            </a:r>
            <a:endParaRPr lang="lv-LV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47255F4-861C-4D68-84F6-13EC0B359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DDA8B6D-A79F-4372-9175-93572413A9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en-US" dirty="0"/>
              <a:t>Generate</a:t>
            </a:r>
            <a:r>
              <a:rPr lang="lv-LV" altLang="en-US" dirty="0"/>
              <a:t> 10 </a:t>
            </a:r>
            <a:r>
              <a:rPr lang="en-US" altLang="en-US" dirty="0"/>
              <a:t>numbers in interval</a:t>
            </a:r>
            <a:r>
              <a:rPr lang="lv-LV" altLang="en-US" dirty="0"/>
              <a:t> 12 – 19.</a:t>
            </a:r>
          </a:p>
          <a:p>
            <a:pPr marL="609600" indent="-609600">
              <a:buFontTx/>
              <a:buAutoNum type="arabicPeriod"/>
            </a:pPr>
            <a:r>
              <a:rPr lang="en-US" altLang="en-US" dirty="0"/>
              <a:t>Generate</a:t>
            </a:r>
            <a:r>
              <a:rPr lang="lv-LV" altLang="en-US" dirty="0"/>
              <a:t> 10 </a:t>
            </a:r>
            <a:r>
              <a:rPr lang="en-US" altLang="en-US" dirty="0"/>
              <a:t>numbers in interval</a:t>
            </a:r>
            <a:r>
              <a:rPr lang="lv-LV" altLang="en-US" dirty="0"/>
              <a:t> -0,5 – 0,5.</a:t>
            </a:r>
          </a:p>
          <a:p>
            <a:pPr marL="609600" indent="-609600">
              <a:buFontTx/>
              <a:buAutoNum type="arabicPeriod"/>
            </a:pPr>
            <a:r>
              <a:rPr lang="en-US" altLang="en-US" dirty="0"/>
              <a:t>Generate</a:t>
            </a:r>
            <a:r>
              <a:rPr lang="lv-LV" altLang="en-US" dirty="0"/>
              <a:t> </a:t>
            </a:r>
            <a:r>
              <a:rPr lang="en-US" altLang="en-US" dirty="0"/>
              <a:t>2</a:t>
            </a:r>
            <a:r>
              <a:rPr lang="lv-LV" altLang="en-US" dirty="0"/>
              <a:t>0 </a:t>
            </a:r>
            <a:r>
              <a:rPr lang="en-US" altLang="en-US" dirty="0"/>
              <a:t>numbers in interval</a:t>
            </a:r>
            <a:r>
              <a:rPr lang="lv-LV" altLang="en-US" dirty="0"/>
              <a:t> 0 – 100. </a:t>
            </a:r>
            <a:r>
              <a:rPr lang="en-US" altLang="en-US" dirty="0"/>
              <a:t>Find the average</a:t>
            </a:r>
            <a:r>
              <a:rPr lang="lv-LV" altLang="en-US" dirty="0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US" altLang="en-US" dirty="0"/>
              <a:t>Generate</a:t>
            </a:r>
            <a:r>
              <a:rPr lang="lv-LV" altLang="en-US" dirty="0"/>
              <a:t> </a:t>
            </a:r>
            <a:r>
              <a:rPr lang="en-US" altLang="en-US" dirty="0"/>
              <a:t>2</a:t>
            </a:r>
            <a:r>
              <a:rPr lang="lv-LV" altLang="en-US" dirty="0"/>
              <a:t>0 </a:t>
            </a:r>
            <a:r>
              <a:rPr lang="en-US" altLang="en-US" dirty="0"/>
              <a:t>numbers in interval</a:t>
            </a:r>
            <a:r>
              <a:rPr lang="lv-LV" altLang="en-US" dirty="0"/>
              <a:t> 0 – 100. </a:t>
            </a:r>
            <a:r>
              <a:rPr lang="en-US" altLang="en-US" dirty="0"/>
              <a:t>Find the maximal and minimal values</a:t>
            </a:r>
            <a:r>
              <a:rPr lang="lv-LV" altLang="en-US" dirty="0"/>
              <a:t>.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E4A76440-BB9C-49C6-B346-C74C3DF08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636838"/>
            <a:ext cx="6937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en-US" dirty="0">
                <a:solidFill>
                  <a:schemeClr val="bg1"/>
                </a:solidFill>
                <a:latin typeface="Courier New" panose="02070309020205020404" pitchFamily="49" charset="0"/>
              </a:rPr>
              <a:t>cout &lt;&lt; (rand() % 10) / (double)10 - 0.5 &lt;&lt; </a:t>
            </a:r>
            <a:r>
              <a:rPr lang="fr-FR" alt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endl</a:t>
            </a:r>
            <a:r>
              <a:rPr lang="fr-FR" altLang="en-US" dirty="0">
                <a:solidFill>
                  <a:schemeClr val="bg1"/>
                </a:solidFill>
                <a:latin typeface="Courier New" panose="02070309020205020404" pitchFamily="49" charset="0"/>
              </a:rPr>
              <a:t>;</a:t>
            </a:r>
            <a:r>
              <a:rPr lang="fr-FR" altLang="en-US" dirty="0">
                <a:solidFill>
                  <a:schemeClr val="bg1"/>
                </a:solidFill>
              </a:rPr>
              <a:t> </a:t>
            </a:r>
            <a:endParaRPr lang="lv-LV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686</Words>
  <Application>Microsoft Office PowerPoint</Application>
  <PresentationFormat>On-screen Show (4:3)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Times New Roman</vt:lpstr>
      <vt:lpstr>Default Design</vt:lpstr>
      <vt:lpstr>Random number generator</vt:lpstr>
      <vt:lpstr>Random number generator</vt:lpstr>
      <vt:lpstr>Random number generator</vt:lpstr>
      <vt:lpstr>Example 1</vt:lpstr>
      <vt:lpstr>Example 1</vt:lpstr>
      <vt:lpstr>Example 2</vt:lpstr>
      <vt:lpstr>2nd example analysis</vt:lpstr>
      <vt:lpstr>2nd example analysis</vt:lpstr>
      <vt:lpstr>Some words about time</vt:lpstr>
      <vt:lpstr>Practice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Gadījuma skaitļu ģenerators</dc:title>
  <dc:creator>Home</dc:creator>
  <cp:lastModifiedBy>Andrej Liepiņš</cp:lastModifiedBy>
  <cp:revision>11</cp:revision>
  <dcterms:created xsi:type="dcterms:W3CDTF">2011-07-11T17:05:17Z</dcterms:created>
  <dcterms:modified xsi:type="dcterms:W3CDTF">2019-03-04T10:42:17Z</dcterms:modified>
</cp:coreProperties>
</file>