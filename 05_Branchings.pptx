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lv-LV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137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8860-E4B5-4E09-A7E2-ED3E9F363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27E86F-AAAF-4FEE-AD93-5EFA409B3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F1469-B3AE-4A1E-AE96-47078B60E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E626B-8CDA-4DEB-9AEC-7AF85B7DA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1204D-3247-4A77-AFBF-38D282FF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68BC82-4C0F-4671-9123-7CBA53415504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92628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1B51D-7135-4822-8802-BA6EFC13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97765-59B2-4386-9ED4-291F047EE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3DC19-81D1-4F09-9A83-37869959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777D8-D208-4A68-A00F-1215CCD5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E58DD-2B45-4CD9-B388-B41350969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EFBEE1-9A52-4056-8D4C-C70514523D7F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36857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7A79-20D5-4035-99EE-EA3CE229D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C042B-DBFB-4D08-933F-E7D68501E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647DB-5894-4277-A23B-91D60FC2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35653-3E3F-48A0-ACBF-726F9C82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A2E5E-F9EA-4ECD-902A-D52837D7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AEE653-4774-48FE-8C4C-19B57CF216F7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12726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1120-C125-4DB4-BC54-55EF13D5A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200A4-718B-4823-A45C-40987A8C5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B07CD-3C77-46C5-8373-4C84CA285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C99C3-39C7-4D79-8A8D-E3975D82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0F9B8-B027-4D4B-9874-A6721D6A9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E833B-7B25-426D-803E-C71E50B3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E23644-2A2A-458E-ACA1-4C2729C6E90D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513803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159-2719-4C55-95C0-ACC994C5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6C6F7-DDFB-4290-92BE-8A2879834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77928-FEBB-4ECD-93E2-F78AF6135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A83C1D-74EC-4A20-B7E4-17F9169BE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88677-C0A3-4F4F-890F-0AF60E934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2F0B5-A42B-451D-8D1E-9EFAC5D3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6C017-F867-4E5D-9B28-F3A54781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7EC166-594B-4152-B128-32BD3312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ABDE59-7679-4992-A69D-5D9464185D74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21522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29E40-2656-4987-BCD2-36F7297F3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38E4E1-1C73-4F46-93EB-9824008C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D4EB36-F593-4FB4-B22C-FCBDC8F2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5EED6-B515-4451-866F-C2763FB2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D4A81F-B2AA-49E0-B86E-5F2145BDEC4E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9851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3497B-39E3-4DB5-9290-6C1405AC5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587C8-D774-468E-8597-4CAE0499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F5781-1D85-45CC-BB9D-B071F69A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E7181-EA25-46FE-826F-29D76D673E18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64951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6969-57E2-4C91-B41F-963AEED9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F8F9B-1338-4801-8C83-D3E1957A3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D19B0-23A3-4754-B69D-EE5EE66CE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8E17A-EAB0-4D70-B17C-BAE25C285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42CB0-1130-47D9-929D-10E4C8B0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758C0-50A1-4774-822F-EEB750F8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2612E5-DC97-4352-9888-6460B6E12303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651355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91AD-8C59-4C18-9D68-596B47E5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462C27-1831-40F1-8477-A347E8FB9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F4CF7-B180-4241-8857-DA268744C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DE562-8089-485B-93BA-C563CBAB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B90AE-AD4D-475C-B77D-150A6622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E3D12-073A-4BA0-AEE6-D55CFAED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5E1091-7F8E-4231-9D60-A6CE258BEBC9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757327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33D1E-EF79-4960-ACA7-30314CB2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47235-5AEB-4C2E-A643-7F26BE845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C579B-129A-4FD2-B25B-0EA9CA03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CA7C-196D-4E4A-B4E5-C27A72D4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A60BD-C974-473B-886C-5EAFA013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CE65D-C3B8-4784-A007-CDA0A5591A38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788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82AF84-27D7-4944-8453-0EBF7C42B3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31CFB-57E0-4A51-80A8-77B90E677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8F99-DC08-4B3E-80B1-C5838ED3B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65867-83DA-4C43-82EE-7E935E2B7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5209B-2E35-4460-B9A4-298E2E78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8451A9-2E35-43B6-BD0A-1A1BEF04F025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061818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E00E-B5B8-493C-A67A-10A399A6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A00D9-3FE3-4078-A838-7098FDB45C0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89F76-3883-49A3-BF05-A342C1D1D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00D88-5403-43A3-A194-30F9248F00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4DD8D-A10B-4A2B-B443-B1E8DB1D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CE371-5E86-4E6F-B591-8FAAE44C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2C6DAF2-6A5B-43B2-B605-C70C1004912B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646365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9751EB0-A37B-411E-AA76-29459A5F3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CB4AB1B-3ED8-4DA7-8319-5D0C13A59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text styles</a:t>
            </a:r>
          </a:p>
          <a:p>
            <a:pPr lvl="1"/>
            <a:r>
              <a:rPr lang="lv-LV" altLang="en-US"/>
              <a:t>Second level</a:t>
            </a:r>
          </a:p>
          <a:p>
            <a:pPr lvl="2"/>
            <a:r>
              <a:rPr lang="lv-LV" altLang="en-US"/>
              <a:t>Third level</a:t>
            </a:r>
          </a:p>
          <a:p>
            <a:pPr lvl="3"/>
            <a:r>
              <a:rPr lang="lv-LV" altLang="en-US"/>
              <a:t>Fourth level</a:t>
            </a:r>
          </a:p>
          <a:p>
            <a:pPr lvl="4"/>
            <a:r>
              <a:rPr lang="lv-LV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74156DC-CAF7-4B6A-9C48-165FA79E851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lv-LV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0289DC0-4D9D-4223-AE4B-609F7C97F3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lv-LV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B4261C2-8A9C-492F-B86A-57D7FDE719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B788B9A-EAE6-42CD-B345-D397803174A4}" type="slidenum">
              <a:rPr lang="lv-LV" altLang="en-US"/>
              <a:pPr/>
              <a:t>‹#›</a:t>
            </a:fld>
            <a:endParaRPr lang="lv-LV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350110E-D29A-4380-9A97-2DADA6C948B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en-US" sz="4400" dirty="0" err="1"/>
              <a:t>Branchings</a:t>
            </a:r>
            <a:endParaRPr lang="lv-LV" alt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27961AF-DEFE-4D3C-8CD5-C7F8CA4C3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If-else</a:t>
            </a:r>
            <a:r>
              <a:rPr lang="lv-LV" altLang="en-US" dirty="0"/>
              <a:t> </a:t>
            </a:r>
            <a:r>
              <a:rPr lang="en-US" altLang="en-US" dirty="0"/>
              <a:t>statement</a:t>
            </a:r>
            <a:endParaRPr lang="lv-LV" alt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5201B73-7F08-4509-B51A-4FA5BB5B99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5832326" cy="2376487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 err="1">
                <a:latin typeface="Courier New" panose="02070309020205020404" pitchFamily="49" charset="0"/>
              </a:rPr>
              <a:t>if</a:t>
            </a:r>
            <a:r>
              <a:rPr lang="lv-LV" altLang="en-US" sz="1800" dirty="0">
                <a:latin typeface="Courier New" panose="02070309020205020404" pitchFamily="49" charset="0"/>
              </a:rPr>
              <a:t> (/* </a:t>
            </a:r>
            <a:r>
              <a:rPr lang="lv-LV" altLang="en-US" sz="1800" dirty="0" err="1">
                <a:latin typeface="Courier New" panose="02070309020205020404" pitchFamily="49" charset="0"/>
              </a:rPr>
              <a:t>Condition</a:t>
            </a:r>
            <a:r>
              <a:rPr lang="lv-LV" altLang="en-US" sz="1800" dirty="0">
                <a:latin typeface="Courier New" panose="02070309020205020404" pitchFamily="49" charset="0"/>
              </a:rPr>
              <a:t> */)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{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/* </a:t>
            </a:r>
            <a:r>
              <a:rPr lang="lv-LV" altLang="en-US" sz="18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1800" dirty="0">
                <a:latin typeface="Courier New" panose="02070309020205020404" pitchFamily="49" charset="0"/>
              </a:rPr>
              <a:t> #1 */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}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 err="1">
                <a:latin typeface="Courier New" panose="02070309020205020404" pitchFamily="49" charset="0"/>
              </a:rPr>
              <a:t>else</a:t>
            </a:r>
            <a:endParaRPr lang="lv-LV" altLang="en-US" sz="1800" dirty="0">
              <a:latin typeface="Courier New" panose="02070309020205020404" pitchFamily="49" charset="0"/>
            </a:endParaRP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{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/* </a:t>
            </a:r>
            <a:r>
              <a:rPr lang="lv-LV" altLang="en-US" sz="18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1800" dirty="0">
                <a:latin typeface="Courier New" panose="02070309020205020404" pitchFamily="49" charset="0"/>
              </a:rPr>
              <a:t> #2 */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3088" name="Group 16">
            <a:extLst>
              <a:ext uri="{FF2B5EF4-FFF2-40B4-BE49-F238E27FC236}">
                <a16:creationId xmlns:a16="http://schemas.microsoft.com/office/drawing/2014/main" id="{29FCD06D-911D-40B6-AC9A-ED70938CAD92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3860800"/>
            <a:ext cx="5689600" cy="2736850"/>
            <a:chOff x="1111" y="2432"/>
            <a:chExt cx="3584" cy="1724"/>
          </a:xfrm>
        </p:grpSpPr>
        <p:sp>
          <p:nvSpPr>
            <p:cNvPr id="3076" name="AutoShape 4">
              <a:extLst>
                <a:ext uri="{FF2B5EF4-FFF2-40B4-BE49-F238E27FC236}">
                  <a16:creationId xmlns:a16="http://schemas.microsoft.com/office/drawing/2014/main" id="{2AE055E9-3AC5-40FC-BB08-26A789B17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659"/>
              <a:ext cx="1224" cy="499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dirty="0" err="1"/>
                <a:t>Condition</a:t>
              </a:r>
              <a:endParaRPr lang="lv-LV" altLang="en-US" dirty="0"/>
            </a:p>
          </p:txBody>
        </p:sp>
        <p:sp>
          <p:nvSpPr>
            <p:cNvPr id="3077" name="Rectangle 5">
              <a:extLst>
                <a:ext uri="{FF2B5EF4-FFF2-40B4-BE49-F238E27FC236}">
                  <a16:creationId xmlns:a16="http://schemas.microsoft.com/office/drawing/2014/main" id="{80635ADF-574B-4F83-92DB-6FCC363B4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385"/>
              <a:ext cx="1361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dirty="0" err="1"/>
                <a:t>Operation</a:t>
              </a:r>
              <a:r>
                <a:rPr lang="lv-LV" altLang="en-US" dirty="0"/>
                <a:t> </a:t>
              </a:r>
              <a:r>
                <a:rPr lang="lv-LV" altLang="en-US" dirty="0" err="1"/>
                <a:t>seq</a:t>
              </a:r>
              <a:r>
                <a:rPr lang="lv-LV" altLang="en-US" dirty="0"/>
                <a:t>. #1</a:t>
              </a:r>
            </a:p>
          </p:txBody>
        </p:sp>
        <p:sp>
          <p:nvSpPr>
            <p:cNvPr id="3079" name="Rectangle 7">
              <a:extLst>
                <a:ext uri="{FF2B5EF4-FFF2-40B4-BE49-F238E27FC236}">
                  <a16:creationId xmlns:a16="http://schemas.microsoft.com/office/drawing/2014/main" id="{2D9A3EDE-DC4B-472C-B3B2-32F1780D8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3385"/>
              <a:ext cx="1361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dirty="0" err="1"/>
                <a:t>Operation</a:t>
              </a:r>
              <a:r>
                <a:rPr lang="lv-LV" altLang="en-US" dirty="0"/>
                <a:t> </a:t>
              </a:r>
              <a:r>
                <a:rPr lang="lv-LV" altLang="en-US" dirty="0" err="1"/>
                <a:t>seq</a:t>
              </a:r>
              <a:r>
                <a:rPr lang="lv-LV" altLang="en-US" dirty="0"/>
                <a:t>. #2</a:t>
              </a:r>
            </a:p>
          </p:txBody>
        </p:sp>
        <p:cxnSp>
          <p:nvCxnSpPr>
            <p:cNvPr id="3080" name="AutoShape 8">
              <a:extLst>
                <a:ext uri="{FF2B5EF4-FFF2-40B4-BE49-F238E27FC236}">
                  <a16:creationId xmlns:a16="http://schemas.microsoft.com/office/drawing/2014/main" id="{E7A9D220-F6A9-41C9-81B8-1AF5513E24CF}"/>
                </a:ext>
              </a:extLst>
            </p:cNvPr>
            <p:cNvCxnSpPr>
              <a:cxnSpLocks noChangeShapeType="1"/>
              <a:stCxn id="3076" idx="1"/>
              <a:endCxn id="3077" idx="0"/>
            </p:cNvCxnSpPr>
            <p:nvPr/>
          </p:nvCxnSpPr>
          <p:spPr bwMode="auto">
            <a:xfrm rot="10800000" flipV="1">
              <a:off x="1792" y="2909"/>
              <a:ext cx="498" cy="476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81" name="AutoShape 9">
              <a:extLst>
                <a:ext uri="{FF2B5EF4-FFF2-40B4-BE49-F238E27FC236}">
                  <a16:creationId xmlns:a16="http://schemas.microsoft.com/office/drawing/2014/main" id="{DFE813A5-BD0F-4DB3-AD62-138800E7A4CB}"/>
                </a:ext>
              </a:extLst>
            </p:cNvPr>
            <p:cNvCxnSpPr>
              <a:cxnSpLocks noChangeShapeType="1"/>
              <a:stCxn id="3076" idx="3"/>
              <a:endCxn id="3079" idx="0"/>
            </p:cNvCxnSpPr>
            <p:nvPr/>
          </p:nvCxnSpPr>
          <p:spPr bwMode="auto">
            <a:xfrm>
              <a:off x="3514" y="2909"/>
              <a:ext cx="501" cy="476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82" name="Text Box 10">
              <a:extLst>
                <a:ext uri="{FF2B5EF4-FFF2-40B4-BE49-F238E27FC236}">
                  <a16:creationId xmlns:a16="http://schemas.microsoft.com/office/drawing/2014/main" id="{7B72695B-1E1D-4703-B555-4D2C5DCF7C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2659"/>
              <a:ext cx="363" cy="4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lv-LV" altLang="en-US" dirty="0" err="1"/>
                <a:t>Yes</a:t>
              </a:r>
              <a:r>
                <a:rPr lang="lv-LV" altLang="en-US" dirty="0"/>
                <a:t>
</a:t>
              </a:r>
            </a:p>
          </p:txBody>
        </p:sp>
        <p:sp>
          <p:nvSpPr>
            <p:cNvPr id="3083" name="Text Box 11">
              <a:extLst>
                <a:ext uri="{FF2B5EF4-FFF2-40B4-BE49-F238E27FC236}">
                  <a16:creationId xmlns:a16="http://schemas.microsoft.com/office/drawing/2014/main" id="{E867ED99-73D1-4B09-A4A5-CC5FC0F05C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2659"/>
              <a:ext cx="363" cy="4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lv-LV" altLang="en-US" dirty="0"/>
                <a:t>No
</a:t>
              </a:r>
            </a:p>
          </p:txBody>
        </p:sp>
        <p:sp>
          <p:nvSpPr>
            <p:cNvPr id="3084" name="Line 12">
              <a:extLst>
                <a:ext uri="{FF2B5EF4-FFF2-40B4-BE49-F238E27FC236}">
                  <a16:creationId xmlns:a16="http://schemas.microsoft.com/office/drawing/2014/main" id="{17901D64-DA6B-4CB1-90DA-B69B37D06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243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3086" name="AutoShape 14">
              <a:extLst>
                <a:ext uri="{FF2B5EF4-FFF2-40B4-BE49-F238E27FC236}">
                  <a16:creationId xmlns:a16="http://schemas.microsoft.com/office/drawing/2014/main" id="{81D917F2-1775-4280-82D0-22F2B6257D4E}"/>
                </a:ext>
              </a:extLst>
            </p:cNvPr>
            <p:cNvCxnSpPr>
              <a:cxnSpLocks noChangeShapeType="1"/>
              <a:stCxn id="3077" idx="2"/>
              <a:endCxn id="3079" idx="2"/>
            </p:cNvCxnSpPr>
            <p:nvPr/>
          </p:nvCxnSpPr>
          <p:spPr bwMode="auto">
            <a:xfrm rot="16200000" flipH="1">
              <a:off x="2903" y="2636"/>
              <a:ext cx="1" cy="2223"/>
            </a:xfrm>
            <a:prstGeom prst="bent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87" name="AutoShape 15">
              <a:extLst>
                <a:ext uri="{FF2B5EF4-FFF2-40B4-BE49-F238E27FC236}">
                  <a16:creationId xmlns:a16="http://schemas.microsoft.com/office/drawing/2014/main" id="{9D1B35A0-DC76-4F21-B8A8-57B53DCBAD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80" y="3884"/>
              <a:ext cx="0" cy="27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510A6DD-34DF-42FE-B633-4747875D11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If-else</a:t>
            </a:r>
            <a:r>
              <a:rPr lang="lv-LV" altLang="en-US" dirty="0"/>
              <a:t> </a:t>
            </a:r>
            <a:r>
              <a:rPr lang="en-US" altLang="en-US" dirty="0"/>
              <a:t>statement</a:t>
            </a:r>
            <a:endParaRPr lang="lv-LV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316406E-E99F-4915-8569-5741CACBD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133600"/>
            <a:ext cx="5688013" cy="12954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 err="1">
                <a:latin typeface="Courier New" panose="02070309020205020404" pitchFamily="49" charset="0"/>
              </a:rPr>
              <a:t>if</a:t>
            </a:r>
            <a:r>
              <a:rPr lang="lv-LV" altLang="en-US" sz="2000" dirty="0">
                <a:latin typeface="Courier New" panose="02070309020205020404" pitchFamily="49" charset="0"/>
              </a:rPr>
              <a:t> (/* </a:t>
            </a:r>
            <a:r>
              <a:rPr lang="lv-LV" altLang="en-US" sz="2000" dirty="0" err="1">
                <a:latin typeface="Courier New" panose="02070309020205020404" pitchFamily="49" charset="0"/>
              </a:rPr>
              <a:t>Condition</a:t>
            </a:r>
            <a:r>
              <a:rPr lang="lv-LV" altLang="en-US" sz="2000" dirty="0">
                <a:latin typeface="Courier New" panose="02070309020205020404" pitchFamily="49" charset="0"/>
              </a:rPr>
              <a:t> */)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{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    /* </a:t>
            </a:r>
            <a:r>
              <a:rPr lang="lv-LV" altLang="en-US" sz="20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2000" dirty="0">
                <a:latin typeface="Courier New" panose="02070309020205020404" pitchFamily="49" charset="0"/>
              </a:rPr>
              <a:t> */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101" name="AutoShape 5">
            <a:extLst>
              <a:ext uri="{FF2B5EF4-FFF2-40B4-BE49-F238E27FC236}">
                <a16:creationId xmlns:a16="http://schemas.microsoft.com/office/drawing/2014/main" id="{55C4BFC0-8960-4764-B1F6-184702354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221163"/>
            <a:ext cx="1943100" cy="792162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lv-LV" altLang="en-US" dirty="0" err="1"/>
              <a:t>Condition</a:t>
            </a:r>
            <a:endParaRPr lang="lv-LV" altLang="en-US" dirty="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7310410B-E003-4823-B0A8-6B1F13C8D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373688"/>
            <a:ext cx="2160587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lv-LV" altLang="en-US" dirty="0" err="1"/>
              <a:t>Operation</a:t>
            </a:r>
            <a:r>
              <a:rPr lang="lv-LV" altLang="en-US" dirty="0"/>
              <a:t> </a:t>
            </a:r>
            <a:r>
              <a:rPr lang="lv-LV" altLang="en-US" dirty="0" err="1"/>
              <a:t>seq</a:t>
            </a:r>
            <a:r>
              <a:rPr lang="lv-LV" altLang="en-US" dirty="0"/>
              <a:t>.</a:t>
            </a:r>
          </a:p>
        </p:txBody>
      </p:sp>
      <p:cxnSp>
        <p:nvCxnSpPr>
          <p:cNvPr id="4104" name="AutoShape 8">
            <a:extLst>
              <a:ext uri="{FF2B5EF4-FFF2-40B4-BE49-F238E27FC236}">
                <a16:creationId xmlns:a16="http://schemas.microsoft.com/office/drawing/2014/main" id="{A620CB0F-DE33-421B-BF40-F7A8CA63B0A7}"/>
              </a:ext>
            </a:extLst>
          </p:cNvPr>
          <p:cNvCxnSpPr>
            <a:cxnSpLocks noChangeShapeType="1"/>
            <a:stCxn id="4101" idx="1"/>
            <a:endCxn id="4102" idx="0"/>
          </p:cNvCxnSpPr>
          <p:nvPr/>
        </p:nvCxnSpPr>
        <p:spPr bwMode="auto">
          <a:xfrm rot="10800000" flipV="1">
            <a:off x="2844800" y="4618038"/>
            <a:ext cx="790575" cy="75565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06" name="Text Box 10">
            <a:extLst>
              <a:ext uri="{FF2B5EF4-FFF2-40B4-BE49-F238E27FC236}">
                <a16:creationId xmlns:a16="http://schemas.microsoft.com/office/drawing/2014/main" id="{7CD546D7-BF01-4A6B-B6AF-F71D79D5A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4221163"/>
            <a:ext cx="576262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lv-LV" altLang="en-US" dirty="0" err="1"/>
              <a:t>Yes</a:t>
            </a:r>
            <a:r>
              <a:rPr lang="lv-LV" altLang="en-US" dirty="0"/>
              <a:t>
</a:t>
            </a:r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96669F6B-DCCC-4CF9-B1B2-DC6167D26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4221163"/>
            <a:ext cx="576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lv-LV" altLang="en-US" dirty="0"/>
              <a:t>No</a:t>
            </a:r>
          </a:p>
        </p:txBody>
      </p:sp>
      <p:sp>
        <p:nvSpPr>
          <p:cNvPr id="4108" name="Line 12">
            <a:extLst>
              <a:ext uri="{FF2B5EF4-FFF2-40B4-BE49-F238E27FC236}">
                <a16:creationId xmlns:a16="http://schemas.microsoft.com/office/drawing/2014/main" id="{E6195B58-4CBA-443B-9C6E-6ECFA525C5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0100" y="3860800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109" name="AutoShape 13">
            <a:extLst>
              <a:ext uri="{FF2B5EF4-FFF2-40B4-BE49-F238E27FC236}">
                <a16:creationId xmlns:a16="http://schemas.microsoft.com/office/drawing/2014/main" id="{E3583E6E-A0F3-4DEA-82FF-792A0FFABA43}"/>
              </a:ext>
            </a:extLst>
          </p:cNvPr>
          <p:cNvCxnSpPr>
            <a:cxnSpLocks noChangeShapeType="1"/>
            <a:stCxn id="4102" idx="2"/>
            <a:endCxn id="4101" idx="3"/>
          </p:cNvCxnSpPr>
          <p:nvPr/>
        </p:nvCxnSpPr>
        <p:spPr bwMode="auto">
          <a:xfrm rot="5400000" flipH="1" flipV="1">
            <a:off x="3546475" y="3916363"/>
            <a:ext cx="1330325" cy="2733675"/>
          </a:xfrm>
          <a:prstGeom prst="bentConnector4">
            <a:avLst>
              <a:gd name="adj1" fmla="val -17185"/>
              <a:gd name="adj2" fmla="val 12868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10" name="AutoShape 14">
            <a:extLst>
              <a:ext uri="{FF2B5EF4-FFF2-40B4-BE49-F238E27FC236}">
                <a16:creationId xmlns:a16="http://schemas.microsoft.com/office/drawing/2014/main" id="{DE85D82E-C5FD-42CB-9E9B-17B0980418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10100" y="6165850"/>
            <a:ext cx="0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11" name="Text Box 15">
            <a:extLst>
              <a:ext uri="{FF2B5EF4-FFF2-40B4-BE49-F238E27FC236}">
                <a16:creationId xmlns:a16="http://schemas.microsoft.com/office/drawing/2014/main" id="{846F6600-9509-46CC-AD4C-4BF12DAF9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341438"/>
            <a:ext cx="7416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lv-LV" altLang="en-US" sz="3200" dirty="0" err="1"/>
              <a:t>Half</a:t>
            </a:r>
            <a:r>
              <a:rPr lang="lv-LV" altLang="en-US" sz="3200" dirty="0"/>
              <a:t> </a:t>
            </a:r>
            <a:r>
              <a:rPr lang="lv-LV" altLang="en-US" sz="3200" dirty="0" err="1"/>
              <a:t>brenching</a:t>
            </a:r>
            <a:endParaRPr lang="lv-LV" alt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5AB689-F1C7-4285-B555-03258A893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Example</a:t>
            </a:r>
            <a:endParaRPr lang="lv-LV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077FBCA-7944-4189-9614-151126657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04838"/>
          </a:xfrm>
        </p:spPr>
        <p:txBody>
          <a:bodyPr/>
          <a:lstStyle/>
          <a:p>
            <a:pPr>
              <a:buFontTx/>
              <a:buNone/>
            </a:pPr>
            <a:r>
              <a:rPr lang="lv-LV" altLang="en-US" dirty="0" err="1"/>
              <a:t>Number</a:t>
            </a:r>
            <a:r>
              <a:rPr lang="lv-LV" altLang="en-US" dirty="0"/>
              <a:t> </a:t>
            </a:r>
            <a:r>
              <a:rPr lang="lv-LV" altLang="en-US" dirty="0" err="1"/>
              <a:t>Module</a:t>
            </a:r>
            <a:r>
              <a:rPr lang="lv-LV" altLang="en-US" dirty="0"/>
              <a:t>
</a:t>
            </a: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15CFFED1-5C13-49FD-A9F3-17B208FB7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357563"/>
            <a:ext cx="3744913" cy="2298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if (x &gt;= 0)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    cout &lt;&lt; x &lt;&lt; endl;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else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    cout &lt;&lt; -x &lt;&lt; endl;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125" name="Text Box 5">
            <a:extLst>
              <a:ext uri="{FF2B5EF4-FFF2-40B4-BE49-F238E27FC236}">
                <a16:creationId xmlns:a16="http://schemas.microsoft.com/office/drawing/2014/main" id="{EF10CB50-55FA-48A2-A0DA-8109AC68F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357563"/>
            <a:ext cx="3744912" cy="1474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if (x &lt; 0)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    x = -x;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>
                <a:latin typeface="Courier New" panose="02070309020205020404" pitchFamily="49" charset="0"/>
              </a:rPr>
              <a:t>cout &lt;&lt; x &lt;&lt; endl;</a:t>
            </a:r>
          </a:p>
        </p:txBody>
      </p:sp>
      <p:sp>
        <p:nvSpPr>
          <p:cNvPr id="5126" name="Text Box 6">
            <a:extLst>
              <a:ext uri="{FF2B5EF4-FFF2-40B4-BE49-F238E27FC236}">
                <a16:creationId xmlns:a16="http://schemas.microsoft.com/office/drawing/2014/main" id="{2A114F0C-A472-4D5C-86C7-7FFE8DF30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708275"/>
            <a:ext cx="3744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lv-LV" altLang="en-US" dirty="0" err="1"/>
              <a:t>Full</a:t>
            </a:r>
            <a:r>
              <a:rPr lang="lv-LV" altLang="en-US" dirty="0"/>
              <a:t> </a:t>
            </a:r>
            <a:r>
              <a:rPr lang="lv-LV" altLang="en-US" dirty="0" err="1"/>
              <a:t>branching</a:t>
            </a:r>
            <a:endParaRPr lang="lv-LV" altLang="en-US" dirty="0"/>
          </a:p>
        </p:txBody>
      </p:sp>
      <p:sp>
        <p:nvSpPr>
          <p:cNvPr id="5127" name="Text Box 7">
            <a:extLst>
              <a:ext uri="{FF2B5EF4-FFF2-40B4-BE49-F238E27FC236}">
                <a16:creationId xmlns:a16="http://schemas.microsoft.com/office/drawing/2014/main" id="{ADA9C069-A768-4715-A322-640615D64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2781300"/>
            <a:ext cx="37449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lv-LV" altLang="en-US" dirty="0" err="1"/>
              <a:t>Half</a:t>
            </a:r>
            <a:r>
              <a:rPr lang="lv-LV" altLang="en-US" dirty="0"/>
              <a:t> </a:t>
            </a:r>
            <a:r>
              <a:rPr lang="lv-LV" altLang="en-US" dirty="0" err="1"/>
              <a:t>branching</a:t>
            </a:r>
            <a:endParaRPr lang="lv-LV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43E7CD-6162-477C-A3EB-5416BA4F8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Comparison</a:t>
            </a:r>
            <a:r>
              <a:rPr lang="lv-LV" altLang="en-US" dirty="0"/>
              <a:t> operators
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4A7D0D0-5401-42A8-ACE1-562E291BF2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9138"/>
            <a:ext cx="8229600" cy="4137025"/>
          </a:xfrm>
        </p:spPr>
        <p:txBody>
          <a:bodyPr/>
          <a:lstStyle/>
          <a:p>
            <a:r>
              <a:rPr lang="lv-LV" altLang="en-US" dirty="0"/>
              <a:t>&lt;</a:t>
            </a:r>
          </a:p>
          <a:p>
            <a:r>
              <a:rPr lang="lv-LV" altLang="en-US" dirty="0"/>
              <a:t>&lt;=</a:t>
            </a:r>
          </a:p>
          <a:p>
            <a:r>
              <a:rPr lang="lv-LV" altLang="en-US" dirty="0"/>
              <a:t>&gt;</a:t>
            </a:r>
          </a:p>
          <a:p>
            <a:r>
              <a:rPr lang="lv-LV" altLang="en-US" dirty="0"/>
              <a:t>&gt;=</a:t>
            </a:r>
          </a:p>
          <a:p>
            <a:r>
              <a:rPr lang="lv-LV" altLang="en-US" dirty="0"/>
              <a:t>==</a:t>
            </a:r>
            <a:r>
              <a:rPr lang="ru-RU" altLang="en-US" dirty="0"/>
              <a:t> </a:t>
            </a:r>
            <a:r>
              <a:rPr lang="en-US" altLang="en-US" dirty="0"/>
              <a:t>test for equality of operands</a:t>
            </a:r>
            <a:endParaRPr lang="lv-LV" altLang="en-US" dirty="0"/>
          </a:p>
          <a:p>
            <a:r>
              <a:rPr lang="lv-LV" altLang="en-US" dirty="0"/>
              <a:t>!=</a:t>
            </a:r>
            <a:r>
              <a:rPr lang="ru-RU" altLang="en-US" dirty="0"/>
              <a:t>  </a:t>
            </a:r>
            <a:r>
              <a:rPr lang="en-US" altLang="en-US" dirty="0"/>
              <a:t>test for inequality of operands</a:t>
            </a:r>
            <a:endParaRPr lang="lv-LV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C2C8864-F6AE-48D6-8835-7128CFEE1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Example</a:t>
            </a:r>
            <a:r>
              <a:rPr lang="lv-LV" altLang="en-US" dirty="0"/>
              <a:t> – </a:t>
            </a:r>
            <a:r>
              <a:rPr lang="lv-LV" altLang="en-US" dirty="0" err="1"/>
              <a:t>nested</a:t>
            </a:r>
            <a:r>
              <a:rPr lang="lv-LV" altLang="en-US" dirty="0"/>
              <a:t> </a:t>
            </a:r>
            <a:r>
              <a:rPr lang="lv-LV" altLang="en-US" dirty="0" err="1"/>
              <a:t>conditionals</a:t>
            </a:r>
            <a:endParaRPr lang="lv-LV" alt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2D61D1A-78CB-4ADE-8EAC-90FE74F06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6202362" cy="4778375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 err="1">
                <a:latin typeface="Courier New" panose="02070309020205020404" pitchFamily="49" charset="0"/>
              </a:rPr>
              <a:t>if</a:t>
            </a:r>
            <a:r>
              <a:rPr lang="lv-LV" altLang="en-US" sz="1400" dirty="0">
                <a:latin typeface="Courier New" panose="02070309020205020404" pitchFamily="49" charset="0"/>
              </a:rPr>
              <a:t> (x &gt; 0)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if</a:t>
            </a:r>
            <a:r>
              <a:rPr lang="lv-LV" altLang="en-US" sz="1400" dirty="0">
                <a:latin typeface="Courier New" panose="02070309020205020404" pitchFamily="49" charset="0"/>
              </a:rPr>
              <a:t> (y &gt; 0) // x &gt; 0 , y &gt; 0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</a:t>
            </a:r>
            <a:r>
              <a:rPr lang="lv-LV" altLang="en-US" sz="1400" dirty="0" err="1">
                <a:latin typeface="Courier New" panose="02070309020205020404" pitchFamily="49" charset="0"/>
              </a:rPr>
              <a:t>The</a:t>
            </a:r>
            <a:r>
              <a:rPr lang="lv-LV" altLang="en-US" sz="1400" dirty="0">
                <a:latin typeface="Courier New" panose="02070309020205020404" pitchFamily="49" charset="0"/>
              </a:rPr>
              <a:t> 2nd </a:t>
            </a:r>
            <a:r>
              <a:rPr lang="lv-LV" altLang="en-US" sz="1400" dirty="0" err="1">
                <a:latin typeface="Courier New" panose="02070309020205020404" pitchFamily="49" charset="0"/>
              </a:rPr>
              <a:t>quarter</a:t>
            </a:r>
            <a:r>
              <a:rPr lang="lv-LV" altLang="en-US" sz="1400" dirty="0">
                <a:latin typeface="Courier New" panose="02070309020205020404" pitchFamily="49" charset="0"/>
              </a:rPr>
              <a:t>"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else</a:t>
            </a:r>
            <a:r>
              <a:rPr lang="lv-LV" altLang="en-US" sz="1400" dirty="0">
                <a:latin typeface="Courier New" panose="02070309020205020404" pitchFamily="49" charset="0"/>
              </a:rPr>
              <a:t> // x &gt; 0 , y &lt; 0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</a:t>
            </a:r>
            <a:r>
              <a:rPr lang="lv-LV" altLang="en-US" sz="1400" dirty="0" err="1">
                <a:latin typeface="Courier New" panose="02070309020205020404" pitchFamily="49" charset="0"/>
              </a:rPr>
              <a:t>The</a:t>
            </a:r>
            <a:r>
              <a:rPr lang="lv-LV" altLang="en-US" sz="1400" dirty="0">
                <a:latin typeface="Courier New" panose="02070309020205020404" pitchFamily="49" charset="0"/>
              </a:rPr>
              <a:t> 4th </a:t>
            </a:r>
            <a:r>
              <a:rPr lang="lv-LV" altLang="en-US" sz="1400" dirty="0" err="1">
                <a:latin typeface="Courier New" panose="02070309020205020404" pitchFamily="49" charset="0"/>
              </a:rPr>
              <a:t>quarter</a:t>
            </a:r>
            <a:r>
              <a:rPr lang="lv-LV" altLang="en-US" sz="1400" dirty="0">
                <a:latin typeface="Courier New" panose="02070309020205020404" pitchFamily="49" charset="0"/>
              </a:rPr>
              <a:t>"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 err="1">
                <a:latin typeface="Courier New" panose="02070309020205020404" pitchFamily="49" charset="0"/>
              </a:rPr>
              <a:t>else</a:t>
            </a:r>
            <a:endParaRPr lang="lv-LV" altLang="en-US" sz="14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if</a:t>
            </a:r>
            <a:r>
              <a:rPr lang="lv-LV" altLang="en-US" sz="1400" dirty="0">
                <a:latin typeface="Courier New" panose="02070309020205020404" pitchFamily="49" charset="0"/>
              </a:rPr>
              <a:t> (y &gt; 0) // x &lt; 0 , y &gt; 0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</a:t>
            </a:r>
            <a:r>
              <a:rPr lang="lv-LV" altLang="en-US" sz="1400" dirty="0" err="1">
                <a:latin typeface="Courier New" panose="02070309020205020404" pitchFamily="49" charset="0"/>
              </a:rPr>
              <a:t>The</a:t>
            </a:r>
            <a:r>
              <a:rPr lang="lv-LV" altLang="en-US" sz="1400" dirty="0">
                <a:latin typeface="Courier New" panose="02070309020205020404" pitchFamily="49" charset="0"/>
              </a:rPr>
              <a:t> 1st </a:t>
            </a:r>
            <a:r>
              <a:rPr lang="lv-LV" altLang="en-US" sz="1400" dirty="0" err="1">
                <a:latin typeface="Courier New" panose="02070309020205020404" pitchFamily="49" charset="0"/>
              </a:rPr>
              <a:t>quarter</a:t>
            </a:r>
            <a:r>
              <a:rPr lang="lv-LV" altLang="en-US" sz="1400" dirty="0">
                <a:latin typeface="Courier New" panose="02070309020205020404" pitchFamily="49" charset="0"/>
              </a:rPr>
              <a:t>"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else</a:t>
            </a:r>
            <a:r>
              <a:rPr lang="lv-LV" altLang="en-US" sz="1400" dirty="0">
                <a:latin typeface="Courier New" panose="02070309020205020404" pitchFamily="49" charset="0"/>
              </a:rPr>
              <a:t> // x &lt; 0 , y &lt; 0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</a:t>
            </a:r>
            <a:r>
              <a:rPr lang="lv-LV" altLang="en-US" sz="1400" dirty="0" err="1">
                <a:latin typeface="Courier New" panose="02070309020205020404" pitchFamily="49" charset="0"/>
              </a:rPr>
              <a:t>The</a:t>
            </a:r>
            <a:r>
              <a:rPr lang="lv-LV" altLang="en-US" sz="1400" dirty="0">
                <a:latin typeface="Courier New" panose="02070309020205020404" pitchFamily="49" charset="0"/>
              </a:rPr>
              <a:t> 3rd </a:t>
            </a:r>
            <a:r>
              <a:rPr lang="lv-LV" altLang="en-US" sz="1400" dirty="0" err="1">
                <a:latin typeface="Courier New" panose="02070309020205020404" pitchFamily="49" charset="0"/>
              </a:rPr>
              <a:t>quarter</a:t>
            </a:r>
            <a:r>
              <a:rPr lang="lv-LV" altLang="en-US" sz="1400" dirty="0">
                <a:latin typeface="Courier New" panose="02070309020205020404" pitchFamily="49" charset="0"/>
              </a:rPr>
              <a:t>"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7181" name="Group 13">
            <a:extLst>
              <a:ext uri="{FF2B5EF4-FFF2-40B4-BE49-F238E27FC236}">
                <a16:creationId xmlns:a16="http://schemas.microsoft.com/office/drawing/2014/main" id="{C81AEF3F-112A-4B8E-BDA6-CCA785D32BF4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2852738"/>
            <a:ext cx="2016125" cy="1728787"/>
            <a:chOff x="2426" y="799"/>
            <a:chExt cx="1270" cy="1089"/>
          </a:xfrm>
        </p:grpSpPr>
        <p:sp>
          <p:nvSpPr>
            <p:cNvPr id="7173" name="Line 5">
              <a:extLst>
                <a:ext uri="{FF2B5EF4-FFF2-40B4-BE49-F238E27FC236}">
                  <a16:creationId xmlns:a16="http://schemas.microsoft.com/office/drawing/2014/main" id="{9DD05451-BB7C-434F-A389-23F39A5EFD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1" y="935"/>
              <a:ext cx="0" cy="9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4" name="Line 6">
              <a:extLst>
                <a:ext uri="{FF2B5EF4-FFF2-40B4-BE49-F238E27FC236}">
                  <a16:creationId xmlns:a16="http://schemas.microsoft.com/office/drawing/2014/main" id="{B74FBA44-AB46-4D92-B9F6-45B9DDC5F6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1434"/>
              <a:ext cx="10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5" name="Text Box 7">
              <a:extLst>
                <a:ext uri="{FF2B5EF4-FFF2-40B4-BE49-F238E27FC236}">
                  <a16:creationId xmlns:a16="http://schemas.microsoft.com/office/drawing/2014/main" id="{95AF3AB1-2604-4F72-9F2C-E402AA456C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799"/>
              <a:ext cx="31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lv-LV" altLang="en-US"/>
                <a:t>y</a:t>
              </a:r>
            </a:p>
          </p:txBody>
        </p:sp>
        <p:sp>
          <p:nvSpPr>
            <p:cNvPr id="7176" name="Text Box 8">
              <a:extLst>
                <a:ext uri="{FF2B5EF4-FFF2-40B4-BE49-F238E27FC236}">
                  <a16:creationId xmlns:a16="http://schemas.microsoft.com/office/drawing/2014/main" id="{877A0ECD-32D9-4AD7-8441-15C38512B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1389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lv-LV" altLang="en-US"/>
                <a:t>x</a:t>
              </a:r>
            </a:p>
          </p:txBody>
        </p:sp>
        <p:sp>
          <p:nvSpPr>
            <p:cNvPr id="7177" name="Text Box 9">
              <a:extLst>
                <a:ext uri="{FF2B5EF4-FFF2-40B4-BE49-F238E27FC236}">
                  <a16:creationId xmlns:a16="http://schemas.microsoft.com/office/drawing/2014/main" id="{47288121-F421-44F1-9F90-481EBD1A9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1" y="1149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lv-LV" altLang="en-US"/>
                <a:t>1</a:t>
              </a:r>
            </a:p>
          </p:txBody>
        </p:sp>
        <p:sp>
          <p:nvSpPr>
            <p:cNvPr id="7178" name="Text Box 10">
              <a:extLst>
                <a:ext uri="{FF2B5EF4-FFF2-40B4-BE49-F238E27FC236}">
                  <a16:creationId xmlns:a16="http://schemas.microsoft.com/office/drawing/2014/main" id="{EB25E02A-64E0-419C-8E79-42ED8F2AA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5" y="114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lv-LV" altLang="en-US"/>
                <a:t>2</a:t>
              </a:r>
            </a:p>
          </p:txBody>
        </p:sp>
        <p:sp>
          <p:nvSpPr>
            <p:cNvPr id="7179" name="Text Box 11">
              <a:extLst>
                <a:ext uri="{FF2B5EF4-FFF2-40B4-BE49-F238E27FC236}">
                  <a16:creationId xmlns:a16="http://schemas.microsoft.com/office/drawing/2014/main" id="{D6FE9AA7-54D8-45BF-A5E7-08F6D0151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9" y="146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lv-LV" altLang="en-US"/>
                <a:t>3</a:t>
              </a:r>
            </a:p>
          </p:txBody>
        </p:sp>
        <p:sp>
          <p:nvSpPr>
            <p:cNvPr id="7180" name="Text Box 12">
              <a:extLst>
                <a:ext uri="{FF2B5EF4-FFF2-40B4-BE49-F238E27FC236}">
                  <a16:creationId xmlns:a16="http://schemas.microsoft.com/office/drawing/2014/main" id="{2E37C7A5-E1F8-4159-93D0-0275C7D64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5" y="147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lv-LV" altLang="en-US"/>
                <a:t>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17484CF-53E4-49BF-B9FF-B0041E4E4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Practice</a:t>
            </a:r>
            <a:endParaRPr lang="lv-LV" altLang="en-US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2337D51-1824-4A84-800B-0267AFA9B3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9138"/>
            <a:ext cx="8229600" cy="4137025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altLang="en-US" dirty="0"/>
              <a:t>Input</a:t>
            </a:r>
            <a:r>
              <a:rPr lang="lv-LV" altLang="en-US" dirty="0"/>
              <a:t> 2 </a:t>
            </a:r>
            <a:r>
              <a:rPr lang="lv-LV" altLang="en-US" dirty="0" err="1"/>
              <a:t>integer</a:t>
            </a:r>
            <a:r>
              <a:rPr lang="lv-LV" altLang="en-US" dirty="0"/>
              <a:t> </a:t>
            </a:r>
            <a:r>
              <a:rPr lang="en-US" altLang="en-US" dirty="0"/>
              <a:t>numbers. </a:t>
            </a:r>
            <a:r>
              <a:rPr lang="lv-LV" altLang="en-US" dirty="0" err="1"/>
              <a:t>Find</a:t>
            </a:r>
            <a:r>
              <a:rPr lang="en-US" altLang="en-US" dirty="0"/>
              <a:t> the maximum value.
Input</a:t>
            </a:r>
            <a:r>
              <a:rPr lang="lv-LV" altLang="en-US" dirty="0"/>
              <a:t> 3 </a:t>
            </a:r>
            <a:r>
              <a:rPr lang="lv-LV" altLang="en-US" dirty="0" err="1"/>
              <a:t>integer</a:t>
            </a:r>
            <a:r>
              <a:rPr lang="lv-LV" altLang="en-US" dirty="0"/>
              <a:t> </a:t>
            </a:r>
            <a:r>
              <a:rPr lang="en-US" altLang="en-US" dirty="0"/>
              <a:t>numbers. </a:t>
            </a:r>
            <a:r>
              <a:rPr lang="lv-LV" altLang="en-US" dirty="0" err="1"/>
              <a:t>Find</a:t>
            </a:r>
            <a:r>
              <a:rPr lang="en-US" altLang="en-US" dirty="0"/>
              <a:t> the maximum value.</a:t>
            </a:r>
            <a:endParaRPr lang="lv-LV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365194D-ECAA-4FB6-947E-ED9E67B29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Logical</a:t>
            </a:r>
            <a:r>
              <a:rPr lang="lv-LV" altLang="en-US" dirty="0"/>
              <a:t> operators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C90B5AC-B504-45D6-AF81-29F79BE4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600200"/>
            <a:ext cx="8507412" cy="49974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lv-LV" altLang="en-US" sz="2400" dirty="0" err="1"/>
              <a:t>Logical</a:t>
            </a:r>
            <a:r>
              <a:rPr lang="lv-LV" altLang="en-US" sz="2400" dirty="0"/>
              <a:t> AND — &amp;&amp; — </a:t>
            </a:r>
            <a:r>
              <a:rPr lang="lv-LV" altLang="en-US" sz="2400" dirty="0" err="1"/>
              <a:t>returns</a:t>
            </a:r>
            <a:r>
              <a:rPr lang="lv-LV" altLang="en-US" sz="2400" dirty="0"/>
              <a:t> </a:t>
            </a:r>
            <a:r>
              <a:rPr lang="lv-LV" altLang="en-US" sz="2400" b="1" i="1" dirty="0" err="1"/>
              <a:t>true</a:t>
            </a:r>
            <a:r>
              <a:rPr lang="lv-LV" altLang="en-US" sz="2400" dirty="0"/>
              <a:t> </a:t>
            </a:r>
            <a:r>
              <a:rPr lang="lv-LV" altLang="en-US" sz="2400" dirty="0" err="1"/>
              <a:t>only</a:t>
            </a:r>
            <a:r>
              <a:rPr lang="lv-LV" altLang="en-US" sz="2400" dirty="0"/>
              <a:t> </a:t>
            </a:r>
            <a:r>
              <a:rPr lang="lv-LV" altLang="en-US" sz="2400" dirty="0" err="1"/>
              <a:t>if</a:t>
            </a:r>
            <a:r>
              <a:rPr lang="lv-LV" altLang="en-US" sz="2400" dirty="0"/>
              <a:t> </a:t>
            </a:r>
            <a:r>
              <a:rPr lang="lv-LV" altLang="en-US" sz="2400" dirty="0" err="1"/>
              <a:t>all</a:t>
            </a:r>
            <a:r>
              <a:rPr lang="lv-LV" altLang="en-US" sz="2400" dirty="0"/>
              <a:t> </a:t>
            </a:r>
            <a:r>
              <a:rPr lang="lv-LV" altLang="en-US" sz="2400" dirty="0" err="1"/>
              <a:t>the</a:t>
            </a:r>
            <a:r>
              <a:rPr lang="lv-LV" altLang="en-US" sz="2400" dirty="0"/>
              <a:t> operands </a:t>
            </a:r>
            <a:r>
              <a:rPr lang="lv-LV" altLang="en-US" sz="2400" dirty="0" err="1"/>
              <a:t>are</a:t>
            </a:r>
            <a:r>
              <a:rPr lang="lv-LV" altLang="en-US" sz="2400" dirty="0"/>
              <a:t> </a:t>
            </a:r>
            <a:r>
              <a:rPr lang="lv-LV" altLang="en-US" sz="2400" b="1" i="1" dirty="0" err="1"/>
              <a:t>true</a:t>
            </a:r>
            <a:endParaRPr lang="lv-LV" altLang="en-US" sz="2400" b="1" i="1" dirty="0"/>
          </a:p>
          <a:p>
            <a:pPr>
              <a:lnSpc>
                <a:spcPct val="80000"/>
              </a:lnSpc>
            </a:pPr>
            <a:r>
              <a:rPr lang="lv-LV" altLang="en-US" sz="2400" dirty="0" err="1"/>
              <a:t>Logical</a:t>
            </a:r>
            <a:r>
              <a:rPr lang="lv-LV" altLang="en-US" sz="2400" dirty="0"/>
              <a:t> OR — || — </a:t>
            </a:r>
            <a:r>
              <a:rPr lang="lv-LV" altLang="en-US" sz="2400" dirty="0" err="1"/>
              <a:t>returns</a:t>
            </a:r>
            <a:r>
              <a:rPr lang="lv-LV" altLang="en-US" sz="2400" dirty="0"/>
              <a:t> </a:t>
            </a:r>
            <a:r>
              <a:rPr lang="lv-LV" altLang="en-US" sz="2400" b="1" i="1" dirty="0" err="1"/>
              <a:t>true</a:t>
            </a:r>
            <a:r>
              <a:rPr lang="lv-LV" altLang="en-US" sz="2400" dirty="0"/>
              <a:t> </a:t>
            </a:r>
            <a:r>
              <a:rPr lang="lv-LV" altLang="en-US" sz="2400" dirty="0" err="1"/>
              <a:t>if</a:t>
            </a:r>
            <a:r>
              <a:rPr lang="lv-LV" altLang="en-US" sz="2400" dirty="0"/>
              <a:t> </a:t>
            </a:r>
            <a:r>
              <a:rPr lang="lv-LV" altLang="en-US" sz="2400" dirty="0" err="1"/>
              <a:t>at</a:t>
            </a:r>
            <a:r>
              <a:rPr lang="lv-LV" altLang="en-US" sz="2400" dirty="0"/>
              <a:t> </a:t>
            </a:r>
            <a:r>
              <a:rPr lang="lv-LV" altLang="en-US" sz="2400" dirty="0" err="1"/>
              <a:t>least</a:t>
            </a:r>
            <a:r>
              <a:rPr lang="lv-LV" altLang="en-US" sz="2400" dirty="0"/>
              <a:t> </a:t>
            </a:r>
            <a:r>
              <a:rPr lang="lv-LV" altLang="en-US" sz="2400" dirty="0" err="1"/>
              <a:t>one</a:t>
            </a:r>
            <a:r>
              <a:rPr lang="lv-LV" altLang="en-US" sz="2400" dirty="0"/>
              <a:t> </a:t>
            </a:r>
            <a:r>
              <a:rPr lang="lv-LV" altLang="en-US" sz="2400" dirty="0" err="1"/>
              <a:t>of</a:t>
            </a:r>
            <a:r>
              <a:rPr lang="lv-LV" altLang="en-US" sz="2400" dirty="0"/>
              <a:t> operands  </a:t>
            </a:r>
            <a:r>
              <a:rPr lang="lv-LV" altLang="en-US" sz="2400" dirty="0" err="1"/>
              <a:t>are</a:t>
            </a:r>
            <a:r>
              <a:rPr lang="lv-LV" altLang="en-US" sz="2400" dirty="0"/>
              <a:t> </a:t>
            </a:r>
            <a:r>
              <a:rPr lang="lv-LV" altLang="en-US" sz="2400" b="1" i="1" dirty="0" err="1"/>
              <a:t>true</a:t>
            </a:r>
            <a:endParaRPr lang="lv-LV" altLang="en-US" sz="2400" b="1" i="1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Logical</a:t>
            </a:r>
            <a:r>
              <a:rPr lang="lv-LV" altLang="en-US" sz="2400" dirty="0"/>
              <a:t> </a:t>
            </a:r>
            <a:r>
              <a:rPr lang="en-US" altLang="en-US" sz="2400" dirty="0"/>
              <a:t>NOT</a:t>
            </a:r>
            <a:r>
              <a:rPr lang="lv-LV" altLang="en-US" sz="2400" dirty="0"/>
              <a:t> — ! — </a:t>
            </a:r>
            <a:r>
              <a:rPr lang="en-US" altLang="en-US" sz="2400" dirty="0"/>
              <a:t>returns</a:t>
            </a:r>
            <a:r>
              <a:rPr lang="lv-LV" altLang="en-US" sz="2400" dirty="0"/>
              <a:t> </a:t>
            </a:r>
            <a:r>
              <a:rPr lang="lv-LV" altLang="en-US" sz="2400" b="1" i="1" dirty="0" err="1"/>
              <a:t>true</a:t>
            </a:r>
            <a:r>
              <a:rPr lang="lv-LV" altLang="en-US" sz="2400" dirty="0"/>
              <a:t>, </a:t>
            </a:r>
            <a:r>
              <a:rPr lang="en-US" altLang="en-US" sz="2400" dirty="0"/>
              <a:t>if it operand is equal  to </a:t>
            </a:r>
            <a:r>
              <a:rPr lang="lv-LV" altLang="en-US" sz="2400" b="1" i="1" dirty="0" err="1"/>
              <a:t>false</a:t>
            </a:r>
            <a:r>
              <a:rPr lang="lv-LV" altLang="en-US" sz="2400" dirty="0"/>
              <a:t>, </a:t>
            </a:r>
            <a:r>
              <a:rPr lang="en-US" altLang="en-US" sz="2400" dirty="0"/>
              <a:t>and vice versa.</a:t>
            </a:r>
            <a:endParaRPr lang="lv-LV" altLang="en-US" sz="2400" dirty="0"/>
          </a:p>
          <a:p>
            <a:pPr>
              <a:lnSpc>
                <a:spcPct val="80000"/>
              </a:lnSpc>
              <a:buFontTx/>
              <a:buNone/>
            </a:pPr>
            <a:endParaRPr lang="lv-LV" altLang="en-US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lv-LV" altLang="en-US" sz="2400" dirty="0" err="1"/>
              <a:t>Examples</a:t>
            </a:r>
            <a:r>
              <a:rPr lang="lv-LV" altLang="en-US" sz="2400" dirty="0"/>
              <a:t>: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If number </a:t>
            </a:r>
            <a:r>
              <a:rPr lang="en-US" altLang="en-US" sz="2400" b="1" dirty="0"/>
              <a:t>x</a:t>
            </a:r>
            <a:r>
              <a:rPr lang="en-US" altLang="en-US" sz="2400" dirty="0"/>
              <a:t> is positive and divisible by 2</a:t>
            </a:r>
            <a:r>
              <a:rPr lang="lv-LV" altLang="en-US" sz="2400" dirty="0"/>
              <a:t>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lv-LV" altLang="en-US" sz="2400" dirty="0" err="1">
                <a:latin typeface="Courier New" panose="02070309020205020404" pitchFamily="49" charset="0"/>
              </a:rPr>
              <a:t>if</a:t>
            </a:r>
            <a:r>
              <a:rPr lang="lv-LV" altLang="en-US" sz="2400" dirty="0">
                <a:latin typeface="Courier New" panose="02070309020205020404" pitchFamily="49" charset="0"/>
              </a:rPr>
              <a:t> ((x &gt; 0) &amp;&amp; (x % 2 == 0))…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If number </a:t>
            </a:r>
            <a:r>
              <a:rPr lang="en-US" altLang="en-US" sz="2400" b="1" dirty="0"/>
              <a:t>x</a:t>
            </a:r>
            <a:r>
              <a:rPr lang="en-US" altLang="en-US" sz="2400" dirty="0"/>
              <a:t> is divisible by 2 or 3</a:t>
            </a:r>
            <a:r>
              <a:rPr lang="lv-LV" altLang="en-US" sz="2400" dirty="0"/>
              <a:t>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lv-LV" altLang="en-US" sz="2400" dirty="0" err="1">
                <a:latin typeface="Courier New" panose="02070309020205020404" pitchFamily="49" charset="0"/>
              </a:rPr>
              <a:t>if</a:t>
            </a:r>
            <a:r>
              <a:rPr lang="lv-LV" altLang="en-US" sz="2400" dirty="0">
                <a:latin typeface="Courier New" panose="02070309020205020404" pitchFamily="49" charset="0"/>
              </a:rPr>
              <a:t> ((x % 2 == 0) || (x % 3 == 0))…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If number </a:t>
            </a:r>
            <a:r>
              <a:rPr lang="en-US" altLang="en-US" sz="2400" b="1" dirty="0"/>
              <a:t>x</a:t>
            </a:r>
            <a:r>
              <a:rPr lang="en-US" altLang="en-US" sz="2400" dirty="0"/>
              <a:t> is not equal 0</a:t>
            </a:r>
            <a:r>
              <a:rPr lang="lv-LV" altLang="en-US" sz="2400" dirty="0"/>
              <a:t>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lv-LV" altLang="en-US" sz="2400" dirty="0" err="1">
                <a:latin typeface="Courier New" panose="02070309020205020404" pitchFamily="49" charset="0"/>
              </a:rPr>
              <a:t>if</a:t>
            </a:r>
            <a:r>
              <a:rPr lang="lv-LV" altLang="en-US" sz="2400" dirty="0">
                <a:latin typeface="Courier New" panose="02070309020205020404" pitchFamily="49" charset="0"/>
              </a:rPr>
              <a:t> !(x==0)…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98917F0-E138-4362-B66D-10B2D43BDA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EEBDD37-2588-4B37-A366-6EB9D5F3B6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44675"/>
            <a:ext cx="8435975" cy="4281488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altLang="en-US" dirty="0"/>
              <a:t>Write the condition that </a:t>
            </a:r>
            <a:r>
              <a:rPr lang="en-US" altLang="en-US" b="1" dirty="0"/>
              <a:t>x</a:t>
            </a:r>
            <a:r>
              <a:rPr lang="en-US" altLang="en-US" dirty="0"/>
              <a:t> is divisible by 2 and divisible by 3, but not divisible by 7</a:t>
            </a:r>
            <a:r>
              <a:rPr lang="lv-LV" altLang="en-US" dirty="0"/>
              <a:t>?</a:t>
            </a:r>
          </a:p>
          <a:p>
            <a:pPr marL="609600" indent="-609600">
              <a:buFontTx/>
              <a:buAutoNum type="arabicPeriod"/>
            </a:pPr>
            <a:r>
              <a:rPr lang="en-US" altLang="en-US" dirty="0"/>
              <a:t>There are 3 real positive numbers A, B, C. Is it possible to make a triangle with the following edge lengths?</a:t>
            </a:r>
            <a:endParaRPr lang="lv-LV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755340B-F891-41D7-AE7D-097337C3F8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else-if</a:t>
            </a:r>
            <a:r>
              <a:rPr lang="lv-LV" altLang="en-US" dirty="0"/>
              <a:t> </a:t>
            </a:r>
            <a:r>
              <a:rPr lang="en-US" altLang="en-US" dirty="0"/>
              <a:t>statement</a:t>
            </a:r>
            <a:endParaRPr lang="lv-LV" altLang="en-US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041149E-4702-413C-B9E0-C2C6EED878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9138"/>
            <a:ext cx="5842992" cy="4608512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 err="1">
                <a:latin typeface="Courier New" panose="02070309020205020404" pitchFamily="49" charset="0"/>
              </a:rPr>
              <a:t>if</a:t>
            </a:r>
            <a:r>
              <a:rPr lang="lv-LV" altLang="en-US" sz="1800" dirty="0">
                <a:latin typeface="Courier New" panose="02070309020205020404" pitchFamily="49" charset="0"/>
              </a:rPr>
              <a:t> (/* </a:t>
            </a:r>
            <a:r>
              <a:rPr lang="lv-LV" altLang="en-US" sz="1800" dirty="0" err="1">
                <a:latin typeface="Courier New" panose="02070309020205020404" pitchFamily="49" charset="0"/>
              </a:rPr>
              <a:t>Condition</a:t>
            </a:r>
            <a:r>
              <a:rPr lang="lv-LV" altLang="en-US" sz="1800" dirty="0">
                <a:latin typeface="Courier New" panose="02070309020205020404" pitchFamily="49" charset="0"/>
              </a:rPr>
              <a:t> #1 */)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/* </a:t>
            </a:r>
            <a:r>
              <a:rPr lang="lv-LV" altLang="en-US" sz="18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1800" dirty="0">
                <a:latin typeface="Courier New" panose="02070309020205020404" pitchFamily="49" charset="0"/>
              </a:rPr>
              <a:t> #1 */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 err="1">
                <a:latin typeface="Courier New" panose="02070309020205020404" pitchFamily="49" charset="0"/>
              </a:rPr>
              <a:t>else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 err="1">
                <a:latin typeface="Courier New" panose="02070309020205020404" pitchFamily="49" charset="0"/>
              </a:rPr>
              <a:t>if</a:t>
            </a:r>
            <a:r>
              <a:rPr lang="lv-LV" altLang="en-US" sz="1800" dirty="0">
                <a:latin typeface="Courier New" panose="02070309020205020404" pitchFamily="49" charset="0"/>
              </a:rPr>
              <a:t> (/* </a:t>
            </a:r>
            <a:r>
              <a:rPr lang="lv-LV" altLang="en-US" sz="1800" dirty="0" err="1">
                <a:latin typeface="Courier New" panose="02070309020205020404" pitchFamily="49" charset="0"/>
              </a:rPr>
              <a:t>Condition</a:t>
            </a:r>
            <a:r>
              <a:rPr lang="lv-LV" altLang="en-US" sz="1800" dirty="0">
                <a:latin typeface="Courier New" panose="02070309020205020404" pitchFamily="49" charset="0"/>
              </a:rPr>
              <a:t> #2 */)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/* </a:t>
            </a:r>
            <a:r>
              <a:rPr lang="lv-LV" altLang="en-US" sz="18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1800" dirty="0">
                <a:latin typeface="Courier New" panose="02070309020205020404" pitchFamily="49" charset="0"/>
              </a:rPr>
              <a:t> #2 */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 err="1">
                <a:latin typeface="Courier New" panose="02070309020205020404" pitchFamily="49" charset="0"/>
              </a:rPr>
              <a:t>else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 err="1">
                <a:latin typeface="Courier New" panose="02070309020205020404" pitchFamily="49" charset="0"/>
              </a:rPr>
              <a:t>if</a:t>
            </a:r>
            <a:r>
              <a:rPr lang="lv-LV" altLang="en-US" sz="1800" dirty="0">
                <a:latin typeface="Courier New" panose="02070309020205020404" pitchFamily="49" charset="0"/>
              </a:rPr>
              <a:t> (/* </a:t>
            </a:r>
            <a:r>
              <a:rPr lang="lv-LV" altLang="en-US" sz="1800" dirty="0" err="1">
                <a:latin typeface="Courier New" panose="02070309020205020404" pitchFamily="49" charset="0"/>
              </a:rPr>
              <a:t>Condition</a:t>
            </a:r>
            <a:r>
              <a:rPr lang="lv-LV" altLang="en-US" sz="1800" dirty="0">
                <a:latin typeface="Courier New" panose="02070309020205020404" pitchFamily="49" charset="0"/>
              </a:rPr>
              <a:t> #3 */)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/* </a:t>
            </a:r>
            <a:r>
              <a:rPr lang="lv-LV" altLang="en-US" sz="18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1800" dirty="0">
                <a:latin typeface="Courier New" panose="02070309020205020404" pitchFamily="49" charset="0"/>
              </a:rPr>
              <a:t> #3 */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 err="1">
                <a:latin typeface="Courier New" panose="02070309020205020404" pitchFamily="49" charset="0"/>
              </a:rPr>
              <a:t>else</a:t>
            </a:r>
            <a:endParaRPr lang="lv-LV" altLang="en-US" sz="18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/* </a:t>
            </a:r>
            <a:r>
              <a:rPr lang="lv-LV" altLang="en-US" sz="18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1800" dirty="0">
                <a:latin typeface="Courier New" panose="02070309020205020404" pitchFamily="49" charset="0"/>
              </a:rPr>
              <a:t> #4 */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39EF87BB-5E8C-46D3-9233-4FC5854CF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412875"/>
            <a:ext cx="828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Can be used if there is more than one condition</a:t>
            </a:r>
            <a:endParaRPr lang="lv-LV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2D42147-6329-4814-BB73-9A368CBFEC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48A362A-092C-45CD-933C-859565EC76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800" dirty="0"/>
              <a:t>Input 2 integer numbers. The program should output one of the following statements: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sz="2800" dirty="0"/>
              <a:t>First number is greater
Second number is greater
Numbers are equal</a:t>
            </a:r>
            <a:endParaRPr lang="lv-LV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4370D4E-B5A8-48C5-80B9-A427EF618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switch</a:t>
            </a:r>
            <a:r>
              <a:rPr lang="lv-LV" altLang="en-US" dirty="0"/>
              <a:t> </a:t>
            </a:r>
            <a:r>
              <a:rPr lang="en-US" altLang="en-US" dirty="0"/>
              <a:t>statement</a:t>
            </a:r>
            <a:endParaRPr lang="lv-LV" altLang="en-US" dirty="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840838B-AC00-4D05-B69F-CC589AC69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700463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 err="1">
                <a:latin typeface="Courier New" panose="02070309020205020404" pitchFamily="49" charset="0"/>
              </a:rPr>
              <a:t>switch</a:t>
            </a:r>
            <a:r>
              <a:rPr lang="lv-LV" altLang="en-US" sz="2000" dirty="0">
                <a:latin typeface="Courier New" panose="02070309020205020404" pitchFamily="49" charset="0"/>
              </a:rPr>
              <a:t> ( /* </a:t>
            </a:r>
            <a:r>
              <a:rPr lang="en-US" altLang="en-US" sz="2000" dirty="0">
                <a:latin typeface="Courier New" panose="02070309020205020404" pitchFamily="49" charset="0"/>
              </a:rPr>
              <a:t>Variable</a:t>
            </a:r>
            <a:r>
              <a:rPr lang="lv-LV" altLang="en-US" sz="2000" dirty="0">
                <a:latin typeface="Courier New" panose="02070309020205020404" pitchFamily="49" charset="0"/>
              </a:rPr>
              <a:t> */ )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{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    </a:t>
            </a:r>
            <a:r>
              <a:rPr lang="lv-LV" altLang="en-US" sz="2000" dirty="0" err="1">
                <a:latin typeface="Courier New" panose="02070309020205020404" pitchFamily="49" charset="0"/>
              </a:rPr>
              <a:t>case</a:t>
            </a:r>
            <a:r>
              <a:rPr lang="lv-LV" altLang="en-US" sz="2000" dirty="0">
                <a:latin typeface="Courier New" panose="02070309020205020404" pitchFamily="49" charset="0"/>
              </a:rPr>
              <a:t> /* </a:t>
            </a:r>
            <a:r>
              <a:rPr lang="en-US" altLang="en-US" sz="2000" dirty="0">
                <a:latin typeface="Courier New" panose="02070309020205020404" pitchFamily="49" charset="0"/>
              </a:rPr>
              <a:t>Value</a:t>
            </a:r>
            <a:r>
              <a:rPr lang="lv-LV" altLang="en-US" sz="2000" dirty="0">
                <a:latin typeface="Courier New" panose="02070309020205020404" pitchFamily="49" charset="0"/>
              </a:rPr>
              <a:t> */ :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        /* </a:t>
            </a:r>
            <a:r>
              <a:rPr lang="lv-LV" altLang="en-US" sz="20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2000" dirty="0">
                <a:latin typeface="Courier New" panose="02070309020205020404" pitchFamily="49" charset="0"/>
              </a:rPr>
              <a:t> */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        </a:t>
            </a:r>
            <a:r>
              <a:rPr lang="lv-LV" altLang="en-US" sz="2000" dirty="0" err="1">
                <a:latin typeface="Courier New" panose="02070309020205020404" pitchFamily="49" charset="0"/>
              </a:rPr>
              <a:t>break</a:t>
            </a:r>
            <a:r>
              <a:rPr lang="lv-LV" altLang="en-US" sz="2000" dirty="0">
                <a:latin typeface="Courier New" panose="02070309020205020404" pitchFamily="49" charset="0"/>
              </a:rPr>
              <a:t>;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    </a:t>
            </a:r>
            <a:r>
              <a:rPr lang="lv-LV" altLang="en-US" sz="2000" dirty="0" err="1">
                <a:latin typeface="Courier New" panose="02070309020205020404" pitchFamily="49" charset="0"/>
              </a:rPr>
              <a:t>case</a:t>
            </a:r>
            <a:r>
              <a:rPr lang="lv-LV" altLang="en-US" sz="2000" dirty="0">
                <a:latin typeface="Courier New" panose="02070309020205020404" pitchFamily="49" charset="0"/>
              </a:rPr>
              <a:t> /* </a:t>
            </a:r>
            <a:r>
              <a:rPr lang="en-US" altLang="en-US" sz="2000" dirty="0">
                <a:latin typeface="Courier New" panose="02070309020205020404" pitchFamily="49" charset="0"/>
              </a:rPr>
              <a:t>Value </a:t>
            </a:r>
            <a:r>
              <a:rPr lang="lv-LV" altLang="en-US" sz="2000" dirty="0">
                <a:latin typeface="Courier New" panose="02070309020205020404" pitchFamily="49" charset="0"/>
              </a:rPr>
              <a:t>*/ :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        /* </a:t>
            </a:r>
            <a:r>
              <a:rPr lang="lv-LV" altLang="en-US" sz="20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2000" dirty="0">
                <a:latin typeface="Courier New" panose="02070309020205020404" pitchFamily="49" charset="0"/>
              </a:rPr>
              <a:t> */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        </a:t>
            </a:r>
            <a:r>
              <a:rPr lang="lv-LV" altLang="en-US" sz="2000" dirty="0" err="1">
                <a:latin typeface="Courier New" panose="02070309020205020404" pitchFamily="49" charset="0"/>
              </a:rPr>
              <a:t>break</a:t>
            </a:r>
            <a:r>
              <a:rPr lang="lv-LV" altLang="en-US" sz="2000" dirty="0">
                <a:latin typeface="Courier New" panose="02070309020205020404" pitchFamily="49" charset="0"/>
              </a:rPr>
              <a:t>;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    </a:t>
            </a:r>
            <a:r>
              <a:rPr lang="lv-LV" altLang="en-US" sz="2000" dirty="0" err="1">
                <a:latin typeface="Courier New" panose="02070309020205020404" pitchFamily="49" charset="0"/>
              </a:rPr>
              <a:t>default</a:t>
            </a:r>
            <a:r>
              <a:rPr lang="lv-LV" altLang="en-US" sz="2000" dirty="0">
                <a:latin typeface="Courier New" panose="02070309020205020404" pitchFamily="49" charset="0"/>
              </a:rPr>
              <a:t>: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        /* </a:t>
            </a:r>
            <a:r>
              <a:rPr lang="lv-LV" altLang="en-US" sz="20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2000" dirty="0">
                <a:latin typeface="Courier New" panose="02070309020205020404" pitchFamily="49" charset="0"/>
              </a:rPr>
              <a:t> */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        </a:t>
            </a:r>
            <a:r>
              <a:rPr lang="lv-LV" altLang="en-US" sz="2000" dirty="0" err="1">
                <a:latin typeface="Courier New" panose="02070309020205020404" pitchFamily="49" charset="0"/>
              </a:rPr>
              <a:t>break</a:t>
            </a:r>
            <a:r>
              <a:rPr lang="lv-LV" altLang="en-US" sz="2000" dirty="0">
                <a:latin typeface="Courier New" panose="02070309020205020404" pitchFamily="49" charset="0"/>
              </a:rPr>
              <a:t>;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73189C86-E325-4EFE-B656-0775F5CBE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589588"/>
            <a:ext cx="82073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Allows you to process as many conditions as you need, you can also process unexpected conditions.</a:t>
            </a:r>
            <a:endParaRPr lang="lv-LV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9E08CD9-FCF3-4103-AD11-1E95507192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switch</a:t>
            </a:r>
            <a:r>
              <a:rPr lang="lv-LV" altLang="en-US" dirty="0"/>
              <a:t> </a:t>
            </a:r>
            <a:r>
              <a:rPr lang="en-US" altLang="en-US" dirty="0"/>
              <a:t>statement analysis</a:t>
            </a:r>
            <a:endParaRPr lang="lv-LV" altLang="en-US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8BF9CC7-5C53-415F-8F97-91A1856B9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6851650" cy="2620962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 err="1">
                <a:latin typeface="Courier New" panose="02070309020205020404" pitchFamily="49" charset="0"/>
              </a:rPr>
              <a:t>switch</a:t>
            </a:r>
            <a:r>
              <a:rPr lang="lv-LV" altLang="en-US" sz="1400" dirty="0">
                <a:latin typeface="Courier New" panose="02070309020205020404" pitchFamily="49" charset="0"/>
              </a:rPr>
              <a:t> ( /* </a:t>
            </a:r>
            <a:r>
              <a:rPr lang="en-US" altLang="en-US" sz="1400" dirty="0">
                <a:latin typeface="Courier New" panose="02070309020205020404" pitchFamily="49" charset="0"/>
              </a:rPr>
              <a:t>Variable</a:t>
            </a:r>
            <a:r>
              <a:rPr lang="lv-LV" altLang="en-US" sz="1400" dirty="0">
                <a:latin typeface="Courier New" panose="02070309020205020404" pitchFamily="49" charset="0"/>
              </a:rPr>
              <a:t> */ )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{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case</a:t>
            </a:r>
            <a:r>
              <a:rPr lang="lv-LV" altLang="en-US" sz="1400" dirty="0">
                <a:latin typeface="Courier New" panose="02070309020205020404" pitchFamily="49" charset="0"/>
              </a:rPr>
              <a:t> /* </a:t>
            </a:r>
            <a:r>
              <a:rPr lang="en-US" altLang="en-US" sz="1400" dirty="0">
                <a:latin typeface="Courier New" panose="02070309020205020404" pitchFamily="49" charset="0"/>
              </a:rPr>
              <a:t>Value </a:t>
            </a:r>
            <a:r>
              <a:rPr lang="lv-LV" altLang="en-US" sz="1400" dirty="0">
                <a:latin typeface="Courier New" panose="02070309020205020404" pitchFamily="49" charset="0"/>
              </a:rPr>
              <a:t>*/ :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    /* </a:t>
            </a:r>
            <a:r>
              <a:rPr lang="lv-LV" altLang="en-US" sz="14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1400" dirty="0">
                <a:latin typeface="Courier New" panose="02070309020205020404" pitchFamily="49" charset="0"/>
              </a:rPr>
              <a:t> </a:t>
            </a:r>
            <a:r>
              <a:rPr lang="lv-LV" altLang="en-US" sz="14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1400" dirty="0">
                <a:latin typeface="Courier New" panose="02070309020205020404" pitchFamily="49" charset="0"/>
              </a:rPr>
              <a:t> */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    </a:t>
            </a:r>
            <a:r>
              <a:rPr lang="lv-LV" altLang="en-US" sz="1400" dirty="0" err="1">
                <a:latin typeface="Courier New" panose="02070309020205020404" pitchFamily="49" charset="0"/>
              </a:rPr>
              <a:t>break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case</a:t>
            </a:r>
            <a:r>
              <a:rPr lang="lv-LV" altLang="en-US" sz="1400" dirty="0">
                <a:latin typeface="Courier New" panose="02070309020205020404" pitchFamily="49" charset="0"/>
              </a:rPr>
              <a:t> /* </a:t>
            </a:r>
            <a:r>
              <a:rPr lang="en-US" altLang="en-US" sz="1400" dirty="0">
                <a:latin typeface="Courier New" panose="02070309020205020404" pitchFamily="49" charset="0"/>
              </a:rPr>
              <a:t>Value </a:t>
            </a:r>
            <a:r>
              <a:rPr lang="lv-LV" altLang="en-US" sz="1400" dirty="0">
                <a:latin typeface="Courier New" panose="02070309020205020404" pitchFamily="49" charset="0"/>
              </a:rPr>
              <a:t>*/ :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    /* </a:t>
            </a:r>
            <a:r>
              <a:rPr lang="lv-LV" altLang="en-US" sz="14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1400" dirty="0">
                <a:latin typeface="Courier New" panose="02070309020205020404" pitchFamily="49" charset="0"/>
              </a:rPr>
              <a:t> </a:t>
            </a:r>
            <a:r>
              <a:rPr lang="lv-LV" altLang="en-US" sz="14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1400" dirty="0">
                <a:latin typeface="Courier New" panose="02070309020205020404" pitchFamily="49" charset="0"/>
              </a:rPr>
              <a:t> */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    </a:t>
            </a:r>
            <a:r>
              <a:rPr lang="lv-LV" altLang="en-US" sz="1400" dirty="0" err="1">
                <a:latin typeface="Courier New" panose="02070309020205020404" pitchFamily="49" charset="0"/>
              </a:rPr>
              <a:t>break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default</a:t>
            </a:r>
            <a:r>
              <a:rPr lang="lv-LV" altLang="en-US" sz="1400" dirty="0">
                <a:latin typeface="Courier New" panose="02070309020205020404" pitchFamily="49" charset="0"/>
              </a:rPr>
              <a:t>: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    /* </a:t>
            </a:r>
            <a:r>
              <a:rPr lang="lv-LV" altLang="en-US" sz="14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1400" dirty="0">
                <a:latin typeface="Courier New" panose="02070309020205020404" pitchFamily="49" charset="0"/>
              </a:rPr>
              <a:t> </a:t>
            </a:r>
            <a:r>
              <a:rPr lang="lv-LV" altLang="en-US" sz="14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1400" dirty="0">
                <a:latin typeface="Courier New" panose="02070309020205020404" pitchFamily="49" charset="0"/>
              </a:rPr>
              <a:t> */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    </a:t>
            </a:r>
            <a:r>
              <a:rPr lang="lv-LV" altLang="en-US" sz="1400" dirty="0" err="1">
                <a:latin typeface="Courier New" panose="02070309020205020404" pitchFamily="49" charset="0"/>
              </a:rPr>
              <a:t>break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 marL="457200" indent="-4572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5C6359EE-0220-4403-9F17-E547E2A8C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4005263"/>
            <a:ext cx="820737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Tx/>
              <a:buAutoNum type="arabicPeriod"/>
            </a:pPr>
            <a:r>
              <a:rPr lang="en-US" altLang="en-US" sz="1600" dirty="0"/>
              <a:t>Variable for evaluation</a:t>
            </a:r>
            <a:r>
              <a:rPr lang="lv-LV" altLang="en-US" sz="1600" dirty="0"/>
              <a:t>.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Tx/>
              <a:buAutoNum type="arabicPeriod"/>
            </a:pPr>
            <a:r>
              <a:rPr lang="en-US" altLang="en-US" sz="1600" dirty="0"/>
              <a:t>and</a:t>
            </a:r>
            <a:r>
              <a:rPr lang="lv-LV" altLang="en-US" sz="1600" dirty="0"/>
              <a:t> </a:t>
            </a:r>
            <a:r>
              <a:rPr lang="lv-LV" altLang="en-US" sz="1600" dirty="0">
                <a:solidFill>
                  <a:srgbClr val="0000FF"/>
                </a:solidFill>
              </a:rPr>
              <a:t>12.</a:t>
            </a:r>
            <a:r>
              <a:rPr lang="lv-LV" altLang="en-US" sz="1600" dirty="0"/>
              <a:t> </a:t>
            </a:r>
            <a:r>
              <a:rPr lang="lv-LV" altLang="en-US" sz="1600" b="1" i="1" dirty="0" err="1"/>
              <a:t>switch</a:t>
            </a:r>
            <a:r>
              <a:rPr lang="lv-LV" altLang="en-US" sz="1600" dirty="0"/>
              <a:t> </a:t>
            </a:r>
            <a:r>
              <a:rPr lang="en-US" altLang="en-US" sz="1600" dirty="0"/>
              <a:t>block begin and end</a:t>
            </a:r>
            <a:r>
              <a:rPr lang="lv-LV" altLang="en-US" sz="1600" dirty="0"/>
              <a:t>.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Tx/>
              <a:buAutoNum type="arabicPeriod"/>
            </a:pPr>
            <a:r>
              <a:rPr lang="en-US" altLang="en-US" sz="1600" dirty="0"/>
              <a:t>and</a:t>
            </a:r>
            <a:r>
              <a:rPr lang="lv-LV" altLang="en-US" sz="1600" dirty="0"/>
              <a:t> </a:t>
            </a:r>
            <a:r>
              <a:rPr lang="lv-LV" altLang="en-US" sz="1600" dirty="0">
                <a:solidFill>
                  <a:srgbClr val="0000FF"/>
                </a:solidFill>
              </a:rPr>
              <a:t>6.</a:t>
            </a:r>
            <a:r>
              <a:rPr lang="lv-LV" altLang="en-US" sz="1600" dirty="0"/>
              <a:t> </a:t>
            </a:r>
            <a:r>
              <a:rPr lang="lv-LV" altLang="en-US" sz="1600" b="1" i="1" dirty="0" err="1"/>
              <a:t>case</a:t>
            </a:r>
            <a:r>
              <a:rPr lang="lv-LV" altLang="en-US" sz="1600" dirty="0"/>
              <a:t> </a:t>
            </a:r>
            <a:r>
              <a:rPr lang="en-US" altLang="en-US" sz="1600" dirty="0"/>
              <a:t>possible Variable values</a:t>
            </a:r>
            <a:r>
              <a:rPr lang="lv-LV" altLang="en-US" sz="1600" dirty="0"/>
              <a:t>. </a:t>
            </a:r>
            <a:r>
              <a:rPr lang="en-US" altLang="en-US" sz="1600" dirty="0"/>
              <a:t>Each </a:t>
            </a:r>
            <a:r>
              <a:rPr lang="en-US" altLang="en-US" sz="1600" b="1" dirty="0"/>
              <a:t>case</a:t>
            </a:r>
            <a:r>
              <a:rPr lang="en-US" altLang="en-US" sz="1600" dirty="0"/>
              <a:t> command have its own operation block</a:t>
            </a:r>
            <a:r>
              <a:rPr lang="lv-LV" altLang="en-US" sz="1600" dirty="0"/>
              <a:t>.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Tx/>
              <a:buAutoNum type="arabicPeriod" startAt="9"/>
            </a:pPr>
            <a:r>
              <a:rPr lang="lv-LV" altLang="en-US" sz="1600" b="1" i="1" dirty="0" err="1"/>
              <a:t>default</a:t>
            </a:r>
            <a:r>
              <a:rPr lang="lv-LV" altLang="en-US" sz="1600" dirty="0"/>
              <a:t> </a:t>
            </a:r>
            <a:r>
              <a:rPr lang="en-US" altLang="en-US" sz="1600" dirty="0"/>
              <a:t>block will work if none of the previous </a:t>
            </a:r>
            <a:r>
              <a:rPr lang="en-US" altLang="en-US" sz="1600" b="1" dirty="0"/>
              <a:t>case</a:t>
            </a:r>
            <a:r>
              <a:rPr lang="en-US" altLang="en-US" sz="1600" dirty="0"/>
              <a:t> blocks works. Is not mandatory.</a:t>
            </a:r>
            <a:endParaRPr lang="lv-LV" altLang="en-US" sz="1600" dirty="0"/>
          </a:p>
          <a:p>
            <a:pPr>
              <a:spcBef>
                <a:spcPct val="50000"/>
              </a:spcBef>
              <a:buClr>
                <a:srgbClr val="0000FF"/>
              </a:buClr>
              <a:buFontTx/>
              <a:buAutoNum type="arabicPeriod" startAt="5"/>
            </a:pPr>
            <a:r>
              <a:rPr lang="lv-LV" altLang="en-US" sz="1600" dirty="0">
                <a:solidFill>
                  <a:srgbClr val="0000FF"/>
                </a:solidFill>
              </a:rPr>
              <a:t>8.,</a:t>
            </a:r>
            <a:r>
              <a:rPr lang="lv-LV" altLang="en-US" sz="1600" dirty="0"/>
              <a:t> </a:t>
            </a:r>
            <a:r>
              <a:rPr lang="en-US" altLang="en-US" sz="1600" dirty="0"/>
              <a:t>and</a:t>
            </a:r>
            <a:r>
              <a:rPr lang="lv-LV" altLang="en-US" sz="1600" dirty="0"/>
              <a:t> </a:t>
            </a:r>
            <a:r>
              <a:rPr lang="lv-LV" altLang="en-US" sz="1600" dirty="0">
                <a:solidFill>
                  <a:srgbClr val="0000FF"/>
                </a:solidFill>
              </a:rPr>
              <a:t>11.</a:t>
            </a:r>
            <a:r>
              <a:rPr lang="lv-LV" altLang="en-US" sz="1600" dirty="0"/>
              <a:t> </a:t>
            </a:r>
            <a:r>
              <a:rPr lang="lv-LV" altLang="en-US" sz="1600" b="1" i="1" dirty="0" err="1"/>
              <a:t>break</a:t>
            </a:r>
            <a:r>
              <a:rPr lang="lv-LV" altLang="en-US" sz="1600" dirty="0"/>
              <a:t> </a:t>
            </a:r>
            <a:r>
              <a:rPr lang="en-US" altLang="en-US" sz="1600" dirty="0"/>
              <a:t>is the exit point from </a:t>
            </a:r>
            <a:r>
              <a:rPr lang="lv-LV" altLang="en-US" sz="1600" b="1" i="1" dirty="0" err="1"/>
              <a:t>switch</a:t>
            </a:r>
            <a:r>
              <a:rPr lang="lv-LV" altLang="en-US" sz="1600" b="1" i="1" dirty="0"/>
              <a:t> </a:t>
            </a:r>
            <a:r>
              <a:rPr lang="lv-LV" altLang="en-US" sz="1600" dirty="0"/>
              <a:t> </a:t>
            </a:r>
            <a:r>
              <a:rPr lang="en-US" altLang="en-US" sz="1600" dirty="0"/>
              <a:t>block</a:t>
            </a:r>
            <a:r>
              <a:rPr lang="lv-LV" altLang="en-US" sz="1600" dirty="0"/>
              <a:t>. </a:t>
            </a:r>
            <a:r>
              <a:rPr lang="en-US" altLang="en-US" sz="1600" dirty="0"/>
              <a:t>If you do not write the </a:t>
            </a:r>
            <a:r>
              <a:rPr lang="en-US" altLang="en-US" sz="1600" b="1" dirty="0"/>
              <a:t>break</a:t>
            </a:r>
            <a:r>
              <a:rPr lang="en-US" altLang="en-US" sz="1600" dirty="0"/>
              <a:t>, you will not only meet those operators that match the </a:t>
            </a:r>
            <a:r>
              <a:rPr lang="en-US" altLang="en-US" sz="1600" b="1" dirty="0"/>
              <a:t>variable</a:t>
            </a:r>
            <a:r>
              <a:rPr lang="en-US" altLang="en-US" sz="1600" dirty="0"/>
              <a:t> value but also all subsequent</a:t>
            </a:r>
            <a:r>
              <a:rPr lang="lv-LV" altLang="en-US" sz="1600" dirty="0"/>
              <a:t>!</a:t>
            </a:r>
            <a:r>
              <a:rPr lang="en-US" altLang="en-US" sz="1600" dirty="0"/>
              <a:t> </a:t>
            </a:r>
            <a:endParaRPr lang="lv-LV" alt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A513CF5-5B6C-4B7D-992E-1EB7926B6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switch</a:t>
            </a:r>
            <a:r>
              <a:rPr lang="lv-LV" altLang="en-US" dirty="0"/>
              <a:t> </a:t>
            </a:r>
            <a:r>
              <a:rPr lang="en-US" altLang="en-US" dirty="0"/>
              <a:t>statement</a:t>
            </a:r>
            <a:r>
              <a:rPr lang="lv-LV" altLang="en-US" dirty="0"/>
              <a:t> 1</a:t>
            </a:r>
            <a:r>
              <a:rPr lang="en-US" altLang="en-US" baseline="30000" dirty="0" err="1"/>
              <a:t>st</a:t>
            </a:r>
            <a:r>
              <a:rPr lang="en-US" altLang="en-US" dirty="0"/>
              <a:t> e</a:t>
            </a:r>
            <a:r>
              <a:rPr lang="lv-LV" altLang="en-US" dirty="0" err="1"/>
              <a:t>xample</a:t>
            </a:r>
            <a:endParaRPr lang="lv-LV" altLang="en-US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F394E6F-D855-4522-BF5E-A775D48D1A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635125"/>
            <a:ext cx="8229600" cy="5184775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double a, b;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cout &lt;&lt; "Input a: ";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cin &gt;&gt; a;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cout &lt;&lt; "Input b: ";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cin &gt;&gt; b;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int x;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cout &lt;&lt; "Choose one of math operations: 1(+), 2(-), 3(*), 4(/)."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cin &gt;&gt; x;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switch (x)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case 1: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        cout &lt;&lt; a+b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        break;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case 2: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        cout &lt;&lt; a-b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        break;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case 3: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        cout &lt;&lt; a*b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        break;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case 4: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        cout &lt;&lt; a/b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        break;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default: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        cout &lt;&lt; "Illegal operation"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            break;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200">
                <a:latin typeface="Courier New" panose="02070309020205020404" pitchFamily="49" charset="0"/>
              </a:rPr>
              <a:t>    }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610905F1-5177-4168-8882-2650EE23F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260475"/>
            <a:ext cx="4967287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lv-LV" altLang="en-US" dirty="0" err="1"/>
              <a:t>Mathematical</a:t>
            </a:r>
            <a:r>
              <a:rPr lang="lv-LV" altLang="en-US" dirty="0"/>
              <a:t> </a:t>
            </a:r>
            <a:r>
              <a:rPr lang="lv-LV" altLang="en-US" dirty="0" err="1"/>
              <a:t>operations</a:t>
            </a:r>
            <a:r>
              <a:rPr lang="lv-LV" altLang="en-US" dirty="0"/>
              <a:t>
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10B1041-370C-4EC6-BB82-A676E1492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switch</a:t>
            </a:r>
            <a:r>
              <a:rPr lang="lv-LV" altLang="en-US" dirty="0"/>
              <a:t> </a:t>
            </a:r>
            <a:r>
              <a:rPr lang="en-US" altLang="en-US" dirty="0"/>
              <a:t>statement</a:t>
            </a:r>
            <a:r>
              <a:rPr lang="lv-LV" altLang="en-US" dirty="0"/>
              <a:t> </a:t>
            </a:r>
            <a:r>
              <a:rPr lang="en-US" altLang="en-US" dirty="0"/>
              <a:t>2</a:t>
            </a:r>
            <a:r>
              <a:rPr lang="en-US" altLang="en-US" baseline="30000" dirty="0"/>
              <a:t>nd</a:t>
            </a:r>
            <a:r>
              <a:rPr lang="en-US" altLang="en-US" dirty="0"/>
              <a:t> e</a:t>
            </a:r>
            <a:r>
              <a:rPr lang="lv-LV" altLang="en-US" dirty="0" err="1"/>
              <a:t>xample</a:t>
            </a:r>
            <a:endParaRPr lang="lv-LV" altLang="en-US" dirty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96017FC-7A6B-43EF-9CB2-FE6052F33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89138"/>
            <a:ext cx="8229600" cy="4525962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switch (month)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case 1: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case 3: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case 5: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case 7: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case 8: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case 10: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case 12: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    cout &lt;&lt; 31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    break 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case 4: case 6: case 9: case 11: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    cout &lt;&lt; 30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    break;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case 2: // February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    cout &lt;&lt; "28 or 29"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    break;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default: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    cout &lt;&lt; "Invalid input"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        break;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400">
                <a:latin typeface="Courier New" panose="02070309020205020404" pitchFamily="49" charset="0"/>
              </a:rPr>
              <a:t>}</a:t>
            </a:r>
            <a:endParaRPr lang="lv-LV" altLang="en-US" sz="1400">
              <a:latin typeface="Courier New" panose="02070309020205020404" pitchFamily="49" charset="0"/>
            </a:endParaRPr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192C024C-EDC8-461E-B686-A4FCC20C9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1484313"/>
            <a:ext cx="4967287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Number of days in month
</a:t>
            </a:r>
            <a:endParaRPr lang="lv-LV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F9366E9-A8C1-49F3-B5A2-FB36B634D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640D35D-FB56-493B-AE57-68F3B96B08E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268413"/>
            <a:ext cx="8713788" cy="5329237"/>
          </a:xfrm>
        </p:spPr>
        <p:txBody>
          <a:bodyPr/>
          <a:lstStyle/>
          <a:p>
            <a:pPr marL="533400" indent="-533400"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1900" dirty="0"/>
              <a:t>There are three integers</a:t>
            </a:r>
            <a:r>
              <a:rPr lang="lv-LV" altLang="en-US" sz="1900" dirty="0"/>
              <a:t>, </a:t>
            </a:r>
            <a:r>
              <a:rPr lang="en-US" altLang="en-US" sz="1900" dirty="0"/>
              <a:t>how many of them are equal?</a:t>
            </a:r>
            <a:endParaRPr lang="lv-LV" altLang="en-US" sz="1900" dirty="0"/>
          </a:p>
          <a:p>
            <a:pPr marL="533400" indent="-533400"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1900" dirty="0"/>
              <a:t>Input </a:t>
            </a:r>
            <a:r>
              <a:rPr lang="lv-LV" altLang="en-US" sz="1900" dirty="0" err="1"/>
              <a:t>second-degree</a:t>
            </a:r>
            <a:r>
              <a:rPr lang="lv-LV" altLang="en-US" sz="1900" dirty="0"/>
              <a:t> </a:t>
            </a:r>
            <a:r>
              <a:rPr lang="lv-LV" altLang="en-US" sz="1900" dirty="0" err="1"/>
              <a:t>equation</a:t>
            </a:r>
            <a:r>
              <a:rPr lang="lv-LV" altLang="en-US" sz="1900" dirty="0"/>
              <a:t> </a:t>
            </a:r>
            <a:r>
              <a:rPr lang="en-US" altLang="en-US" sz="1900" b="1" dirty="0"/>
              <a:t>a</a:t>
            </a:r>
            <a:r>
              <a:rPr lang="en-US" altLang="en-US" sz="1900" dirty="0"/>
              <a:t>x</a:t>
            </a:r>
            <a:r>
              <a:rPr lang="en-US" altLang="en-US" sz="1900" baseline="30000" dirty="0"/>
              <a:t>2</a:t>
            </a:r>
            <a:r>
              <a:rPr lang="en-US" altLang="en-US" sz="1900" dirty="0"/>
              <a:t>+</a:t>
            </a:r>
            <a:r>
              <a:rPr lang="en-US" altLang="en-US" sz="1900" b="1" dirty="0"/>
              <a:t>b</a:t>
            </a:r>
            <a:r>
              <a:rPr lang="en-US" altLang="en-US" sz="1900" dirty="0"/>
              <a:t>x+</a:t>
            </a:r>
            <a:r>
              <a:rPr lang="en-US" altLang="en-US" sz="1900" b="1" dirty="0"/>
              <a:t>c</a:t>
            </a:r>
            <a:r>
              <a:rPr lang="en-US" altLang="en-US" sz="1900" dirty="0"/>
              <a:t>=0 coefficients</a:t>
            </a:r>
            <a:r>
              <a:rPr lang="ru-RU" altLang="en-US" sz="1900" dirty="0"/>
              <a:t> </a:t>
            </a:r>
            <a:r>
              <a:rPr lang="lv-LV" altLang="en-US" sz="1900" dirty="0" err="1"/>
              <a:t>and</a:t>
            </a:r>
            <a:r>
              <a:rPr lang="lv-LV" altLang="en-US" sz="1900" dirty="0"/>
              <a:t> </a:t>
            </a:r>
            <a:r>
              <a:rPr lang="en-US" altLang="en-US" sz="1900" dirty="0"/>
              <a:t>resolve it (find all possible roots)</a:t>
            </a:r>
            <a:r>
              <a:rPr lang="lv-LV" altLang="en-US" sz="1900" dirty="0"/>
              <a:t>.</a:t>
            </a:r>
          </a:p>
          <a:p>
            <a:pPr marL="533400" indent="-533400"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1900" dirty="0"/>
              <a:t>Is it possible from the sheet of paper with size </a:t>
            </a:r>
            <a:r>
              <a:rPr lang="en-US" altLang="en-US" sz="1900" b="1" dirty="0" err="1"/>
              <a:t>A</a:t>
            </a:r>
            <a:r>
              <a:rPr lang="en-US" altLang="en-US" sz="1900" dirty="0" err="1"/>
              <a:t>x</a:t>
            </a:r>
            <a:r>
              <a:rPr lang="en-US" altLang="en-US" sz="1900" b="1" dirty="0" err="1"/>
              <a:t>B</a:t>
            </a:r>
            <a:r>
              <a:rPr lang="en-US" altLang="en-US" sz="1900" dirty="0"/>
              <a:t> cut a card with size </a:t>
            </a:r>
            <a:r>
              <a:rPr lang="en-US" altLang="en-US" sz="1900" b="1" dirty="0" err="1"/>
              <a:t>X</a:t>
            </a:r>
            <a:r>
              <a:rPr lang="en-US" altLang="en-US" sz="1900" dirty="0" err="1"/>
              <a:t>x</a:t>
            </a:r>
            <a:r>
              <a:rPr lang="en-US" altLang="en-US" sz="1900" b="1" dirty="0" err="1"/>
              <a:t>Y</a:t>
            </a:r>
            <a:r>
              <a:rPr lang="en-US" altLang="en-US" sz="1900" dirty="0"/>
              <a:t>? </a:t>
            </a:r>
          </a:p>
          <a:p>
            <a:pPr marL="533400" indent="-533400"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1900" dirty="0"/>
              <a:t>The program requests a month number and tells you what season it is (for example: 3-Spring). 
The coordinates of the chess field are two digits, each 1 to 8. The first number is the column number, the second</a:t>
            </a:r>
            <a:r>
              <a:rPr lang="lv-LV" altLang="en-US" sz="1900" dirty="0"/>
              <a:t> </a:t>
            </a:r>
            <a:r>
              <a:rPr lang="lv-LV" altLang="en-US" sz="1900" dirty="0" err="1"/>
              <a:t>is</a:t>
            </a:r>
            <a:r>
              <a:rPr lang="lv-LV" altLang="en-US" sz="1900" dirty="0"/>
              <a:t> </a:t>
            </a:r>
            <a:r>
              <a:rPr lang="lv-LV" altLang="en-US" sz="1900" dirty="0" err="1"/>
              <a:t>the</a:t>
            </a:r>
            <a:r>
              <a:rPr lang="en-US" altLang="en-US" sz="1900" dirty="0"/>
              <a:t> line number. Two square coordinates </a:t>
            </a:r>
            <a:r>
              <a:rPr lang="en-US" altLang="en-US" sz="1900" b="1" dirty="0"/>
              <a:t>(x1, y1)</a:t>
            </a:r>
            <a:r>
              <a:rPr lang="en-US" altLang="en-US" sz="1900" dirty="0"/>
              <a:t> and </a:t>
            </a:r>
            <a:r>
              <a:rPr lang="en-US" altLang="en-US" sz="1900" b="1" dirty="0"/>
              <a:t>(x2, y2) </a:t>
            </a:r>
            <a:r>
              <a:rPr lang="en-US" altLang="en-US" sz="1900" dirty="0"/>
              <a:t>are given. You have to say whether a Rook </a:t>
            </a:r>
            <a:r>
              <a:rPr lang="lv-LV" altLang="en-US" sz="1900" dirty="0"/>
              <a:t>(</a:t>
            </a:r>
            <a:r>
              <a:rPr lang="lv-LV" altLang="en-US" sz="1900" dirty="0" err="1"/>
              <a:t>tower</a:t>
            </a:r>
            <a:r>
              <a:rPr lang="lv-LV" altLang="en-US" sz="1900" dirty="0"/>
              <a:t>)</a:t>
            </a:r>
            <a:r>
              <a:rPr lang="en-US" altLang="en-US" sz="1900" dirty="0"/>
              <a:t> will be able to get from one square to another in one move.
The program requires coordinates</a:t>
            </a:r>
            <a:r>
              <a:rPr lang="lv-LV" altLang="en-US" sz="1900" dirty="0"/>
              <a:t> </a:t>
            </a:r>
            <a:r>
              <a:rPr lang="lv-LV" altLang="en-US" sz="1900" dirty="0" err="1"/>
              <a:t>for</a:t>
            </a:r>
            <a:r>
              <a:rPr lang="lv-LV" altLang="en-US" sz="1900" dirty="0"/>
              <a:t> </a:t>
            </a:r>
            <a:r>
              <a:rPr lang="en-US" altLang="en-US" sz="1900" dirty="0"/>
              <a:t>two chess board squares </a:t>
            </a:r>
            <a:r>
              <a:rPr lang="en-US" altLang="en-US" sz="1900" b="1" dirty="0"/>
              <a:t>(x1, y1) </a:t>
            </a:r>
            <a:r>
              <a:rPr lang="en-US" altLang="en-US" sz="1900" dirty="0"/>
              <a:t>and </a:t>
            </a:r>
            <a:r>
              <a:rPr lang="en-US" altLang="en-US" sz="1900" b="1" dirty="0"/>
              <a:t>(x2, y2). </a:t>
            </a:r>
            <a:r>
              <a:rPr lang="en-US" altLang="en-US" sz="1900" dirty="0"/>
              <a:t>Does a </a:t>
            </a:r>
            <a:r>
              <a:rPr lang="lv-LV" altLang="en-US" sz="1900" dirty="0" err="1"/>
              <a:t>Queen</a:t>
            </a:r>
            <a:r>
              <a:rPr lang="en-US" altLang="en-US" sz="1900" dirty="0"/>
              <a:t> with coordinates </a:t>
            </a:r>
            <a:r>
              <a:rPr lang="en-US" altLang="en-US" sz="1900" b="1" dirty="0"/>
              <a:t>(x1, y1) </a:t>
            </a:r>
            <a:r>
              <a:rPr lang="en-US" altLang="en-US" sz="1900" dirty="0"/>
              <a:t>threaten the opponent's piece with coordinates </a:t>
            </a:r>
            <a:r>
              <a:rPr lang="en-US" altLang="en-US" sz="1900" b="1" dirty="0"/>
              <a:t>(x2, y2)</a:t>
            </a:r>
            <a:r>
              <a:rPr lang="en-US" altLang="en-US" sz="1900" dirty="0"/>
              <a:t>? </a:t>
            </a:r>
            <a:endParaRPr lang="lv-LV" altLang="en-US" sz="1900" dirty="0"/>
          </a:p>
          <a:p>
            <a:pPr marL="533400" indent="-533400"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1900" dirty="0"/>
              <a:t>The program requires coordinates</a:t>
            </a:r>
            <a:r>
              <a:rPr lang="lv-LV" altLang="en-US" sz="1900" dirty="0"/>
              <a:t> </a:t>
            </a:r>
            <a:r>
              <a:rPr lang="lv-LV" altLang="en-US" sz="1900" dirty="0" err="1"/>
              <a:t>for</a:t>
            </a:r>
            <a:r>
              <a:rPr lang="lv-LV" altLang="en-US" sz="1900" dirty="0"/>
              <a:t> </a:t>
            </a:r>
            <a:r>
              <a:rPr lang="en-US" altLang="en-US" sz="1900" dirty="0"/>
              <a:t>two chess board squares </a:t>
            </a:r>
            <a:r>
              <a:rPr lang="en-US" altLang="en-US" sz="1900" b="1" dirty="0"/>
              <a:t>(x1, y1) </a:t>
            </a:r>
            <a:r>
              <a:rPr lang="en-US" altLang="en-US" sz="1900" dirty="0"/>
              <a:t>and </a:t>
            </a:r>
            <a:r>
              <a:rPr lang="en-US" altLang="en-US" sz="1900" b="1" dirty="0"/>
              <a:t>(x2, y2). </a:t>
            </a:r>
            <a:r>
              <a:rPr lang="en-US" altLang="en-US" sz="1900" dirty="0"/>
              <a:t>Are these </a:t>
            </a:r>
            <a:r>
              <a:rPr lang="en-US" altLang="en-US" sz="1900"/>
              <a:t>squares have the </a:t>
            </a:r>
            <a:r>
              <a:rPr lang="en-US" altLang="en-US" sz="1900" dirty="0"/>
              <a:t>same color? </a:t>
            </a:r>
            <a:endParaRPr lang="lv-LV" alt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1071</Words>
  <Application>Microsoft Office PowerPoint</Application>
  <PresentationFormat>On-screen Show (4:3)</PresentationFormat>
  <Paragraphs>207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Default Design</vt:lpstr>
      <vt:lpstr>Branchings</vt:lpstr>
      <vt:lpstr>If-else statement</vt:lpstr>
      <vt:lpstr>If-else statement</vt:lpstr>
      <vt:lpstr>Example</vt:lpstr>
      <vt:lpstr>Comparison operators
</vt:lpstr>
      <vt:lpstr>Example – nested conditionals</vt:lpstr>
      <vt:lpstr>Practice</vt:lpstr>
      <vt:lpstr>Logical operators</vt:lpstr>
      <vt:lpstr>Practice</vt:lpstr>
      <vt:lpstr>else-if statement</vt:lpstr>
      <vt:lpstr>Practice</vt:lpstr>
      <vt:lpstr>switch statement</vt:lpstr>
      <vt:lpstr>switch statement analysis</vt:lpstr>
      <vt:lpstr>switch statement 1st example</vt:lpstr>
      <vt:lpstr>switch statement 2nd example</vt:lpstr>
      <vt:lpstr>Practice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Zarošanas</dc:title>
  <dc:creator>Home</dc:creator>
  <cp:lastModifiedBy>Andrej Liepiņš</cp:lastModifiedBy>
  <cp:revision>20</cp:revision>
  <dcterms:created xsi:type="dcterms:W3CDTF">2011-07-08T15:50:08Z</dcterms:created>
  <dcterms:modified xsi:type="dcterms:W3CDTF">2019-03-04T10:30:46Z</dcterms:modified>
</cp:coreProperties>
</file>