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63" r:id="rId5"/>
    <p:sldId id="266" r:id="rId6"/>
    <p:sldId id="265" r:id="rId7"/>
    <p:sldId id="267" r:id="rId8"/>
    <p:sldId id="268" r:id="rId9"/>
    <p:sldId id="269" r:id="rId10"/>
    <p:sldId id="257" r:id="rId11"/>
    <p:sldId id="258" r:id="rId12"/>
    <p:sldId id="259" r:id="rId13"/>
    <p:sldId id="270" r:id="rId14"/>
    <p:sldId id="271" r:id="rId15"/>
    <p:sldId id="260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73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</p:sldIdLst>
  <p:sldSz cx="9144000" cy="6858000" type="screen4x3"/>
  <p:notesSz cx="6858000" cy="9144000"/>
  <p:defaultTextStyle>
    <a:defPPr>
      <a:defRPr lang="lv-LV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12" autoAdjust="0"/>
  </p:normalViewPr>
  <p:slideViewPr>
    <p:cSldViewPr>
      <p:cViewPr varScale="1">
        <p:scale>
          <a:sx n="80" d="100"/>
          <a:sy n="80" d="100"/>
        </p:scale>
        <p:origin x="63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3DF9BF9-00ED-4CC4-B0CE-047CBB66E4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lv-LV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E53540E-1FEB-4EB1-AE32-B4C117BCB14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lv-LV" alt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3E145E07-7884-4A65-AA4E-B8C2F9B660C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42C70FBB-F0AA-42E4-86F3-3421C4A6B0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1CF42EB3-38D4-4B15-9664-34D93AA9F8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lv-LV" alt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79F7FFCE-D303-48F0-BDC3-52D0962905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F75869-3D21-407B-B39D-2177D5134854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D9AF4F0-E6C3-4543-91FD-994586D6FB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25AD38-2B75-4242-80BA-4C0ABFC32FD1}" type="slidenum">
              <a:rPr lang="lv-LV" altLang="en-US"/>
              <a:pPr/>
              <a:t>4</a:t>
            </a:fld>
            <a:endParaRPr lang="lv-LV" altLang="en-US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6975D8E6-36F7-401F-9447-022BB9AC6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CF47125-FD66-4AD0-B8CB-B3C926D0E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altLang="en-US"/>
              <a:t>dr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75869-3D21-407B-B39D-2177D5134854}" type="slidenum">
              <a:rPr lang="lv-LV" altLang="en-US" smtClean="0"/>
              <a:pPr/>
              <a:t>21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035953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C987677D-C52E-57D0-1638-21704AE977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2B3A98-4BE1-4054-A699-82DD6405144A}" type="slidenum">
              <a:rPr lang="lv-LV" altLang="lv-LV"/>
              <a:pPr/>
              <a:t>24</a:t>
            </a:fld>
            <a:endParaRPr lang="lv-LV" altLang="lv-LV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C6E11A9-4EDF-36A3-70CE-EA146A4CAB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D8827BC-FD68-AD40-4F6B-5F48B2F1F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ru-RU" altLang="lv-LV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7002-2892-4327-8FC5-2320AEB4C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7BF7A-299A-4F3F-A61A-7744F232B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8C89E-7344-477C-B4F3-B896518F7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91204-672D-4126-A82E-4A99C7A0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CE03-FB0B-4469-B727-96905301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AA5F52-2409-4437-B896-6FED666A385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55193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D64C-62BE-417B-A0FA-8F521168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287E-BBAB-4F50-9A86-7524B21C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5241-2657-42A0-B407-4E3D2DB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635BC-07F7-42A2-91A1-237C5BB9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0DC10-4027-48F0-A9D8-F91C8CC4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33D72E-C663-4DB4-9C46-BFE58C7DEF3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200406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9B97-4A9A-4F16-853B-F0885C125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0E1CA-7CDA-49F8-8D98-A247C05DD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DA4A-F3D8-421D-8B92-36AE5547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76D32-DEDB-4B3D-B00E-B860E663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AC948-36F1-440D-9633-6B507578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186AA4-0B41-4A96-99FF-312A520A047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50730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2AEB-D20F-41C7-8CC9-FA0BC036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862E7-5597-4825-8719-CB85B1B15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092B3-EAAF-405F-9C11-4C02595BB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85B5D-D97E-4BB2-82C1-0C7C5AAA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BD58B-AB02-45A4-8C95-68640C8E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64AC8-F0D4-425E-8003-2C950C38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4A9D29-43B0-4385-96E0-7C387147CF2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96778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89B-A25B-4712-9D13-850001EF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0CB45-0988-4589-AADD-3E580A360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D8D7E-7E6A-4F5B-A515-853283060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C2FEB-36E9-4003-9C9E-EF825AE85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4E3D-30A6-44DE-8A79-10E06B597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997EC-C29F-4E53-BFCC-33AFD333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0B4EA-B935-4ADB-8BB3-B530C0A1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67E55-117D-4B5B-9125-A3F88C78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D6AF53-CE60-4183-A8B8-0EA206BB5CF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99507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3FD5-1C6A-4800-8BD1-40DD9D70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54685-06A0-46DD-9C87-B1347D29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3755C-BDF8-4AED-8C7F-19BCA613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4909F-A07D-4E2D-8BBD-B8480B0A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B5F3E5-04C4-4055-BE27-53C9DA175930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8727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1858A-EC99-4D37-8DC4-BB877C21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7A8E3D-F1EC-441B-BDB9-BCBECBC2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5FCBC-66DE-4932-A812-1154E2EC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69C3CF-9C32-4542-B284-45DBC73570C1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185920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0301B-60C5-4DDE-8E56-BB7E6BB1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876FA-4E35-4F78-B846-6E6DA3404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3F3E9-30C1-4AAF-B45C-53B7DA86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BFCC5-1662-4B87-8177-A1D1CB4F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16FA1-F95B-4AFC-97B9-31019703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CF522-26B9-4425-9B6B-07635B33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F616E-7BEE-40DB-9238-B75290A0AD59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84820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D769-3416-447E-A6BB-F28FB76C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8E08F-5611-4DC1-AF9F-A49FC3FE6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02761-1C02-4942-A2A6-86F81E2A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29DA2-5C78-4C0A-BAE4-7E0E96DD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EF123-DEDC-4BE5-8261-70C6545F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4E479-288C-434A-81CE-3AA5B9EF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10A81-3D92-4C48-9C79-B61AE2FFBAF5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90852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BC31-9958-48BB-95E8-5AF97105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59516-A067-4028-87FB-AF339B2FD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FED27-CF84-4D00-86F7-B88F2EBF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25BD0-3893-4700-886F-B2723C89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065AB-C59F-4751-94B7-20629E36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C4880C-F89E-4EBE-946B-675C8D29B977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42065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67DE4-4AD4-4C78-A7B3-462D626AC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86E6E-3562-44D5-98CA-DD95F6287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D9381-BFDC-46DC-B9D6-9D8E3262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1B4C7-6105-4C00-AA27-8CAEB85F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lv-LV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91F9A-BD2C-4636-A382-941CA156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923B8-9EE0-41F7-A893-03EA0A20EBD8}" type="slidenum">
              <a:rPr lang="lv-LV" altLang="en-US"/>
              <a:pPr/>
              <a:t>‹#›</a:t>
            </a:fld>
            <a:endParaRPr lang="lv-LV" altLang="en-US"/>
          </a:p>
        </p:txBody>
      </p:sp>
    </p:spTree>
    <p:extLst>
      <p:ext uri="{BB962C8B-B14F-4D97-AF65-F5344CB8AC3E}">
        <p14:creationId xmlns:p14="http://schemas.microsoft.com/office/powerpoint/2010/main" val="354135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20B93C-2B2B-466B-9974-A0BF7999B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698E1B6-B476-41DC-AF32-A16082F3A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en-US"/>
              <a:t>Click to edit Master text styles</a:t>
            </a:r>
          </a:p>
          <a:p>
            <a:pPr lvl="1"/>
            <a:r>
              <a:rPr lang="lv-LV" altLang="en-US"/>
              <a:t>Second level</a:t>
            </a:r>
          </a:p>
          <a:p>
            <a:pPr lvl="2"/>
            <a:r>
              <a:rPr lang="lv-LV" altLang="en-US"/>
              <a:t>Third level</a:t>
            </a:r>
          </a:p>
          <a:p>
            <a:pPr lvl="3"/>
            <a:r>
              <a:rPr lang="lv-LV" altLang="en-US"/>
              <a:t>Fourth level</a:t>
            </a:r>
          </a:p>
          <a:p>
            <a:pPr lvl="4"/>
            <a:r>
              <a:rPr lang="lv-LV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75B0C6-91D7-4BBC-9D93-2C540725D4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lv-LV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913A53-9230-49E9-B3FB-8D41820A59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lv-LV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A5015F-525D-48B1-BBF9-AB12D2DB9A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FAE2954-BD82-4DA6-9A8B-2DA850C7E5DE}" type="slidenum">
              <a:rPr lang="lv-LV" altLang="en-US"/>
              <a:pPr/>
              <a:t>‹#›</a:t>
            </a:fld>
            <a:endParaRPr lang="lv-LV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F15B2BF-99DE-4C0D-A9B7-0C40198856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lv-LV" altLang="en-US" sz="4400" dirty="0" err="1"/>
              <a:t>Functions</a:t>
            </a:r>
            <a:r>
              <a:rPr lang="lv-LV" altLang="en-US" sz="440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C7370F8-CF7E-4954-B773-F488CE57A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8568952" cy="1143000"/>
          </a:xfrm>
        </p:spPr>
        <p:txBody>
          <a:bodyPr/>
          <a:lstStyle/>
          <a:p>
            <a:r>
              <a:rPr lang="en-US" altLang="en-US" dirty="0"/>
              <a:t>Function definition in C++ language</a:t>
            </a:r>
            <a:endParaRPr lang="lv-LV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0D0E41C-2BF7-414C-BB64-E499AFB398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400675"/>
          </a:xfrm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sz="2400" dirty="0"/>
              <a:t>function</a:t>
            </a:r>
            <a:r>
              <a:rPr lang="lv-LV" altLang="en-US" sz="2400" dirty="0"/>
              <a:t>_t</a:t>
            </a:r>
            <a:r>
              <a:rPr lang="en-US" altLang="en-US" sz="2400" dirty="0" err="1"/>
              <a:t>ype</a:t>
            </a:r>
            <a:r>
              <a:rPr lang="lv-LV" altLang="en-US" sz="2400" dirty="0"/>
              <a:t> </a:t>
            </a:r>
            <a:r>
              <a:rPr lang="lv-LV" altLang="en-US" sz="2400" dirty="0" err="1"/>
              <a:t>fu</a:t>
            </a:r>
            <a:r>
              <a:rPr lang="en-US" altLang="en-US" sz="2400" dirty="0" err="1"/>
              <a:t>nction</a:t>
            </a:r>
            <a:r>
              <a:rPr lang="lv-LV" altLang="en-US" sz="2400" dirty="0"/>
              <a:t>_n</a:t>
            </a:r>
            <a:r>
              <a:rPr lang="en-US" altLang="en-US" sz="2400" dirty="0" err="1"/>
              <a:t>ame</a:t>
            </a:r>
            <a:r>
              <a:rPr lang="lv-LV" altLang="en-US" sz="2400" dirty="0"/>
              <a:t> (</a:t>
            </a:r>
            <a:r>
              <a:rPr lang="en-US" altLang="en-US" sz="2400" dirty="0"/>
              <a:t>f</a:t>
            </a:r>
            <a:r>
              <a:rPr lang="lv-LV" altLang="en-US" sz="2400" dirty="0" err="1"/>
              <a:t>unction</a:t>
            </a:r>
            <a:r>
              <a:rPr lang="en-US" altLang="en-US" sz="2400" dirty="0"/>
              <a:t>_</a:t>
            </a:r>
            <a:r>
              <a:rPr lang="lv-LV" altLang="en-US" sz="2400" dirty="0" err="1"/>
              <a:t>parameters</a:t>
            </a:r>
            <a:r>
              <a:rPr lang="lv-LV" altLang="en-US" sz="2400" dirty="0"/>
              <a:t>) 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lv-LV" altLang="en-US" sz="2400" dirty="0"/>
              <a:t>{ 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lv-LV" altLang="en-US" sz="2400" dirty="0"/>
              <a:t>	</a:t>
            </a:r>
            <a:r>
              <a:rPr lang="en-US" altLang="en-US" sz="2400" dirty="0" err="1"/>
              <a:t>function_body</a:t>
            </a:r>
            <a:r>
              <a:rPr lang="lv-LV" altLang="en-US" sz="2400" dirty="0"/>
              <a:t>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lv-LV" altLang="en-US" sz="2400" dirty="0"/>
              <a:t>	</a:t>
            </a:r>
            <a:r>
              <a:rPr lang="en-US" altLang="en-US" sz="2400" dirty="0" err="1"/>
              <a:t>return_to_function_call_point</a:t>
            </a:r>
            <a:r>
              <a:rPr lang="lv-LV" altLang="en-US" sz="2400" dirty="0"/>
              <a:t>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lv-LV" altLang="en-US" sz="2400" dirty="0"/>
              <a:t> }</a:t>
            </a:r>
          </a:p>
          <a:p>
            <a:pPr marL="0" indent="0">
              <a:lnSpc>
                <a:spcPct val="90000"/>
              </a:lnSpc>
            </a:pPr>
            <a:r>
              <a:rPr lang="lv-LV" altLang="en-US" sz="2400" dirty="0"/>
              <a:t> </a:t>
            </a:r>
            <a:r>
              <a:rPr lang="en-US" altLang="en-US" sz="2400" dirty="0"/>
              <a:t>function</a:t>
            </a:r>
            <a:r>
              <a:rPr lang="lv-LV" altLang="en-US" sz="2400" dirty="0"/>
              <a:t>_t</a:t>
            </a:r>
            <a:r>
              <a:rPr lang="en-US" altLang="en-US" sz="2400" dirty="0" err="1"/>
              <a:t>ype</a:t>
            </a:r>
            <a:r>
              <a:rPr lang="en-US" altLang="en-US" sz="2400" dirty="0"/>
              <a:t> </a:t>
            </a:r>
            <a:r>
              <a:rPr lang="lv-LV" altLang="en-US" sz="2400" dirty="0"/>
              <a:t>— </a:t>
            </a:r>
            <a:r>
              <a:rPr lang="lv-LV" altLang="en-US" sz="2400" dirty="0" err="1"/>
              <a:t>Type</a:t>
            </a:r>
            <a:r>
              <a:rPr lang="lv-LV" altLang="en-US" sz="2400" dirty="0"/>
              <a:t> </a:t>
            </a:r>
            <a:r>
              <a:rPr lang="lv-LV" altLang="en-US" sz="2400" dirty="0" err="1"/>
              <a:t>of</a:t>
            </a:r>
            <a:r>
              <a:rPr lang="lv-LV" altLang="en-US" sz="2400" dirty="0"/>
              <a:t> </a:t>
            </a:r>
            <a:r>
              <a:rPr lang="lv-LV" altLang="en-US" sz="2400" dirty="0" err="1"/>
              <a:t>return</a:t>
            </a:r>
            <a:r>
              <a:rPr lang="lv-LV" altLang="en-US" sz="2400" dirty="0"/>
              <a:t> </a:t>
            </a:r>
            <a:r>
              <a:rPr lang="lv-LV" altLang="en-US" sz="2400" dirty="0" err="1"/>
              <a:t>value</a:t>
            </a:r>
            <a:r>
              <a:rPr lang="lv-LV" altLang="en-US" sz="2400" dirty="0"/>
              <a:t> (</a:t>
            </a:r>
            <a:r>
              <a:rPr lang="lv-LV" altLang="en-US" sz="2400" dirty="0" err="1"/>
              <a:t>void</a:t>
            </a:r>
            <a:r>
              <a:rPr lang="lv-LV" altLang="en-US" sz="2400" dirty="0"/>
              <a:t> — </a:t>
            </a:r>
            <a:r>
              <a:rPr lang="en-US" altLang="en-US" sz="2400" dirty="0"/>
              <a:t>if function does not return anything</a:t>
            </a:r>
            <a:r>
              <a:rPr lang="lv-LV" altLang="en-US" sz="2400" dirty="0"/>
              <a:t>)</a:t>
            </a:r>
          </a:p>
          <a:p>
            <a:pPr marL="0" indent="0">
              <a:lnSpc>
                <a:spcPct val="90000"/>
              </a:lnSpc>
            </a:pPr>
            <a:r>
              <a:rPr lang="lv-LV" altLang="en-US" sz="2400" dirty="0"/>
              <a:t> </a:t>
            </a:r>
            <a:r>
              <a:rPr lang="lv-LV" altLang="en-US" sz="2400" dirty="0" err="1"/>
              <a:t>fu</a:t>
            </a:r>
            <a:r>
              <a:rPr lang="en-US" altLang="en-US" sz="2400" dirty="0" err="1"/>
              <a:t>nction</a:t>
            </a:r>
            <a:r>
              <a:rPr lang="lv-LV" altLang="en-US" sz="2400" dirty="0"/>
              <a:t>_n</a:t>
            </a:r>
            <a:r>
              <a:rPr lang="en-US" altLang="en-US" sz="2400" dirty="0" err="1"/>
              <a:t>ame</a:t>
            </a:r>
            <a:r>
              <a:rPr lang="en-US" altLang="en-US" sz="2400" dirty="0"/>
              <a:t> </a:t>
            </a:r>
            <a:r>
              <a:rPr lang="lv-LV" altLang="en-US" sz="2400" dirty="0"/>
              <a:t>– </a:t>
            </a:r>
            <a:r>
              <a:rPr lang="lv-LV" altLang="en-US" sz="2400" dirty="0" err="1"/>
              <a:t>Identifier</a:t>
            </a:r>
            <a:endParaRPr lang="lv-LV" altLang="en-US" sz="2400" dirty="0"/>
          </a:p>
          <a:p>
            <a:pPr marL="0" indent="0">
              <a:lnSpc>
                <a:spcPct val="90000"/>
              </a:lnSpc>
            </a:pPr>
            <a:r>
              <a:rPr lang="lv-LV" altLang="en-US" sz="2400" dirty="0"/>
              <a:t> </a:t>
            </a:r>
            <a:r>
              <a:rPr lang="en-US" altLang="en-US" sz="2400" dirty="0"/>
              <a:t>f</a:t>
            </a:r>
            <a:r>
              <a:rPr lang="lv-LV" altLang="en-US" sz="2400" dirty="0" err="1"/>
              <a:t>unction</a:t>
            </a:r>
            <a:r>
              <a:rPr lang="en-US" altLang="en-US" sz="2400" dirty="0"/>
              <a:t>_</a:t>
            </a:r>
            <a:r>
              <a:rPr lang="lv-LV" altLang="en-US" sz="2400" dirty="0" err="1"/>
              <a:t>parameters</a:t>
            </a:r>
            <a:endParaRPr lang="lv-LV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empty or </a:t>
            </a:r>
            <a:r>
              <a:rPr lang="lv-LV" altLang="en-US" sz="2000" dirty="0" err="1"/>
              <a:t>void</a:t>
            </a:r>
            <a:endParaRPr lang="lv-LV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list of parameter specifications separated by comma</a:t>
            </a:r>
          </a:p>
          <a:p>
            <a:pPr marL="180975" lvl="1" indent="-180975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/>
              <a:t>return_to_function_call_point</a:t>
            </a:r>
            <a:endParaRPr lang="lv-LV" altLang="en-US" sz="2400" dirty="0"/>
          </a:p>
          <a:p>
            <a:pPr lvl="1">
              <a:lnSpc>
                <a:spcPct val="90000"/>
              </a:lnSpc>
            </a:pPr>
            <a:r>
              <a:rPr lang="lv-LV" altLang="en-US" sz="2000" dirty="0" err="1"/>
              <a:t>return</a:t>
            </a:r>
            <a:r>
              <a:rPr lang="lv-LV" altLang="en-US" sz="2000" dirty="0"/>
              <a:t>; </a:t>
            </a:r>
            <a:r>
              <a:rPr lang="en-US" altLang="en-US" sz="2000" dirty="0"/>
              <a:t>or nothing if the function type is void</a:t>
            </a:r>
            <a:endParaRPr lang="lv-LV" altLang="en-US" sz="2000" dirty="0"/>
          </a:p>
          <a:p>
            <a:pPr lvl="1">
              <a:lnSpc>
                <a:spcPct val="90000"/>
              </a:lnSpc>
            </a:pPr>
            <a:r>
              <a:rPr lang="lv-LV" altLang="en-US" sz="2000" dirty="0" err="1"/>
              <a:t>return</a:t>
            </a:r>
            <a:r>
              <a:rPr lang="lv-LV" altLang="en-US" sz="2000" dirty="0"/>
              <a:t> </a:t>
            </a:r>
            <a:r>
              <a:rPr lang="en-US" altLang="en-US" sz="2000" dirty="0"/>
              <a:t>value</a:t>
            </a:r>
            <a:r>
              <a:rPr lang="lv-LV" altLang="en-US" sz="2000" dirty="0"/>
              <a:t>;</a:t>
            </a:r>
          </a:p>
          <a:p>
            <a:pPr marL="0" indent="0">
              <a:lnSpc>
                <a:spcPct val="90000"/>
              </a:lnSpc>
            </a:pPr>
            <a:endParaRPr lang="lv-LV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54C6836-2080-4C09-A566-6A5D766B4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765175"/>
          </a:xfrm>
        </p:spPr>
        <p:txBody>
          <a:bodyPr/>
          <a:lstStyle/>
          <a:p>
            <a:r>
              <a:rPr lang="en-US" altLang="en-US" dirty="0"/>
              <a:t>F</a:t>
            </a:r>
            <a:r>
              <a:rPr lang="lv-LV" altLang="en-US" dirty="0" err="1"/>
              <a:t>unction</a:t>
            </a:r>
            <a:r>
              <a:rPr lang="lv-LV" altLang="en-US" dirty="0"/>
              <a:t> </a:t>
            </a:r>
            <a:r>
              <a:rPr lang="lv-LV" altLang="en-US" dirty="0" err="1"/>
              <a:t>example</a:t>
            </a:r>
            <a:r>
              <a:rPr lang="en-US" altLang="en-US" dirty="0"/>
              <a:t>s</a:t>
            </a:r>
            <a:endParaRPr lang="lv-LV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B4111C-693C-4048-A007-98FD7BFCF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73113"/>
            <a:ext cx="8229600" cy="6021387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int Min(int a,int b)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if (a&lt;b) return a;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else return b;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</a:t>
            </a:r>
            <a:endParaRPr lang="en-US" altLang="en-US" sz="1600">
              <a:latin typeface="Courier New" panose="02070309020205020404" pitchFamily="49" charset="0"/>
            </a:endParaRP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double Cube(double a)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return a*a*a;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</a:t>
            </a:r>
            <a:endParaRPr lang="en-US" altLang="en-US" sz="1600">
              <a:latin typeface="Courier New" panose="02070309020205020404" pitchFamily="49" charset="0"/>
            </a:endParaRP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int main()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{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cout &lt;&lt; Min(5,8)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cout &lt;&lt; "Input number: "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double x;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cin &gt;&gt; x;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double rez = Cube(x);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cout &lt;&lt; rez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system("pause");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    return 0;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1600">
                <a:latin typeface="Courier New" panose="02070309020205020404" pitchFamily="49" charset="0"/>
              </a:rPr>
              <a:t>}</a:t>
            </a:r>
            <a:endParaRPr lang="lv-LV" altLang="en-US" sz="16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50C444C-F6AD-45D1-BBCB-4CBFB41EF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4AA00C5-1B97-41E1-AE0C-93BA3BAC1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5472113"/>
          </a:xfrm>
        </p:spPr>
        <p:txBody>
          <a:bodyPr/>
          <a:lstStyle/>
          <a:p>
            <a:pPr marL="0" indent="0">
              <a:buFontTx/>
              <a:buAutoNum type="arabicPeriod"/>
            </a:pPr>
            <a:r>
              <a:rPr lang="lv-LV" altLang="en-US" sz="2600" dirty="0" err="1"/>
              <a:t>Write</a:t>
            </a:r>
            <a:r>
              <a:rPr lang="lv-LV" altLang="en-US" sz="2600" dirty="0"/>
              <a:t> a </a:t>
            </a:r>
            <a:r>
              <a:rPr lang="lv-LV" altLang="en-US" sz="2600" dirty="0" err="1"/>
              <a:t>function</a:t>
            </a:r>
            <a:r>
              <a:rPr lang="lv-LV" altLang="en-US" sz="2600" dirty="0"/>
              <a:t> </a:t>
            </a:r>
            <a:endParaRPr lang="en-US" altLang="en-US" sz="2600" dirty="0"/>
          </a:p>
          <a:p>
            <a:pPr marL="0" indent="0">
              <a:buNone/>
            </a:pPr>
            <a:r>
              <a:rPr lang="lv-LV" altLang="en-US" sz="2600" dirty="0" err="1">
                <a:latin typeface="Courier New" panose="02070309020205020404" pitchFamily="49" charset="0"/>
              </a:rPr>
              <a:t>double</a:t>
            </a:r>
            <a:r>
              <a:rPr lang="lv-LV" altLang="en-US" sz="2600" dirty="0">
                <a:latin typeface="Courier New" panose="02070309020205020404" pitchFamily="49" charset="0"/>
              </a:rPr>
              <a:t> </a:t>
            </a:r>
            <a:r>
              <a:rPr lang="lv-LV" altLang="en-US" sz="2600" dirty="0" err="1">
                <a:latin typeface="Courier New" panose="02070309020205020404" pitchFamily="49" charset="0"/>
              </a:rPr>
              <a:t>Square</a:t>
            </a:r>
            <a:r>
              <a:rPr lang="lv-LV" altLang="en-US" sz="2600" dirty="0">
                <a:latin typeface="Courier New" panose="02070309020205020404" pitchFamily="49" charset="0"/>
              </a:rPr>
              <a:t>(</a:t>
            </a:r>
            <a:r>
              <a:rPr lang="lv-LV" altLang="en-US" sz="2600" dirty="0" err="1">
                <a:latin typeface="Courier New" panose="02070309020205020404" pitchFamily="49" charset="0"/>
              </a:rPr>
              <a:t>double</a:t>
            </a:r>
            <a:r>
              <a:rPr lang="lv-LV" altLang="en-US" sz="2600" dirty="0">
                <a:latin typeface="Courier New" panose="02070309020205020404" pitchFamily="49" charset="0"/>
              </a:rPr>
              <a:t> x)</a:t>
            </a:r>
            <a:r>
              <a:rPr lang="lv-LV" altLang="en-US" sz="2600" dirty="0"/>
              <a:t> </a:t>
            </a:r>
          </a:p>
          <a:p>
            <a:pPr marL="0" indent="0">
              <a:buFontTx/>
              <a:buNone/>
            </a:pPr>
            <a:r>
              <a:rPr lang="en-US" altLang="en-US" sz="2600" dirty="0"/>
              <a:t>which calculates the square of a number</a:t>
            </a:r>
            <a:r>
              <a:rPr lang="lv-LV" altLang="en-US" sz="2600" dirty="0"/>
              <a:t>.</a:t>
            </a:r>
          </a:p>
          <a:p>
            <a:pPr marL="0" indent="0">
              <a:buFontTx/>
              <a:buNone/>
            </a:pPr>
            <a:endParaRPr lang="lv-LV" altLang="en-US" sz="2600" dirty="0"/>
          </a:p>
          <a:p>
            <a:pPr marL="0" indent="0">
              <a:buFontTx/>
              <a:buAutoNum type="arabicPeriod" startAt="2"/>
            </a:pPr>
            <a:r>
              <a:rPr lang="en-US" altLang="en-US" sz="2600" dirty="0"/>
              <a:t> Use it to write another function </a:t>
            </a:r>
          </a:p>
          <a:p>
            <a:pPr marL="0" indent="0">
              <a:buNone/>
            </a:pPr>
            <a:r>
              <a:rPr lang="fr-FR" altLang="en-US" sz="1900" dirty="0">
                <a:latin typeface="Courier New" panose="02070309020205020404" pitchFamily="49" charset="0"/>
              </a:rPr>
              <a:t>double </a:t>
            </a:r>
            <a:r>
              <a:rPr lang="fr-FR" altLang="en-US" sz="1900" dirty="0" err="1">
                <a:latin typeface="Courier New" panose="02070309020205020404" pitchFamily="49" charset="0"/>
              </a:rPr>
              <a:t>Dist</a:t>
            </a:r>
            <a:r>
              <a:rPr lang="fr-FR" altLang="en-US" sz="1900" dirty="0">
                <a:latin typeface="Courier New" panose="02070309020205020404" pitchFamily="49" charset="0"/>
              </a:rPr>
              <a:t>(double x1, double y1, double x2, double y2)</a:t>
            </a:r>
            <a:endParaRPr lang="lv-LV" altLang="en-US" sz="1900" dirty="0">
              <a:latin typeface="Courier New" panose="02070309020205020404" pitchFamily="49" charset="0"/>
            </a:endParaRPr>
          </a:p>
          <a:p>
            <a:pPr marL="0" indent="0">
              <a:buFontTx/>
              <a:buNone/>
            </a:pPr>
            <a:r>
              <a:rPr lang="en-US" altLang="en-US" sz="2600" dirty="0"/>
              <a:t>That calculates the distance between two points (x1, y1) and (x2, y2) on flat area</a:t>
            </a:r>
            <a:r>
              <a:rPr lang="lv-LV" altLang="en-US" sz="2600" dirty="0"/>
              <a:t>. </a:t>
            </a:r>
            <a:r>
              <a:rPr lang="en-US" altLang="en-US" sz="2600" dirty="0"/>
              <a:t>Use the square root function </a:t>
            </a:r>
            <a:r>
              <a:rPr lang="lv-LV" altLang="en-US" sz="2600" dirty="0"/>
              <a:t> </a:t>
            </a:r>
            <a:r>
              <a:rPr lang="lv-LV" altLang="en-US" sz="2600" b="1" i="1" dirty="0" err="1"/>
              <a:t>sqrt</a:t>
            </a:r>
            <a:r>
              <a:rPr lang="lv-LV" altLang="en-US" sz="2600" dirty="0"/>
              <a:t> </a:t>
            </a:r>
            <a:r>
              <a:rPr lang="en-US" altLang="en-US" sz="2600" dirty="0"/>
              <a:t>from </a:t>
            </a:r>
            <a:r>
              <a:rPr lang="lv-LV" altLang="en-US" sz="2600" b="1" i="1" dirty="0" err="1"/>
              <a:t>cmath</a:t>
            </a:r>
            <a:r>
              <a:rPr lang="en-US" altLang="en-US" sz="2600" b="1" i="1" dirty="0"/>
              <a:t> </a:t>
            </a:r>
            <a:r>
              <a:rPr lang="en-US" altLang="en-US" sz="2600" dirty="0"/>
              <a:t>library</a:t>
            </a:r>
            <a:r>
              <a:rPr lang="lv-LV" altLang="en-US" sz="2600" dirty="0"/>
              <a:t>.</a:t>
            </a:r>
          </a:p>
          <a:p>
            <a:pPr marL="0" indent="0">
              <a:buFontTx/>
              <a:buNone/>
            </a:pPr>
            <a:r>
              <a:rPr lang="en-US" altLang="en-US" sz="2600" dirty="0"/>
              <a:t>Example</a:t>
            </a:r>
            <a:r>
              <a:rPr lang="lv-LV" altLang="en-US" sz="2600" dirty="0"/>
              <a:t>:</a:t>
            </a:r>
          </a:p>
          <a:p>
            <a:pPr marL="0" indent="0">
              <a:buFontTx/>
              <a:buNone/>
            </a:pPr>
            <a:r>
              <a:rPr lang="lv-LV" altLang="en-US" sz="2600" dirty="0"/>
              <a:t>(3,0)(0,4)</a:t>
            </a:r>
          </a:p>
          <a:p>
            <a:pPr marL="0" indent="0">
              <a:buFontTx/>
              <a:buNone/>
            </a:pPr>
            <a:r>
              <a:rPr lang="lv-LV" altLang="en-US" sz="2600" dirty="0"/>
              <a:t>L = 5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723F3D6A-E9CC-4AF3-B58C-3D2BAB8E7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5187950"/>
            <a:ext cx="12954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52EB830-B6A2-47F5-A61E-262228D1A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CD12F79-F735-4880-9BED-639C176A8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762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Analysis of the 2nd task
</a:t>
            </a:r>
            <a:endParaRPr lang="lv-LV" altLang="en-US" dirty="0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0B366470-B077-4E91-AC26-ABB87FF16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7129462" cy="490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4988" indent="-534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572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795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10185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6241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0813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5385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957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529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#</a:t>
            </a:r>
            <a:r>
              <a:rPr lang="lv-LV" altLang="en-US" sz="1500" dirty="0" err="1">
                <a:latin typeface="Courier New" panose="02070309020205020404" pitchFamily="49" charset="0"/>
              </a:rPr>
              <a:t>include</a:t>
            </a:r>
            <a:r>
              <a:rPr lang="lv-LV" altLang="en-US" sz="1500" dirty="0">
                <a:latin typeface="Courier New" panose="02070309020205020404" pitchFamily="49" charset="0"/>
              </a:rPr>
              <a:t> &lt;</a:t>
            </a:r>
            <a:r>
              <a:rPr lang="lv-LV" altLang="en-US" sz="1500" dirty="0" err="1">
                <a:latin typeface="Courier New" panose="02070309020205020404" pitchFamily="49" charset="0"/>
              </a:rPr>
              <a:t>iostream</a:t>
            </a:r>
            <a:r>
              <a:rPr lang="lv-LV" altLang="en-US" sz="1500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#</a:t>
            </a:r>
            <a:r>
              <a:rPr lang="lv-LV" altLang="en-US" sz="1500" dirty="0" err="1">
                <a:latin typeface="Courier New" panose="02070309020205020404" pitchFamily="49" charset="0"/>
              </a:rPr>
              <a:t>include</a:t>
            </a:r>
            <a:r>
              <a:rPr lang="lv-LV" altLang="en-US" sz="1500" dirty="0">
                <a:latin typeface="Courier New" panose="02070309020205020404" pitchFamily="49" charset="0"/>
              </a:rPr>
              <a:t> &lt;</a:t>
            </a:r>
            <a:r>
              <a:rPr lang="lv-LV" altLang="en-US" sz="1500" dirty="0" err="1">
                <a:latin typeface="Courier New" panose="02070309020205020404" pitchFamily="49" charset="0"/>
              </a:rPr>
              <a:t>cmath</a:t>
            </a:r>
            <a:r>
              <a:rPr lang="lv-LV" altLang="en-US" sz="1500" dirty="0">
                <a:latin typeface="Courier New" panose="02070309020205020404" pitchFamily="49" charset="0"/>
              </a:rPr>
              <a:t>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 err="1">
                <a:latin typeface="Courier New" panose="02070309020205020404" pitchFamily="49" charset="0"/>
              </a:rPr>
              <a:t>using</a:t>
            </a: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  <a:r>
              <a:rPr lang="lv-LV" altLang="en-US" sz="1500" dirty="0" err="1">
                <a:latin typeface="Courier New" panose="02070309020205020404" pitchFamily="49" charset="0"/>
              </a:rPr>
              <a:t>namespace</a:t>
            </a: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  <a:r>
              <a:rPr lang="lv-LV" altLang="en-US" sz="1500" dirty="0" err="1">
                <a:latin typeface="Courier New" panose="02070309020205020404" pitchFamily="49" charset="0"/>
              </a:rPr>
              <a:t>std</a:t>
            </a:r>
            <a:r>
              <a:rPr lang="lv-LV" altLang="en-US" sz="15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  <a:r>
              <a:rPr lang="lv-LV" altLang="en-US" sz="1500" dirty="0" err="1">
                <a:latin typeface="Courier New" panose="02070309020205020404" pitchFamily="49" charset="0"/>
              </a:rPr>
              <a:t>Square</a:t>
            </a:r>
            <a:r>
              <a:rPr lang="lv-LV" altLang="en-US" sz="1500" dirty="0">
                <a:latin typeface="Courier New" panose="02070309020205020404" pitchFamily="49" charset="0"/>
              </a:rPr>
              <a:t>(</a:t>
            </a: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x)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   </a:t>
            </a:r>
            <a:r>
              <a:rPr lang="lv-LV" altLang="en-US" sz="1500" dirty="0" err="1">
                <a:latin typeface="Courier New" panose="02070309020205020404" pitchFamily="49" charset="0"/>
              </a:rPr>
              <a:t>return</a:t>
            </a:r>
            <a:r>
              <a:rPr lang="lv-LV" altLang="en-US" sz="1500" dirty="0">
                <a:latin typeface="Courier New" panose="02070309020205020404" pitchFamily="49" charset="0"/>
              </a:rPr>
              <a:t> x*x;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  <a:r>
              <a:rPr lang="lv-LV" altLang="en-US" sz="1500" dirty="0" err="1">
                <a:latin typeface="Courier New" panose="02070309020205020404" pitchFamily="49" charset="0"/>
              </a:rPr>
              <a:t>Dist</a:t>
            </a:r>
            <a:r>
              <a:rPr lang="lv-LV" altLang="en-US" sz="1500" dirty="0">
                <a:latin typeface="Courier New" panose="02070309020205020404" pitchFamily="49" charset="0"/>
              </a:rPr>
              <a:t>(</a:t>
            </a: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x1, </a:t>
            </a: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y1, </a:t>
            </a: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x2, </a:t>
            </a:r>
            <a:r>
              <a:rPr lang="lv-LV" altLang="en-US" sz="1500" dirty="0" err="1">
                <a:latin typeface="Courier New" panose="02070309020205020404" pitchFamily="49" charset="0"/>
              </a:rPr>
              <a:t>double</a:t>
            </a:r>
            <a:r>
              <a:rPr lang="lv-LV" altLang="en-US" sz="1500" dirty="0">
                <a:latin typeface="Courier New" panose="02070309020205020404" pitchFamily="49" charset="0"/>
              </a:rPr>
              <a:t> y2)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   </a:t>
            </a:r>
            <a:r>
              <a:rPr lang="lv-LV" altLang="en-US" sz="1500" dirty="0" err="1">
                <a:latin typeface="Courier New" panose="02070309020205020404" pitchFamily="49" charset="0"/>
              </a:rPr>
              <a:t>return</a:t>
            </a: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  <a:r>
              <a:rPr lang="lv-LV" altLang="en-US" sz="1500" dirty="0" err="1">
                <a:latin typeface="Courier New" panose="02070309020205020404" pitchFamily="49" charset="0"/>
              </a:rPr>
              <a:t>sqrt</a:t>
            </a:r>
            <a:r>
              <a:rPr lang="lv-LV" altLang="en-US" sz="1500" dirty="0">
                <a:latin typeface="Courier New" panose="02070309020205020404" pitchFamily="49" charset="0"/>
              </a:rPr>
              <a:t>( </a:t>
            </a:r>
            <a:r>
              <a:rPr lang="lv-LV" altLang="en-US" sz="1500" dirty="0" err="1">
                <a:latin typeface="Courier New" panose="02070309020205020404" pitchFamily="49" charset="0"/>
              </a:rPr>
              <a:t>Square</a:t>
            </a:r>
            <a:r>
              <a:rPr lang="lv-LV" altLang="en-US" sz="1500" dirty="0">
                <a:latin typeface="Courier New" panose="02070309020205020404" pitchFamily="49" charset="0"/>
              </a:rPr>
              <a:t>(x1-x2) + </a:t>
            </a:r>
            <a:r>
              <a:rPr lang="lv-LV" altLang="en-US" sz="1500" dirty="0" err="1">
                <a:latin typeface="Courier New" panose="02070309020205020404" pitchFamily="49" charset="0"/>
              </a:rPr>
              <a:t>Square</a:t>
            </a:r>
            <a:r>
              <a:rPr lang="lv-LV" altLang="en-US" sz="1500" dirty="0">
                <a:latin typeface="Courier New" panose="02070309020205020404" pitchFamily="49" charset="0"/>
              </a:rPr>
              <a:t>(y1-y2) 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 err="1">
                <a:latin typeface="Courier New" panose="02070309020205020404" pitchFamily="49" charset="0"/>
              </a:rPr>
              <a:t>int</a:t>
            </a:r>
            <a:r>
              <a:rPr lang="lv-LV" altLang="en-US" sz="1500" dirty="0">
                <a:latin typeface="Courier New" panose="02070309020205020404" pitchFamily="49" charset="0"/>
              </a:rPr>
              <a:t> </a:t>
            </a:r>
            <a:r>
              <a:rPr lang="lv-LV" altLang="en-US" sz="1500" dirty="0" err="1">
                <a:latin typeface="Courier New" panose="02070309020205020404" pitchFamily="49" charset="0"/>
              </a:rPr>
              <a:t>main</a:t>
            </a:r>
            <a:r>
              <a:rPr lang="lv-LV" altLang="en-US" sz="1500" dirty="0">
                <a:latin typeface="Courier New" panose="02070309020205020404" pitchFamily="49" charset="0"/>
              </a:rPr>
              <a:t>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   </a:t>
            </a:r>
            <a:r>
              <a:rPr lang="lv-LV" altLang="en-US" sz="1500" dirty="0" err="1">
                <a:latin typeface="Courier New" panose="02070309020205020404" pitchFamily="49" charset="0"/>
              </a:rPr>
              <a:t>cout</a:t>
            </a:r>
            <a:r>
              <a:rPr lang="lv-LV" altLang="en-US" sz="1500" dirty="0">
                <a:latin typeface="Courier New" panose="02070309020205020404" pitchFamily="49" charset="0"/>
              </a:rPr>
              <a:t> &lt;&lt; </a:t>
            </a:r>
            <a:r>
              <a:rPr lang="lv-LV" altLang="en-US" sz="1500" dirty="0" err="1">
                <a:latin typeface="Courier New" panose="02070309020205020404" pitchFamily="49" charset="0"/>
              </a:rPr>
              <a:t>Dist</a:t>
            </a:r>
            <a:r>
              <a:rPr lang="lv-LV" altLang="en-US" sz="1500" dirty="0">
                <a:latin typeface="Courier New" panose="02070309020205020404" pitchFamily="49" charset="0"/>
              </a:rPr>
              <a:t>(3,0,0,4) &lt;&lt; </a:t>
            </a:r>
            <a:r>
              <a:rPr lang="lv-LV" altLang="en-US" sz="1500" dirty="0" err="1">
                <a:latin typeface="Courier New" panose="02070309020205020404" pitchFamily="49" charset="0"/>
              </a:rPr>
              <a:t>endl</a:t>
            </a:r>
            <a:r>
              <a:rPr lang="lv-LV" altLang="en-US" sz="15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   </a:t>
            </a:r>
            <a:r>
              <a:rPr lang="lv-LV" altLang="en-US" sz="1500" dirty="0" err="1">
                <a:latin typeface="Courier New" panose="02070309020205020404" pitchFamily="49" charset="0"/>
              </a:rPr>
              <a:t>system</a:t>
            </a:r>
            <a:r>
              <a:rPr lang="lv-LV" altLang="en-US" sz="1500" dirty="0">
                <a:latin typeface="Courier New" panose="02070309020205020404" pitchFamily="49" charset="0"/>
              </a:rPr>
              <a:t>("</a:t>
            </a:r>
            <a:r>
              <a:rPr lang="lv-LV" altLang="en-US" sz="1500" dirty="0" err="1">
                <a:latin typeface="Courier New" panose="02070309020205020404" pitchFamily="49" charset="0"/>
              </a:rPr>
              <a:t>pause</a:t>
            </a:r>
            <a:r>
              <a:rPr lang="lv-LV" altLang="en-US" sz="1500" dirty="0">
                <a:latin typeface="Courier New" panose="02070309020205020404" pitchFamily="49" charset="0"/>
              </a:rPr>
              <a:t>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    </a:t>
            </a:r>
            <a:r>
              <a:rPr lang="lv-LV" altLang="en-US" sz="1500" dirty="0" err="1">
                <a:latin typeface="Courier New" panose="02070309020205020404" pitchFamily="49" charset="0"/>
              </a:rPr>
              <a:t>return</a:t>
            </a:r>
            <a:r>
              <a:rPr lang="lv-LV" altLang="en-US" sz="1500" dirty="0">
                <a:latin typeface="Courier New" panose="02070309020205020404" pitchFamily="49" charset="0"/>
              </a:rPr>
              <a:t>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5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DF5CAF66-4979-48B3-A1EC-B234D9430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1844675"/>
            <a:ext cx="190770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82563" indent="-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Functions may call each other.
Called function need to be described at first </a:t>
            </a:r>
            <a:r>
              <a:rPr lang="lv-LV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dirty="0">
                <a:latin typeface="Times New Roman" panose="02020603050405020304" pitchFamily="18" charset="0"/>
              </a:rPr>
              <a:t>if you change the function definition order, the compiler will show an error</a:t>
            </a:r>
            <a:r>
              <a:rPr lang="lv-LV" altLang="en-US" sz="2000" dirty="0">
                <a:latin typeface="Times New Roman" panose="02020603050405020304" pitchFamily="18" charset="0"/>
              </a:rPr>
              <a:t>!!!).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600A734-8E4A-40EF-9E23-8AA022FF7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7" y="74910"/>
            <a:ext cx="8229600" cy="1143000"/>
          </a:xfrm>
        </p:spPr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37436B1-01D6-41EC-AB6D-12468B131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077913"/>
            <a:ext cx="8229600" cy="5762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Analysis of the 2nd task </a:t>
            </a:r>
            <a:r>
              <a:rPr lang="lv-LV" altLang="en-US" dirty="0"/>
              <a:t>– </a:t>
            </a:r>
            <a:r>
              <a:rPr lang="lv-LV" altLang="en-US" dirty="0" err="1"/>
              <a:t>function</a:t>
            </a:r>
            <a:r>
              <a:rPr lang="en-US" altLang="en-US" dirty="0"/>
              <a:t> p</a:t>
            </a:r>
            <a:r>
              <a:rPr lang="lv-LV" altLang="en-US" dirty="0" err="1"/>
              <a:t>rototype</a:t>
            </a:r>
            <a:r>
              <a:rPr lang="en-US" altLang="en-US" dirty="0"/>
              <a:t>s</a:t>
            </a:r>
            <a:r>
              <a:rPr lang="lv-LV" altLang="en-US" dirty="0"/>
              <a:t>.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666C72F3-AAB4-4061-9A5F-C4F44560C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70038"/>
            <a:ext cx="7129462" cy="520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71563" indent="-719138" defTabSz="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776413" indent="-342900" defTabSz="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298700" indent="-342900" defTabSz="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820988" indent="-342900" defTabSz="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343275" indent="-342900" defTabSz="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800475" indent="-342900" defTabSz="179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257675" indent="-342900" defTabSz="179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714875" indent="-342900" defTabSz="179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172075" indent="-342900" defTabSz="1793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#include &lt;iostream&gt;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#include &lt;cmath&gt;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using namespace std;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double Square(double);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double Dist(double, double, double, double);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double Dist(double x1, double y1, double x2, double y2)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   return sqrt( Square(x1-x2) + Square(y1-y2) 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double Square(double x)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   return x*x;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   cout &lt;&lt; Dist(3,0,0,4)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317" name="Text Box 5">
            <a:extLst>
              <a:ext uri="{FF2B5EF4-FFF2-40B4-BE49-F238E27FC236}">
                <a16:creationId xmlns:a16="http://schemas.microsoft.com/office/drawing/2014/main" id="{558BBB26-5667-446C-B66E-71C05C18C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1844675"/>
            <a:ext cx="190770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82563" indent="-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If you insert prototypes at the beginning, functions can be described in any order. </a:t>
            </a:r>
          </a:p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The compiler will know that function exists and will be described later.</a:t>
            </a:r>
            <a:endParaRPr lang="lv-LV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3BE4A28-B49A-4796-8484-076DBA9EB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CA2DF31-F804-46E6-AE42-26AB18DB9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AutoNum type="arabicPeriod" startAt="3"/>
            </a:pPr>
            <a:r>
              <a:rPr lang="en-US" altLang="en-US" sz="3600" dirty="0"/>
              <a:t>Write the function that</a:t>
            </a:r>
            <a:r>
              <a:rPr lang="ru-RU" altLang="en-US" sz="3600" dirty="0"/>
              <a:t> </a:t>
            </a:r>
            <a:r>
              <a:rPr lang="en-US" altLang="en-US" sz="3600" dirty="0"/>
              <a:t>swap two variable values.</a:t>
            </a:r>
            <a:endParaRPr lang="lv-LV" alt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B1DEC28-1DC0-46C2-AD7E-AE40A5F8F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7285BB5-0C3F-4E3D-AE2F-835DEB148A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762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Analysis of the 3rd task</a:t>
            </a:r>
            <a:endParaRPr lang="lv-LV" altLang="en-US" dirty="0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CEB15F09-DB93-4789-AB38-56EE92E6E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7129462" cy="4257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71563" indent="-536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6843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20662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72891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2512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7084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1656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6228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0800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void swap(int a, int b)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int temp = 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a =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b = temp;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int main()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int m=5, n=8;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swap(m,n);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cout &lt;&lt; "m: " &lt;&lt; m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cout &lt;&lt; "n: " &lt;&lt; n &lt;&lt; endl;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system("pause");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return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590FA6D5-AA18-4FB6-AE4F-DA6DF471B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165850"/>
            <a:ext cx="7777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indent="-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Times New Roman" panose="02020603050405020304" pitchFamily="18" charset="0"/>
              </a:rPr>
              <a:t>WHY</a:t>
            </a:r>
            <a:r>
              <a:rPr lang="lv-LV" altLang="en-US" sz="2000" dirty="0">
                <a:latin typeface="Times New Roman" panose="02020603050405020304" pitchFamily="18" charset="0"/>
              </a:rPr>
              <a:t>???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E1578F48-74E9-4785-AE3E-F0BCB5E53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5300663"/>
            <a:ext cx="341947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7278920-ED61-456A-9E59-BE9A8873C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7020C11-606A-4715-937B-6BB1F0351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76262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en-US" dirty="0"/>
              <a:t>Analysis of the 3rd task</a:t>
            </a:r>
            <a:endParaRPr lang="lv-LV" altLang="en-US" dirty="0"/>
          </a:p>
          <a:p>
            <a:pPr>
              <a:lnSpc>
                <a:spcPct val="90000"/>
              </a:lnSpc>
              <a:buFontTx/>
              <a:buNone/>
            </a:pPr>
            <a:endParaRPr lang="lv-LV" altLang="en-US" dirty="0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321DAF5E-EFE6-4D05-8EF4-8E11F8D33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8785225" cy="41857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162050" indent="-7191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8606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3829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390525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44275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8847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53419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7991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62563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void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swap</a:t>
            </a:r>
            <a:r>
              <a:rPr lang="lv-LV" altLang="en-US" sz="1400" dirty="0">
                <a:latin typeface="Courier New" panose="02070309020205020404" pitchFamily="49" charset="0"/>
              </a:rPr>
              <a:t>(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a,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b)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"a </a:t>
            </a:r>
            <a:r>
              <a:rPr lang="en-US" altLang="en-US" sz="1400" dirty="0">
                <a:latin typeface="Courier New" panose="02070309020205020404" pitchFamily="49" charset="0"/>
              </a:rPr>
              <a:t>address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&amp;a &lt;&lt; "   b </a:t>
            </a:r>
            <a:r>
              <a:rPr lang="en-US" altLang="en-US" sz="1400" dirty="0">
                <a:latin typeface="Courier New" panose="02070309020205020404" pitchFamily="49" charset="0"/>
              </a:rPr>
              <a:t>address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&amp;b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temp = 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a =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b = temp;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main</a:t>
            </a:r>
            <a:r>
              <a:rPr lang="lv-LV" altLang="en-US" sz="1400" dirty="0">
                <a:latin typeface="Courier New" panose="02070309020205020404" pitchFamily="49" charset="0"/>
              </a:rPr>
              <a:t>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m=5, n=8;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"m </a:t>
            </a:r>
            <a:r>
              <a:rPr lang="en-US" altLang="en-US" sz="1400" dirty="0">
                <a:latin typeface="Courier New" panose="02070309020205020404" pitchFamily="49" charset="0"/>
              </a:rPr>
              <a:t>address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&amp;m &lt;&lt; "   n </a:t>
            </a:r>
            <a:r>
              <a:rPr lang="en-US" altLang="en-US" sz="1400" dirty="0">
                <a:latin typeface="Courier New" panose="02070309020205020404" pitchFamily="49" charset="0"/>
              </a:rPr>
              <a:t>address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&amp;n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swap</a:t>
            </a:r>
            <a:r>
              <a:rPr lang="lv-LV" altLang="en-US" sz="1400" dirty="0">
                <a:latin typeface="Courier New" panose="02070309020205020404" pitchFamily="49" charset="0"/>
              </a:rPr>
              <a:t>(</a:t>
            </a:r>
            <a:r>
              <a:rPr lang="lv-LV" altLang="en-US" sz="1400" dirty="0" err="1">
                <a:latin typeface="Courier New" panose="02070309020205020404" pitchFamily="49" charset="0"/>
              </a:rPr>
              <a:t>m,n</a:t>
            </a:r>
            <a:r>
              <a:rPr lang="lv-LV" altLang="en-US" sz="1400" dirty="0">
                <a:latin typeface="Courier New" panose="02070309020205020404" pitchFamily="49" charset="0"/>
              </a:rPr>
              <a:t>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"m: " &lt;&lt; m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"n: " &lt;&lt; n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system</a:t>
            </a:r>
            <a:r>
              <a:rPr lang="lv-LV" altLang="en-US" sz="1400" dirty="0">
                <a:latin typeface="Courier New" panose="02070309020205020404" pitchFamily="49" charset="0"/>
              </a:rPr>
              <a:t>("</a:t>
            </a:r>
            <a:r>
              <a:rPr lang="lv-LV" altLang="en-US" sz="1400" dirty="0" err="1">
                <a:latin typeface="Courier New" panose="02070309020205020404" pitchFamily="49" charset="0"/>
              </a:rPr>
              <a:t>pause</a:t>
            </a:r>
            <a:r>
              <a:rPr lang="lv-LV" altLang="en-US" sz="1400" dirty="0">
                <a:latin typeface="Courier New" panose="02070309020205020404" pitchFamily="49" charset="0"/>
              </a:rPr>
              <a:t>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return</a:t>
            </a:r>
            <a:r>
              <a:rPr lang="lv-LV" altLang="en-US" sz="1400" dirty="0">
                <a:latin typeface="Courier New" panose="02070309020205020404" pitchFamily="49" charset="0"/>
              </a:rPr>
              <a:t>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37C6FDE4-254F-4026-BC56-A0D8AF7B7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949950"/>
            <a:ext cx="77771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indent="-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Because it is different variables!
By taking parameters functions make copies and work with them</a:t>
            </a:r>
            <a:r>
              <a:rPr lang="lv-LV" altLang="en-US" sz="20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17416" name="Picture 8">
            <a:extLst>
              <a:ext uri="{FF2B5EF4-FFF2-40B4-BE49-F238E27FC236}">
                <a16:creationId xmlns:a16="http://schemas.microsoft.com/office/drawing/2014/main" id="{07697368-B17B-4903-8355-0B383ECA6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4868863"/>
            <a:ext cx="341947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F47B916-AD65-4E76-B4FB-FE106A226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/>
              <a:t>References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52E50D7-180F-48C4-AC4B-53A5EC4B1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700213"/>
            <a:ext cx="8569325" cy="4525962"/>
          </a:xfrm>
        </p:spPr>
        <p:txBody>
          <a:bodyPr/>
          <a:lstStyle/>
          <a:p>
            <a:r>
              <a:rPr lang="en-US" altLang="en-US" dirty="0"/>
              <a:t>Reference – a synonym for another object (another name of an existing object)</a:t>
            </a:r>
            <a:r>
              <a:rPr lang="lv-LV" altLang="en-US" dirty="0"/>
              <a:t>.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lv-LV" altLang="en-US" dirty="0" err="1"/>
              <a:t>Type</a:t>
            </a:r>
            <a:r>
              <a:rPr lang="lv-LV" altLang="en-US" dirty="0"/>
              <a:t> &amp;</a:t>
            </a:r>
            <a:r>
              <a:rPr lang="en-US" altLang="en-US" dirty="0"/>
              <a:t>reference</a:t>
            </a:r>
            <a:r>
              <a:rPr lang="lv-LV" altLang="en-US" dirty="0"/>
              <a:t>_</a:t>
            </a:r>
            <a:r>
              <a:rPr lang="en-US" altLang="en-US" dirty="0"/>
              <a:t>name</a:t>
            </a:r>
            <a:r>
              <a:rPr lang="lv-LV" altLang="en-US" dirty="0"/>
              <a:t> = </a:t>
            </a:r>
            <a:r>
              <a:rPr lang="en-US" altLang="en-US" dirty="0"/>
              <a:t>initializer</a:t>
            </a:r>
            <a:r>
              <a:rPr lang="lv-LV" altLang="en-US" dirty="0"/>
              <a:t>;</a:t>
            </a:r>
          </a:p>
          <a:p>
            <a:r>
              <a:rPr lang="en-US" altLang="en-US" dirty="0"/>
              <a:t>The initializer can only be an object what already exists in memory</a:t>
            </a:r>
            <a:r>
              <a:rPr lang="lv-LV" altLang="en-US" dirty="0"/>
              <a:t>.</a:t>
            </a:r>
          </a:p>
          <a:p>
            <a:r>
              <a:rPr lang="en-US" altLang="en-US" dirty="0"/>
              <a:t>Functionally reference works as a regular variable</a:t>
            </a:r>
            <a:r>
              <a:rPr lang="lv-LV" alt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1094395-9CF5-4484-81BB-888916AEF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References </a:t>
            </a:r>
            <a:r>
              <a:rPr lang="lv-LV" altLang="en-US" dirty="0" err="1"/>
              <a:t>Example</a:t>
            </a:r>
            <a:r>
              <a:rPr lang="lv-LV" altLang="en-US" dirty="0"/>
              <a:t> 1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4C0B962-8644-4236-A70A-470C831FF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452596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int main()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{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int i=5;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int &amp;ref_i=i;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i++;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cout &lt;&lt; "i:" &lt;&lt; i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cout &lt;&lt; "ref_i:" &lt;&lt; ref_i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ref_i++;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cout &lt;&lt; "i:" &lt;&lt; i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cout &lt;&lt; "ref_i:" &lt;&lt; ref_i &lt;&lt; endl;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system("pause");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    return 0;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ED9C5FD5-0DAF-4A8E-9F53-2A594DC4F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833" y="5949280"/>
            <a:ext cx="7775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>
                <a:latin typeface="Times New Roman" panose="02020603050405020304" pitchFamily="18" charset="0"/>
              </a:rPr>
              <a:t>Changing the variable value also changes the reference value, and vice versa</a:t>
            </a:r>
            <a:r>
              <a:rPr lang="lv-LV" altLang="en-US" sz="2400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6C0EE27-44E7-42F3-A85D-99330ED45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1275"/>
            <a:ext cx="8229600" cy="779463"/>
          </a:xfrm>
        </p:spPr>
        <p:txBody>
          <a:bodyPr/>
          <a:lstStyle/>
          <a:p>
            <a:r>
              <a:rPr lang="en-US" altLang="en-US" dirty="0"/>
              <a:t>References </a:t>
            </a:r>
            <a:r>
              <a:rPr lang="lv-LV" altLang="en-US" dirty="0" err="1"/>
              <a:t>Example</a:t>
            </a:r>
            <a:r>
              <a:rPr lang="lv-LV" altLang="en-US" dirty="0"/>
              <a:t> </a:t>
            </a:r>
            <a:r>
              <a:rPr lang="en-US" altLang="en-US" dirty="0"/>
              <a:t>2</a:t>
            </a:r>
            <a:endParaRPr lang="lv-LV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F6FF023-5414-4540-9EB3-32184867D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582613"/>
            <a:ext cx="8229600" cy="604837"/>
          </a:xfrm>
        </p:spPr>
        <p:txBody>
          <a:bodyPr/>
          <a:lstStyle/>
          <a:p>
            <a:pPr>
              <a:buFontTx/>
              <a:buNone/>
            </a:pPr>
            <a:r>
              <a:rPr lang="lv-LV" altLang="en-US" dirty="0" err="1"/>
              <a:t>How</a:t>
            </a:r>
            <a:r>
              <a:rPr lang="lv-LV" altLang="en-US" dirty="0"/>
              <a:t> it </a:t>
            </a:r>
            <a:r>
              <a:rPr lang="lv-LV" altLang="en-US" dirty="0" err="1"/>
              <a:t>work</a:t>
            </a:r>
            <a:r>
              <a:rPr lang="en-US" altLang="en-US" dirty="0"/>
              <a:t>s</a:t>
            </a:r>
            <a:r>
              <a:rPr lang="lv-LV" altLang="en-US" dirty="0"/>
              <a:t>?
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9827190D-26CC-481A-A5E4-80764184C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20775"/>
            <a:ext cx="8101013" cy="307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4988" indent="-5349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572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795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10185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6241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0813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5385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957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5293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main</a:t>
            </a:r>
            <a:r>
              <a:rPr lang="lv-LV" altLang="en-US" sz="1400" dirty="0">
                <a:latin typeface="Courier New" panose="02070309020205020404" pitchFamily="49" charset="0"/>
              </a:rPr>
              <a:t>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i=5;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&amp;</a:t>
            </a:r>
            <a:r>
              <a:rPr lang="lv-LV" altLang="en-US" sz="1400" dirty="0" err="1">
                <a:latin typeface="Courier New" panose="02070309020205020404" pitchFamily="49" charset="0"/>
              </a:rPr>
              <a:t>ref_i</a:t>
            </a:r>
            <a:r>
              <a:rPr lang="lv-LV" altLang="en-US" sz="1400" dirty="0">
                <a:latin typeface="Courier New" panose="02070309020205020404" pitchFamily="49" charset="0"/>
              </a:rPr>
              <a:t>=i;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"i:" &lt;&lt; i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</a:t>
            </a:r>
            <a:r>
              <a:rPr lang="lv-LV" altLang="en-US" sz="1400" dirty="0" err="1">
                <a:latin typeface="Courier New" panose="02070309020205020404" pitchFamily="49" charset="0"/>
              </a:rPr>
              <a:t>ref_i</a:t>
            </a:r>
            <a:r>
              <a:rPr lang="lv-LV" altLang="en-US" sz="1400" dirty="0">
                <a:latin typeface="Courier New" panose="02070309020205020404" pitchFamily="49" charset="0"/>
              </a:rPr>
              <a:t>:"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ref_i</a:t>
            </a:r>
            <a:r>
              <a:rPr lang="lv-LV" altLang="en-US" sz="1400" dirty="0">
                <a:latin typeface="Courier New" panose="02070309020205020404" pitchFamily="49" charset="0"/>
              </a:rPr>
              <a:t>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"i </a:t>
            </a:r>
            <a:r>
              <a:rPr lang="en-US" altLang="en-US" sz="1400" dirty="0">
                <a:latin typeface="Courier New" panose="02070309020205020404" pitchFamily="49" charset="0"/>
              </a:rPr>
              <a:t>address</a:t>
            </a:r>
            <a:r>
              <a:rPr lang="lv-LV" altLang="en-US" sz="1400" dirty="0">
                <a:latin typeface="Courier New" panose="02070309020205020404" pitchFamily="49" charset="0"/>
              </a:rPr>
              <a:t>:" &lt;&lt; &amp;i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</a:t>
            </a:r>
            <a:r>
              <a:rPr lang="lv-LV" altLang="en-US" sz="1400" dirty="0" err="1">
                <a:latin typeface="Courier New" panose="02070309020205020404" pitchFamily="49" charset="0"/>
              </a:rPr>
              <a:t>ref_i</a:t>
            </a:r>
            <a:r>
              <a:rPr lang="lv-LV" altLang="en-US" sz="1400" dirty="0">
                <a:latin typeface="Courier New" panose="02070309020205020404" pitchFamily="49" charset="0"/>
              </a:rPr>
              <a:t>:"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ref_i</a:t>
            </a:r>
            <a:r>
              <a:rPr lang="lv-LV" altLang="en-US" sz="1400" dirty="0">
                <a:latin typeface="Courier New" panose="02070309020205020404" pitchFamily="49" charset="0"/>
              </a:rPr>
              <a:t>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system</a:t>
            </a:r>
            <a:r>
              <a:rPr lang="lv-LV" altLang="en-US" sz="1400" dirty="0">
                <a:latin typeface="Courier New" panose="02070309020205020404" pitchFamily="49" charset="0"/>
              </a:rPr>
              <a:t>("</a:t>
            </a:r>
            <a:r>
              <a:rPr lang="lv-LV" altLang="en-US" sz="1400" dirty="0" err="1">
                <a:latin typeface="Courier New" panose="02070309020205020404" pitchFamily="49" charset="0"/>
              </a:rPr>
              <a:t>pause</a:t>
            </a:r>
            <a:r>
              <a:rPr lang="lv-LV" altLang="en-US" sz="1400" dirty="0">
                <a:latin typeface="Courier New" panose="02070309020205020404" pitchFamily="49" charset="0"/>
              </a:rPr>
              <a:t>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return</a:t>
            </a:r>
            <a:r>
              <a:rPr lang="lv-LV" altLang="en-US" sz="1400" dirty="0">
                <a:latin typeface="Courier New" panose="02070309020205020404" pitchFamily="49" charset="0"/>
              </a:rPr>
              <a:t>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26216FF6-58F3-49EB-A2D0-218608B32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98320"/>
            <a:ext cx="80645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0000FF"/>
              </a:buClr>
              <a:buFontTx/>
              <a:buAutoNum type="arabicPeriod" startAt="9"/>
            </a:pPr>
            <a:r>
              <a:rPr lang="lv-LV" altLang="en-US" sz="2000" b="1" i="1" dirty="0">
                <a:latin typeface="Times New Roman" panose="02020603050405020304" pitchFamily="18" charset="0"/>
              </a:rPr>
              <a:t>&amp;i</a:t>
            </a:r>
            <a:r>
              <a:rPr lang="lv-LV" altLang="en-US" sz="2000" dirty="0">
                <a:latin typeface="Times New Roman" panose="02020603050405020304" pitchFamily="18" charset="0"/>
              </a:rPr>
              <a:t> – </a:t>
            </a:r>
            <a:r>
              <a:rPr lang="en-US" altLang="en-US" sz="2000" dirty="0">
                <a:latin typeface="Times New Roman" panose="02020603050405020304" pitchFamily="18" charset="0"/>
              </a:rPr>
              <a:t>by inserting</a:t>
            </a:r>
            <a:r>
              <a:rPr lang="lv-LV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a </a:t>
            </a:r>
            <a:r>
              <a:rPr lang="lv-LV" altLang="en-US" sz="2000" b="1" i="1" dirty="0">
                <a:latin typeface="Times New Roman" panose="02020603050405020304" pitchFamily="18" charset="0"/>
              </a:rPr>
              <a:t>&amp;</a:t>
            </a:r>
            <a:r>
              <a:rPr lang="lv-LV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symbol you can output variable address</a:t>
            </a:r>
            <a:r>
              <a:rPr lang="lv-LV" altLang="en-US" sz="2000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  <a:buClr>
                <a:srgbClr val="0000FF"/>
              </a:buClr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Don’t mix up</a:t>
            </a:r>
            <a:r>
              <a:rPr lang="lv-LV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lv-LV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&amp;</a:t>
            </a:r>
            <a:r>
              <a:rPr lang="lv-LV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symbol</a:t>
            </a:r>
            <a:r>
              <a:rPr lang="lv-LV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usage cases: </a:t>
            </a:r>
          </a:p>
          <a:p>
            <a:pPr marL="914400" lvl="1" indent="-457200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Address using</a:t>
            </a:r>
          </a:p>
          <a:p>
            <a:pPr marL="914400" lvl="1" indent="-457200">
              <a:spcBef>
                <a:spcPts val="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reference definition</a:t>
            </a:r>
            <a:endParaRPr lang="lv-LV" altLang="en-US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rgbClr val="0000FF"/>
              </a:buClr>
            </a:pPr>
            <a:r>
              <a:rPr lang="en-US" altLang="en-US" sz="2000" b="1" dirty="0">
                <a:latin typeface="Times New Roman" panose="02020603050405020304" pitchFamily="18" charset="0"/>
              </a:rPr>
              <a:t>Conclusion</a:t>
            </a:r>
            <a:r>
              <a:rPr lang="en-US" altLang="en-US" sz="2000" dirty="0">
                <a:latin typeface="Times New Roman" panose="02020603050405020304" pitchFamily="18" charset="0"/>
              </a:rPr>
              <a:t> – The </a:t>
            </a:r>
            <a:r>
              <a:rPr lang="en-US" altLang="en-US" sz="2000" b="1" dirty="0">
                <a:latin typeface="Times New Roman" panose="02020603050405020304" pitchFamily="18" charset="0"/>
              </a:rPr>
              <a:t>reference</a:t>
            </a:r>
            <a:r>
              <a:rPr lang="en-US" altLang="en-US" sz="2000" dirty="0">
                <a:latin typeface="Times New Roman" panose="02020603050405020304" pitchFamily="18" charset="0"/>
              </a:rPr>
              <a:t> value is equivalent to a original variable value. So when you use the </a:t>
            </a:r>
            <a:r>
              <a:rPr lang="en-US" altLang="en-US" sz="2000" b="1" dirty="0">
                <a:latin typeface="Times New Roman" panose="02020603050405020304" pitchFamily="18" charset="0"/>
              </a:rPr>
              <a:t>reference</a:t>
            </a:r>
            <a:r>
              <a:rPr lang="en-US" altLang="en-US" sz="2000" dirty="0">
                <a:latin typeface="Times New Roman" panose="02020603050405020304" pitchFamily="18" charset="0"/>
              </a:rPr>
              <a:t>, value is taken from the corresponding address cell.</a:t>
            </a:r>
            <a:endParaRPr lang="lv-LV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1871D72-32AF-465F-9B23-C654B9D07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Passing parameter by reference</a:t>
            </a:r>
            <a:endParaRPr lang="lv-LV" altLang="en-US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28E791B-17EB-4798-B406-1AE5777A0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76262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en-US" dirty="0"/>
              <a:t>Analysis of the 3rd task</a:t>
            </a:r>
            <a:endParaRPr lang="lv-LV" altLang="en-US" dirty="0"/>
          </a:p>
          <a:p>
            <a:pPr>
              <a:lnSpc>
                <a:spcPct val="90000"/>
              </a:lnSpc>
              <a:buFontTx/>
              <a:buNone/>
            </a:pPr>
            <a:endParaRPr lang="lv-LV" altLang="en-US" dirty="0"/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B9A89263-BC57-428A-A876-E1F714213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092825"/>
            <a:ext cx="77771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indent="-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Times New Roman" panose="02020603050405020304" pitchFamily="18" charset="0"/>
              </a:rPr>
              <a:t>Function now use the original values.</a:t>
            </a:r>
            <a:endParaRPr lang="lv-LV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8439" name="Text Box 7">
            <a:extLst>
              <a:ext uri="{FF2B5EF4-FFF2-40B4-BE49-F238E27FC236}">
                <a16:creationId xmlns:a16="http://schemas.microsoft.com/office/drawing/2014/main" id="{B34FFE14-4667-4E09-85F4-D87BC16CB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73238"/>
            <a:ext cx="8353425" cy="41857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4500" indent="-44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24142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76371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860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082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26548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2268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17988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37088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void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swap</a:t>
            </a:r>
            <a:r>
              <a:rPr lang="lv-LV" altLang="en-US" sz="1400" dirty="0">
                <a:latin typeface="Courier New" panose="02070309020205020404" pitchFamily="49" charset="0"/>
              </a:rPr>
              <a:t>(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&amp;a,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&amp;b)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"a </a:t>
            </a:r>
            <a:r>
              <a:rPr lang="lv-LV" altLang="en-US" sz="1400" dirty="0" err="1">
                <a:latin typeface="Courier New" panose="02070309020205020404" pitchFamily="49" charset="0"/>
              </a:rPr>
              <a:t>ad</a:t>
            </a:r>
            <a:r>
              <a:rPr lang="en-US" altLang="en-US" sz="1400" dirty="0">
                <a:latin typeface="Courier New" panose="02070309020205020404" pitchFamily="49" charset="0"/>
              </a:rPr>
              <a:t>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&amp;a &lt;&lt; "   b </a:t>
            </a:r>
            <a:r>
              <a:rPr lang="lv-LV" altLang="en-US" sz="1400" dirty="0" err="1">
                <a:latin typeface="Courier New" panose="02070309020205020404" pitchFamily="49" charset="0"/>
              </a:rPr>
              <a:t>ad</a:t>
            </a:r>
            <a:r>
              <a:rPr lang="en-US" altLang="en-US" sz="1400" dirty="0">
                <a:latin typeface="Courier New" panose="02070309020205020404" pitchFamily="49" charset="0"/>
              </a:rPr>
              <a:t>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&amp;b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temp = a;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a = b;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b = temp;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endParaRPr lang="lv-LV" altLang="en-US" sz="1400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</a:t>
            </a:r>
            <a:r>
              <a:rPr lang="lv-LV" altLang="en-US" sz="1400" dirty="0" err="1">
                <a:latin typeface="Courier New" panose="02070309020205020404" pitchFamily="49" charset="0"/>
              </a:rPr>
              <a:t>main</a:t>
            </a:r>
            <a:r>
              <a:rPr lang="lv-LV" altLang="en-US" sz="1400" dirty="0">
                <a:latin typeface="Courier New" panose="02070309020205020404" pitchFamily="49" charset="0"/>
              </a:rPr>
              <a:t>()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{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int</a:t>
            </a:r>
            <a:r>
              <a:rPr lang="lv-LV" altLang="en-US" sz="1400" dirty="0">
                <a:latin typeface="Courier New" panose="02070309020205020404" pitchFamily="49" charset="0"/>
              </a:rPr>
              <a:t> m=5, n=8;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"m </a:t>
            </a:r>
            <a:r>
              <a:rPr lang="lv-LV" altLang="en-US" sz="1400" dirty="0" err="1">
                <a:latin typeface="Courier New" panose="02070309020205020404" pitchFamily="49" charset="0"/>
              </a:rPr>
              <a:t>ad</a:t>
            </a:r>
            <a:r>
              <a:rPr lang="en-US" altLang="en-US" sz="1400" dirty="0">
                <a:latin typeface="Courier New" panose="02070309020205020404" pitchFamily="49" charset="0"/>
              </a:rPr>
              <a:t>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&amp;m &lt;&lt; "   n </a:t>
            </a:r>
            <a:r>
              <a:rPr lang="lv-LV" altLang="en-US" sz="1400" dirty="0" err="1">
                <a:latin typeface="Courier New" panose="02070309020205020404" pitchFamily="49" charset="0"/>
              </a:rPr>
              <a:t>ad</a:t>
            </a:r>
            <a:r>
              <a:rPr lang="en-US" altLang="en-US" sz="1400" dirty="0">
                <a:latin typeface="Courier New" panose="02070309020205020404" pitchFamily="49" charset="0"/>
              </a:rPr>
              <a:t>dress</a:t>
            </a:r>
            <a:r>
              <a:rPr lang="lv-LV" altLang="en-US" sz="1400" dirty="0">
                <a:latin typeface="Courier New" panose="02070309020205020404" pitchFamily="49" charset="0"/>
              </a:rPr>
              <a:t>: " &lt;&lt; &amp;n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swap</a:t>
            </a:r>
            <a:r>
              <a:rPr lang="lv-LV" altLang="en-US" sz="1400" dirty="0">
                <a:latin typeface="Courier New" panose="02070309020205020404" pitchFamily="49" charset="0"/>
              </a:rPr>
              <a:t>(</a:t>
            </a:r>
            <a:r>
              <a:rPr lang="lv-LV" altLang="en-US" sz="1400" dirty="0" err="1">
                <a:latin typeface="Courier New" panose="02070309020205020404" pitchFamily="49" charset="0"/>
              </a:rPr>
              <a:t>m,n</a:t>
            </a:r>
            <a:r>
              <a:rPr lang="lv-LV" altLang="en-US" sz="1400" dirty="0">
                <a:latin typeface="Courier New" panose="02070309020205020404" pitchFamily="49" charset="0"/>
              </a:rPr>
              <a:t>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"m: " &lt;&lt; m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cout</a:t>
            </a:r>
            <a:r>
              <a:rPr lang="lv-LV" altLang="en-US" sz="1400" dirty="0">
                <a:latin typeface="Courier New" panose="02070309020205020404" pitchFamily="49" charset="0"/>
              </a:rPr>
              <a:t> &lt;&lt; "n: " &lt;&lt; n &lt;&lt; </a:t>
            </a:r>
            <a:r>
              <a:rPr lang="lv-LV" altLang="en-US" sz="1400" dirty="0" err="1">
                <a:latin typeface="Courier New" panose="02070309020205020404" pitchFamily="49" charset="0"/>
              </a:rPr>
              <a:t>endl</a:t>
            </a:r>
            <a:r>
              <a:rPr lang="lv-LV" altLang="en-US" sz="1400" dirty="0">
                <a:latin typeface="Courier New" panose="02070309020205020404" pitchFamily="49" charset="0"/>
              </a:rPr>
              <a:t>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system</a:t>
            </a:r>
            <a:r>
              <a:rPr lang="lv-LV" altLang="en-US" sz="1400" dirty="0">
                <a:latin typeface="Courier New" panose="02070309020205020404" pitchFamily="49" charset="0"/>
              </a:rPr>
              <a:t>("</a:t>
            </a:r>
            <a:r>
              <a:rPr lang="lv-LV" altLang="en-US" sz="1400" dirty="0" err="1">
                <a:latin typeface="Courier New" panose="02070309020205020404" pitchFamily="49" charset="0"/>
              </a:rPr>
              <a:t>pause</a:t>
            </a:r>
            <a:r>
              <a:rPr lang="lv-LV" altLang="en-US" sz="1400" dirty="0">
                <a:latin typeface="Courier New" panose="02070309020205020404" pitchFamily="49" charset="0"/>
              </a:rPr>
              <a:t>");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    </a:t>
            </a:r>
            <a:r>
              <a:rPr lang="lv-LV" altLang="en-US" sz="1400" dirty="0" err="1">
                <a:latin typeface="Courier New" panose="02070309020205020404" pitchFamily="49" charset="0"/>
              </a:rPr>
              <a:t>return</a:t>
            </a:r>
            <a:r>
              <a:rPr lang="lv-LV" altLang="en-US" sz="1400" dirty="0">
                <a:latin typeface="Courier New" panose="02070309020205020404" pitchFamily="49" charset="0"/>
              </a:rPr>
              <a:t> 0;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sz="1400" dirty="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18440" name="Picture 8">
            <a:extLst>
              <a:ext uri="{FF2B5EF4-FFF2-40B4-BE49-F238E27FC236}">
                <a16:creationId xmlns:a16="http://schemas.microsoft.com/office/drawing/2014/main" id="{57923E63-8288-4AEA-815D-3F368FD29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4941888"/>
            <a:ext cx="34290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865FB49-AAEB-4075-8E0E-47A0613B7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CCC86EA-F9BB-49D7-9B5D-D60488827A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Write an increment function</a:t>
            </a:r>
            <a:endParaRPr lang="lv-LV" altLang="en-US" dirty="0"/>
          </a:p>
          <a:p>
            <a:pPr>
              <a:buFontTx/>
              <a:buNone/>
            </a:pPr>
            <a:r>
              <a:rPr lang="lv-LV" altLang="en-US" dirty="0" err="1">
                <a:latin typeface="Courier New" panose="02070309020205020404" pitchFamily="49" charset="0"/>
              </a:rPr>
              <a:t>inc</a:t>
            </a:r>
            <a:r>
              <a:rPr lang="lv-LV" altLang="en-US" dirty="0">
                <a:latin typeface="Courier New" panose="02070309020205020404" pitchFamily="49" charset="0"/>
              </a:rPr>
              <a:t>(</a:t>
            </a:r>
            <a:r>
              <a:rPr lang="lv-LV" altLang="en-US" dirty="0" err="1">
                <a:latin typeface="Courier New" panose="02070309020205020404" pitchFamily="49" charset="0"/>
              </a:rPr>
              <a:t>x,n</a:t>
            </a:r>
            <a:r>
              <a:rPr lang="lv-LV" altLang="en-US" dirty="0">
                <a:latin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 dirty="0"/>
              <a:t>that increases a given </a:t>
            </a:r>
            <a:r>
              <a:rPr lang="en-US" altLang="en-US" b="1" dirty="0"/>
              <a:t>x</a:t>
            </a:r>
            <a:r>
              <a:rPr lang="en-US" altLang="en-US" dirty="0"/>
              <a:t> value by </a:t>
            </a:r>
            <a:r>
              <a:rPr lang="en-US" altLang="en-US" b="1" dirty="0"/>
              <a:t>n</a:t>
            </a:r>
            <a:r>
              <a:rPr lang="en-US" altLang="en-US" dirty="0"/>
              <a:t>.
</a:t>
            </a:r>
            <a:endParaRPr lang="lv-LV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DA57397-8A97-49D1-8A48-68143A489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altLang="en-US" b="1" dirty="0"/>
              <a:t>c</a:t>
            </a:r>
            <a:r>
              <a:rPr lang="lv-LV" altLang="en-US" b="1" dirty="0" err="1"/>
              <a:t>onst</a:t>
            </a:r>
            <a:r>
              <a:rPr lang="en-US" altLang="en-US" b="1" dirty="0"/>
              <a:t> </a:t>
            </a:r>
            <a:r>
              <a:rPr lang="en-US" altLang="en-US" dirty="0"/>
              <a:t>modifier</a:t>
            </a:r>
            <a:endParaRPr lang="lv-LV" altLang="en-US" b="1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1D6B761-4605-4855-B046-5D09879C76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32923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z="2000" dirty="0"/>
              <a:t>Should be used when you want to ensure that the variable will not be changed during program execution.</a:t>
            </a:r>
          </a:p>
          <a:p>
            <a:pPr marL="0" indent="0">
              <a:buFontTx/>
              <a:buNone/>
            </a:pPr>
            <a:endParaRPr lang="en-US" altLang="en-US" sz="2000" dirty="0"/>
          </a:p>
          <a:p>
            <a:pPr marL="0" indent="0">
              <a:buFontTx/>
              <a:buNone/>
            </a:pPr>
            <a:r>
              <a:rPr lang="lv-LV" altLang="en-US" sz="2000" b="1" dirty="0" err="1"/>
              <a:t>const</a:t>
            </a:r>
            <a:r>
              <a:rPr lang="lv-LV" altLang="en-US" sz="2000" dirty="0"/>
              <a:t> </a:t>
            </a:r>
            <a:r>
              <a:rPr lang="en-US" altLang="en-US" sz="2000" dirty="0"/>
              <a:t>modifier before variable name notifies the compiler that variable value  should not be modified during program execution.</a:t>
            </a:r>
            <a:endParaRPr lang="lv-LV" altLang="en-US" sz="2000" dirty="0"/>
          </a:p>
          <a:p>
            <a:r>
              <a:rPr lang="lv-LV" altLang="en-US" sz="2000" b="1" dirty="0" err="1"/>
              <a:t>const</a:t>
            </a:r>
            <a:r>
              <a:rPr lang="lv-LV" altLang="en-US" sz="2000" dirty="0"/>
              <a:t> t</a:t>
            </a:r>
            <a:r>
              <a:rPr lang="en-US" altLang="en-US" sz="2000" dirty="0" err="1"/>
              <a:t>ype</a:t>
            </a:r>
            <a:r>
              <a:rPr lang="lv-LV" altLang="en-US" sz="2000" dirty="0"/>
              <a:t> </a:t>
            </a:r>
            <a:r>
              <a:rPr lang="en-US" altLang="en-US" sz="2000" dirty="0"/>
              <a:t>v</a:t>
            </a:r>
            <a:r>
              <a:rPr lang="lv-LV" altLang="en-US" sz="2000" dirty="0" err="1"/>
              <a:t>ariable_n</a:t>
            </a:r>
            <a:r>
              <a:rPr lang="en-US" altLang="en-US" sz="2000" dirty="0" err="1"/>
              <a:t>ame</a:t>
            </a:r>
            <a:r>
              <a:rPr lang="lv-LV" altLang="en-US" sz="2000" dirty="0"/>
              <a:t> = </a:t>
            </a:r>
            <a:r>
              <a:rPr lang="en-US" altLang="en-US" sz="2000" dirty="0"/>
              <a:t>value</a:t>
            </a:r>
            <a:r>
              <a:rPr lang="lv-LV" altLang="en-US" sz="2000" dirty="0"/>
              <a:t>;</a:t>
            </a:r>
          </a:p>
          <a:p>
            <a:r>
              <a:rPr lang="lv-LV" altLang="en-US" sz="2000" dirty="0" err="1"/>
              <a:t>Example</a:t>
            </a:r>
            <a:r>
              <a:rPr lang="lv-LV" altLang="en-US" sz="2000" dirty="0"/>
              <a:t>: </a:t>
            </a:r>
            <a:r>
              <a:rPr lang="lv-LV" altLang="en-US" sz="2000" dirty="0" err="1">
                <a:latin typeface="Courier New" panose="02070309020205020404" pitchFamily="49" charset="0"/>
              </a:rPr>
              <a:t>const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double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pi</a:t>
            </a:r>
            <a:r>
              <a:rPr lang="lv-LV" altLang="en-US" sz="2000" dirty="0">
                <a:latin typeface="Courier New" panose="02070309020205020404" pitchFamily="49" charset="0"/>
              </a:rPr>
              <a:t> = 3.14159;</a:t>
            </a:r>
          </a:p>
          <a:p>
            <a:pPr>
              <a:buFontTx/>
              <a:buNone/>
            </a:pPr>
            <a:r>
              <a:rPr lang="lv-LV" altLang="en-US" sz="2000" dirty="0" err="1"/>
              <a:t>Constant</a:t>
            </a:r>
            <a:r>
              <a:rPr lang="lv-LV" altLang="en-US" sz="2000" dirty="0"/>
              <a:t> </a:t>
            </a:r>
            <a:r>
              <a:rPr lang="en-US" altLang="en-US" sz="2000" dirty="0"/>
              <a:t>references</a:t>
            </a:r>
            <a:r>
              <a:rPr lang="lv-LV" altLang="en-US" sz="2000" dirty="0"/>
              <a:t>
</a:t>
            </a:r>
            <a:r>
              <a:rPr lang="en-US" altLang="en-US" sz="2000" dirty="0"/>
              <a:t>Constant reference can not modify the value to which it points</a:t>
            </a:r>
            <a:r>
              <a:rPr lang="lv-LV" altLang="en-US" sz="2000" dirty="0"/>
              <a:t>.</a:t>
            </a:r>
          </a:p>
          <a:p>
            <a:r>
              <a:rPr lang="lv-LV" altLang="en-US" sz="2000" b="1" dirty="0" err="1"/>
              <a:t>const</a:t>
            </a:r>
            <a:r>
              <a:rPr lang="lv-LV" altLang="en-US" sz="2000" dirty="0"/>
              <a:t> t</a:t>
            </a:r>
            <a:r>
              <a:rPr lang="en-US" altLang="en-US" sz="2000" dirty="0" err="1"/>
              <a:t>ype</a:t>
            </a:r>
            <a:r>
              <a:rPr lang="lv-LV" altLang="en-US" sz="2000" dirty="0"/>
              <a:t> &amp;</a:t>
            </a:r>
            <a:r>
              <a:rPr lang="en-US" altLang="en-US" sz="2000" dirty="0"/>
              <a:t>v</a:t>
            </a:r>
            <a:r>
              <a:rPr lang="lv-LV" altLang="en-US" sz="2000" dirty="0" err="1"/>
              <a:t>ariable_n</a:t>
            </a:r>
            <a:r>
              <a:rPr lang="en-US" altLang="en-US" sz="2000" dirty="0" err="1"/>
              <a:t>ame</a:t>
            </a:r>
            <a:r>
              <a:rPr lang="lv-LV" altLang="en-US" sz="2000" dirty="0"/>
              <a:t> = </a:t>
            </a:r>
            <a:r>
              <a:rPr lang="en-US" altLang="en-US" sz="2000" dirty="0" err="1"/>
              <a:t>other_variable_name</a:t>
            </a:r>
            <a:r>
              <a:rPr lang="lv-LV" altLang="en-US" sz="2000" dirty="0"/>
              <a:t>;</a:t>
            </a:r>
          </a:p>
          <a:p>
            <a:r>
              <a:rPr lang="lv-LV" altLang="en-US" sz="2000" dirty="0" err="1"/>
              <a:t>Example</a:t>
            </a:r>
            <a:r>
              <a:rPr lang="lv-LV" altLang="en-US" sz="2000" dirty="0"/>
              <a:t>: </a:t>
            </a:r>
          </a:p>
          <a:p>
            <a:pPr>
              <a:buFontTx/>
              <a:buNone/>
            </a:pPr>
            <a:r>
              <a:rPr lang="lv-LV" altLang="en-US" sz="2000" dirty="0">
                <a:latin typeface="Courier New" panose="02070309020205020404" pitchFamily="49" charset="0"/>
              </a:rPr>
              <a:t>		</a:t>
            </a:r>
            <a:r>
              <a:rPr lang="lv-LV" altLang="en-US" sz="2000" dirty="0" err="1">
                <a:latin typeface="Courier New" panose="02070309020205020404" pitchFamily="49" charset="0"/>
              </a:rPr>
              <a:t>int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num_students</a:t>
            </a:r>
            <a:r>
              <a:rPr lang="lv-LV" altLang="en-US" sz="2000" dirty="0">
                <a:latin typeface="Courier New" panose="02070309020205020404" pitchFamily="49" charset="0"/>
              </a:rPr>
              <a:t> = 6;</a:t>
            </a:r>
          </a:p>
          <a:p>
            <a:pPr>
              <a:buFontTx/>
              <a:buNone/>
            </a:pPr>
            <a:r>
              <a:rPr lang="lv-LV" altLang="en-US" sz="2000" dirty="0">
                <a:latin typeface="Courier New" panose="02070309020205020404" pitchFamily="49" charset="0"/>
              </a:rPr>
              <a:t>		</a:t>
            </a:r>
            <a:r>
              <a:rPr lang="lv-LV" altLang="en-US" sz="2000" dirty="0" err="1">
                <a:latin typeface="Courier New" panose="02070309020205020404" pitchFamily="49" charset="0"/>
              </a:rPr>
              <a:t>const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lv-LV" altLang="en-US" sz="2000" dirty="0" err="1">
                <a:latin typeface="Courier New" panose="02070309020205020404" pitchFamily="49" charset="0"/>
              </a:rPr>
              <a:t>int</a:t>
            </a:r>
            <a:r>
              <a:rPr lang="lv-LV" altLang="en-US" sz="2000" dirty="0">
                <a:latin typeface="Courier New" panose="02070309020205020404" pitchFamily="49" charset="0"/>
              </a:rPr>
              <a:t> &amp;</a:t>
            </a:r>
            <a:r>
              <a:rPr lang="lv-LV" altLang="en-US" sz="2000" dirty="0" err="1">
                <a:latin typeface="Courier New" panose="02070309020205020404" pitchFamily="49" charset="0"/>
              </a:rPr>
              <a:t>ref</a:t>
            </a:r>
            <a:r>
              <a:rPr lang="lv-LV" altLang="en-US" sz="2000" dirty="0">
                <a:latin typeface="Courier New" panose="02070309020205020404" pitchFamily="49" charset="0"/>
              </a:rPr>
              <a:t> = </a:t>
            </a:r>
            <a:r>
              <a:rPr lang="lv-LV" altLang="en-US" sz="2000" dirty="0" err="1">
                <a:latin typeface="Courier New" panose="02070309020205020404" pitchFamily="49" charset="0"/>
              </a:rPr>
              <a:t>num_students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lv-LV" altLang="en-US" sz="2000" dirty="0">
                <a:latin typeface="Courier New" panose="02070309020205020404" pitchFamily="49" charset="0"/>
              </a:rPr>
              <a:t>		</a:t>
            </a:r>
            <a:r>
              <a:rPr lang="lv-LV" altLang="en-US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ref</a:t>
            </a:r>
            <a:r>
              <a:rPr lang="lv-LV" altLang="en-US" sz="2000" dirty="0">
                <a:solidFill>
                  <a:srgbClr val="FF0000"/>
                </a:solidFill>
                <a:latin typeface="Courier New" panose="02070309020205020404" pitchFamily="49" charset="0"/>
              </a:rPr>
              <a:t>++;</a:t>
            </a:r>
            <a:r>
              <a:rPr lang="lv-LV" altLang="en-US" sz="2000" dirty="0">
                <a:latin typeface="Courier New" panose="02070309020205020404" pitchFamily="49" charset="0"/>
              </a:rPr>
              <a:t> // </a:t>
            </a:r>
            <a:r>
              <a:rPr lang="en-US" altLang="en-US" sz="2000" dirty="0">
                <a:latin typeface="Courier New" panose="02070309020205020404" pitchFamily="49" charset="0"/>
              </a:rPr>
              <a:t>Compiler will show an error</a:t>
            </a:r>
            <a:r>
              <a:rPr lang="lv-LV" altLang="en-US" sz="2000" dirty="0">
                <a:latin typeface="Courier New" panose="02070309020205020404" pitchFamily="49" charset="0"/>
              </a:rPr>
              <a:t>!!!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37B1628-773C-49C3-804A-E8166EEDB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c</a:t>
            </a:r>
            <a:r>
              <a:rPr lang="lv-LV" altLang="en-US" b="1" dirty="0" err="1"/>
              <a:t>onst</a:t>
            </a:r>
            <a:r>
              <a:rPr lang="en-US" altLang="en-US" b="1" dirty="0"/>
              <a:t> </a:t>
            </a:r>
            <a:r>
              <a:rPr lang="en-US" altLang="en-US" dirty="0"/>
              <a:t>modifier</a:t>
            </a:r>
            <a:r>
              <a:rPr lang="lv-LV" altLang="en-US" b="1" dirty="0"/>
              <a:t> - </a:t>
            </a:r>
            <a:r>
              <a:rPr lang="en-US" altLang="en-US" dirty="0"/>
              <a:t>example</a:t>
            </a:r>
            <a:endParaRPr lang="lv-LV" altLang="en-US" dirty="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3863915-A1EE-41DF-9417-7F3F11151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4205288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void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inc</a:t>
            </a:r>
            <a:r>
              <a:rPr lang="lv-LV" altLang="en-US" sz="1800" dirty="0">
                <a:latin typeface="Courier New" panose="02070309020205020404" pitchFamily="49" charset="0"/>
              </a:rPr>
              <a:t>(</a:t>
            </a:r>
            <a:r>
              <a:rPr lang="lv-LV" altLang="en-US" sz="1800" dirty="0" err="1">
                <a:latin typeface="Courier New" panose="02070309020205020404" pitchFamily="49" charset="0"/>
              </a:rPr>
              <a:t>int</a:t>
            </a:r>
            <a:r>
              <a:rPr lang="lv-LV" altLang="en-US" sz="1800" dirty="0">
                <a:latin typeface="Courier New" panose="02070309020205020404" pitchFamily="49" charset="0"/>
              </a:rPr>
              <a:t> &amp;a, </a:t>
            </a:r>
            <a:r>
              <a:rPr lang="lv-LV" altLang="en-US" sz="1800" dirty="0" err="1">
                <a:latin typeface="Courier New" panose="02070309020205020404" pitchFamily="49" charset="0"/>
              </a:rPr>
              <a:t>const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int</a:t>
            </a:r>
            <a:r>
              <a:rPr lang="lv-LV" altLang="en-US" sz="1800" dirty="0">
                <a:latin typeface="Courier New" panose="02070309020205020404" pitchFamily="49" charset="0"/>
              </a:rPr>
              <a:t> b)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//b = b+2; //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here will be an error</a:t>
            </a:r>
            <a:r>
              <a:rPr lang="lv-LV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!!!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a = </a:t>
            </a:r>
            <a:r>
              <a:rPr lang="lv-LV" altLang="en-US" sz="1800" dirty="0" err="1">
                <a:latin typeface="Courier New" panose="02070309020205020404" pitchFamily="49" charset="0"/>
              </a:rPr>
              <a:t>a+b</a:t>
            </a:r>
            <a:r>
              <a:rPr lang="lv-LV" altLang="en-US" sz="1800" dirty="0">
                <a:latin typeface="Courier New" panose="02070309020205020404" pitchFamily="49" charset="0"/>
              </a:rPr>
              <a:t>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 err="1">
                <a:latin typeface="Courier New" panose="02070309020205020404" pitchFamily="49" charset="0"/>
              </a:rPr>
              <a:t>int</a:t>
            </a:r>
            <a:r>
              <a:rPr lang="lv-LV" altLang="en-US" sz="1800" dirty="0">
                <a:latin typeface="Courier New" panose="02070309020205020404" pitchFamily="49" charset="0"/>
              </a:rPr>
              <a:t> </a:t>
            </a:r>
            <a:r>
              <a:rPr lang="lv-LV" altLang="en-US" sz="1800" dirty="0" err="1">
                <a:latin typeface="Courier New" panose="02070309020205020404" pitchFamily="49" charset="0"/>
              </a:rPr>
              <a:t>main</a:t>
            </a:r>
            <a:r>
              <a:rPr lang="lv-LV" altLang="en-US" sz="1800" dirty="0">
                <a:latin typeface="Courier New" panose="02070309020205020404" pitchFamily="49" charset="0"/>
              </a:rPr>
              <a:t>()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{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</a:t>
            </a:r>
            <a:r>
              <a:rPr lang="lv-LV" altLang="en-US" sz="1800" dirty="0" err="1">
                <a:latin typeface="Courier New" panose="02070309020205020404" pitchFamily="49" charset="0"/>
              </a:rPr>
              <a:t>int</a:t>
            </a:r>
            <a:r>
              <a:rPr lang="lv-LV" altLang="en-US" sz="1800" dirty="0">
                <a:latin typeface="Courier New" panose="02070309020205020404" pitchFamily="49" charset="0"/>
              </a:rPr>
              <a:t> m=5, n=8;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</a:t>
            </a:r>
            <a:r>
              <a:rPr lang="lv-LV" altLang="en-US" sz="1800" dirty="0" err="1">
                <a:latin typeface="Courier New" panose="02070309020205020404" pitchFamily="49" charset="0"/>
              </a:rPr>
              <a:t>inc</a:t>
            </a:r>
            <a:r>
              <a:rPr lang="lv-LV" altLang="en-US" sz="1800" dirty="0">
                <a:latin typeface="Courier New" panose="02070309020205020404" pitchFamily="49" charset="0"/>
              </a:rPr>
              <a:t>(</a:t>
            </a:r>
            <a:r>
              <a:rPr lang="lv-LV" altLang="en-US" sz="1800" dirty="0" err="1">
                <a:latin typeface="Courier New" panose="02070309020205020404" pitchFamily="49" charset="0"/>
              </a:rPr>
              <a:t>m,n</a:t>
            </a:r>
            <a:r>
              <a:rPr lang="lv-LV" altLang="en-US" sz="1800" dirty="0">
                <a:latin typeface="Courier New" panose="02070309020205020404" pitchFamily="49" charset="0"/>
              </a:rPr>
              <a:t>);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</a:t>
            </a:r>
            <a:r>
              <a:rPr lang="lv-LV" altLang="en-US" sz="1800" dirty="0" err="1">
                <a:latin typeface="Courier New" panose="02070309020205020404" pitchFamily="49" charset="0"/>
              </a:rPr>
              <a:t>cout</a:t>
            </a:r>
            <a:r>
              <a:rPr lang="lv-LV" altLang="en-US" sz="1800" dirty="0">
                <a:latin typeface="Courier New" panose="02070309020205020404" pitchFamily="49" charset="0"/>
              </a:rPr>
              <a:t> &lt;&lt; "m: " &lt;&lt; m &lt;&lt; </a:t>
            </a:r>
            <a:r>
              <a:rPr lang="lv-LV" altLang="en-US" sz="1800" dirty="0" err="1">
                <a:latin typeface="Courier New" panose="02070309020205020404" pitchFamily="49" charset="0"/>
              </a:rPr>
              <a:t>endl</a:t>
            </a:r>
            <a:r>
              <a:rPr lang="lv-LV" altLang="en-US" sz="1800" dirty="0">
                <a:latin typeface="Courier New" panose="02070309020205020404" pitchFamily="49" charset="0"/>
              </a:rPr>
              <a:t>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</a:t>
            </a:r>
            <a:r>
              <a:rPr lang="lv-LV" altLang="en-US" sz="1800" dirty="0" err="1">
                <a:latin typeface="Courier New" panose="02070309020205020404" pitchFamily="49" charset="0"/>
              </a:rPr>
              <a:t>system</a:t>
            </a:r>
            <a:r>
              <a:rPr lang="lv-LV" altLang="en-US" sz="1800" dirty="0">
                <a:latin typeface="Courier New" panose="02070309020205020404" pitchFamily="49" charset="0"/>
              </a:rPr>
              <a:t>("</a:t>
            </a:r>
            <a:r>
              <a:rPr lang="lv-LV" altLang="en-US" sz="1800" dirty="0" err="1">
                <a:latin typeface="Courier New" panose="02070309020205020404" pitchFamily="49" charset="0"/>
              </a:rPr>
              <a:t>pause</a:t>
            </a:r>
            <a:r>
              <a:rPr lang="lv-LV" altLang="en-US" sz="1800" dirty="0">
                <a:latin typeface="Courier New" panose="02070309020205020404" pitchFamily="49" charset="0"/>
              </a:rPr>
              <a:t>");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    </a:t>
            </a:r>
            <a:r>
              <a:rPr lang="lv-LV" altLang="en-US" sz="1800" dirty="0" err="1">
                <a:latin typeface="Courier New" panose="02070309020205020404" pitchFamily="49" charset="0"/>
              </a:rPr>
              <a:t>return</a:t>
            </a:r>
            <a:r>
              <a:rPr lang="lv-LV" altLang="en-US" sz="1800" dirty="0">
                <a:latin typeface="Courier New" panose="02070309020205020404" pitchFamily="49" charset="0"/>
              </a:rPr>
              <a:t> 0;</a:t>
            </a:r>
          </a:p>
          <a:p>
            <a:pPr marL="534988" indent="-534988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800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FFD38BBA-B461-4531-90C2-C490C2C94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516563"/>
            <a:ext cx="8228012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indent="-1825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If you want to be sure that the parameters will not be changed by function, use the </a:t>
            </a:r>
            <a:r>
              <a:rPr lang="en-US" altLang="en-US" b="1" dirty="0">
                <a:latin typeface="Times New Roman" panose="02020603050405020304" pitchFamily="18" charset="0"/>
              </a:rPr>
              <a:t>const</a:t>
            </a:r>
            <a:r>
              <a:rPr lang="en-US" altLang="en-US" dirty="0">
                <a:latin typeface="Times New Roman" panose="02020603050405020304" pitchFamily="18" charset="0"/>
              </a:rPr>
              <a:t> modifier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endParaRPr lang="lv-LV" altLang="en-US" dirty="0">
              <a:latin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Best programming practice is to use </a:t>
            </a:r>
            <a:r>
              <a:rPr lang="en-US" altLang="en-US" b="1" dirty="0">
                <a:latin typeface="Times New Roman" panose="02020603050405020304" pitchFamily="18" charset="0"/>
              </a:rPr>
              <a:t>const </a:t>
            </a:r>
            <a:r>
              <a:rPr lang="en-US" altLang="en-US" dirty="0">
                <a:latin typeface="Times New Roman" panose="02020603050405020304" pitchFamily="18" charset="0"/>
              </a:rPr>
              <a:t>modifier with every parameter which values you do not plan to modify</a:t>
            </a:r>
            <a:r>
              <a:rPr lang="lv-LV" altLang="en-US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F656F82-D13D-4744-8B78-0CC0565A04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Types</a:t>
            </a:r>
            <a:r>
              <a:rPr lang="lv-LV" altLang="en-US" dirty="0"/>
              <a:t> </a:t>
            </a:r>
            <a:r>
              <a:rPr lang="lv-LV" altLang="en-US" dirty="0" err="1"/>
              <a:t>of</a:t>
            </a:r>
            <a:r>
              <a:rPr lang="lv-LV" altLang="en-US" dirty="0"/>
              <a:t> </a:t>
            </a:r>
            <a:r>
              <a:rPr lang="lv-LV" altLang="en-US" dirty="0" err="1"/>
              <a:t>variables</a:t>
            </a:r>
            <a:endParaRPr lang="lv-LV" alt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56F5E95-8E94-474A-BAA1-2092F617E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lv-LV" altLang="en-US" sz="4400" dirty="0" err="1"/>
              <a:t>Local</a:t>
            </a:r>
            <a:r>
              <a:rPr lang="lv-LV" altLang="en-US" sz="4400" dirty="0"/>
              <a:t>
</a:t>
            </a:r>
            <a:r>
              <a:rPr lang="lv-LV" altLang="en-US" sz="4400" dirty="0" err="1"/>
              <a:t>Global</a:t>
            </a:r>
            <a:r>
              <a:rPr lang="lv-LV" altLang="en-US" sz="4400" dirty="0"/>
              <a:t>
</a:t>
            </a:r>
            <a:r>
              <a:rPr lang="lv-LV" altLang="en-US" sz="4400" dirty="0" err="1"/>
              <a:t>Static</a:t>
            </a:r>
            <a:endParaRPr lang="en-US" altLang="en-US" sz="4400" dirty="0"/>
          </a:p>
          <a:p>
            <a:endParaRPr lang="en-US" altLang="en-US" sz="4400" dirty="0"/>
          </a:p>
          <a:p>
            <a:pPr marL="0" indent="0">
              <a:buNone/>
            </a:pPr>
            <a:r>
              <a:rPr lang="en-US" b="1" dirty="0"/>
              <a:t>Variable Scope</a:t>
            </a:r>
            <a:r>
              <a:rPr lang="en-US" dirty="0"/>
              <a:t> is a region in a program where a variable is declared and used.</a:t>
            </a:r>
            <a:endParaRPr lang="lv-LV" alt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4506AAC-BEA4-4D39-BF0D-B29A511EB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Local</a:t>
            </a:r>
            <a:r>
              <a:rPr lang="lv-LV" altLang="en-US" dirty="0"/>
              <a:t> </a:t>
            </a:r>
            <a:r>
              <a:rPr lang="lv-LV" altLang="en-US" dirty="0" err="1"/>
              <a:t>variables</a:t>
            </a:r>
            <a:r>
              <a:rPr lang="lv-LV" altLang="en-US" dirty="0"/>
              <a:t>
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8D55EB9-922B-4C74-8F7B-CFA154876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504" y="1383655"/>
            <a:ext cx="8928992" cy="2765425"/>
          </a:xfrm>
        </p:spPr>
        <p:txBody>
          <a:bodyPr/>
          <a:lstStyle/>
          <a:p>
            <a:pPr marL="274638" indent="-274638"/>
            <a:r>
              <a:rPr lang="en-US" sz="2800" b="1" dirty="0"/>
              <a:t>Variables</a:t>
            </a:r>
            <a:r>
              <a:rPr lang="en-US" sz="2800" dirty="0"/>
              <a:t> that are declared inside a function or a block are called </a:t>
            </a:r>
            <a:r>
              <a:rPr lang="en-US" sz="2800" b="1" dirty="0"/>
              <a:t>local variables</a:t>
            </a:r>
            <a:r>
              <a:rPr lang="en-US" sz="2800" dirty="0"/>
              <a:t> and belongs to </a:t>
            </a:r>
            <a:r>
              <a:rPr lang="en-US" sz="2800" b="1" dirty="0"/>
              <a:t>local</a:t>
            </a:r>
            <a:r>
              <a:rPr lang="en-US" sz="2800" dirty="0"/>
              <a:t> scope. These </a:t>
            </a:r>
            <a:r>
              <a:rPr lang="en-US" sz="2800" b="1" dirty="0"/>
              <a:t>local variables</a:t>
            </a:r>
            <a:r>
              <a:rPr lang="en-US" sz="2800" dirty="0"/>
              <a:t> can only be used within the function or block in which these are declared </a:t>
            </a:r>
            <a:r>
              <a:rPr lang="en-US" altLang="en-US" sz="2800" dirty="0"/>
              <a:t>(</a:t>
            </a:r>
            <a:r>
              <a:rPr lang="en-US" altLang="en-US" sz="2800" i="1" dirty="0"/>
              <a:t>which also called by vision/existence area</a:t>
            </a:r>
            <a:r>
              <a:rPr lang="en-US" altLang="en-US" sz="2800" dirty="0"/>
              <a:t>).
Vision/Existence area -</a:t>
            </a:r>
            <a:r>
              <a:rPr lang="en-US" sz="2800" dirty="0"/>
              <a:t> block in which variable is declared</a:t>
            </a:r>
            <a:r>
              <a:rPr lang="en-US" altLang="en-US" sz="2800" dirty="0"/>
              <a:t>.</a:t>
            </a:r>
            <a:endParaRPr lang="lv-LV" altLang="en-US" sz="2800" dirty="0"/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807BC9E5-E5A6-44E6-AC01-0A2859B94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508500"/>
            <a:ext cx="6045245" cy="2031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lv-LV" altLang="en-US" dirty="0" err="1"/>
              <a:t>Example</a:t>
            </a:r>
            <a:r>
              <a:rPr lang="lv-LV" altLang="en-US" dirty="0"/>
              <a:t>: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{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...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a; </a:t>
            </a:r>
            <a:r>
              <a:rPr lang="lv-LV" altLang="en-US" i="1" dirty="0">
                <a:latin typeface="Courier New" panose="02070309020205020404" pitchFamily="49" charset="0"/>
              </a:rPr>
              <a:t>//</a:t>
            </a:r>
            <a:r>
              <a:rPr lang="en-US" altLang="en-US" i="1" dirty="0">
                <a:latin typeface="Courier New" panose="02070309020205020404" pitchFamily="49" charset="0"/>
              </a:rPr>
              <a:t>variable</a:t>
            </a:r>
            <a:r>
              <a:rPr lang="lv-LV" altLang="en-US" i="1" dirty="0">
                <a:latin typeface="Courier New" panose="02070309020205020404" pitchFamily="49" charset="0"/>
              </a:rPr>
              <a:t> </a:t>
            </a:r>
            <a:r>
              <a:rPr lang="lv-LV" altLang="en-US" b="1" i="1" dirty="0">
                <a:latin typeface="Courier New" panose="02070309020205020404" pitchFamily="49" charset="0"/>
              </a:rPr>
              <a:t>a</a:t>
            </a:r>
            <a:r>
              <a:rPr lang="lv-LV" altLang="en-US" i="1" dirty="0">
                <a:latin typeface="Courier New" panose="02070309020205020404" pitchFamily="49" charset="0"/>
              </a:rPr>
              <a:t> </a:t>
            </a:r>
            <a:r>
              <a:rPr lang="en-US" altLang="en-US" i="1" dirty="0">
                <a:latin typeface="Courier New" panose="02070309020205020404" pitchFamily="49" charset="0"/>
              </a:rPr>
              <a:t>can be use from here</a:t>
            </a:r>
            <a:endParaRPr lang="lv-LV" altLang="en-US" i="1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...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dirty="0">
                <a:latin typeface="Courier New" panose="02070309020205020404" pitchFamily="49" charset="0"/>
              </a:rPr>
              <a:t>}</a:t>
            </a:r>
          </a:p>
          <a:p>
            <a:pPr>
              <a:buClr>
                <a:srgbClr val="0000FF"/>
              </a:buClr>
              <a:buFontTx/>
              <a:buAutoNum type="arabicPeriod"/>
            </a:pPr>
            <a:r>
              <a:rPr lang="lv-LV" altLang="en-US" i="1" dirty="0">
                <a:latin typeface="Courier New" panose="02070309020205020404" pitchFamily="49" charset="0"/>
              </a:rPr>
              <a:t>// </a:t>
            </a:r>
            <a:r>
              <a:rPr lang="en-US" altLang="en-US" i="1" dirty="0">
                <a:latin typeface="Courier New" panose="02070309020205020404" pitchFamily="49" charset="0"/>
              </a:rPr>
              <a:t>variable</a:t>
            </a:r>
            <a:r>
              <a:rPr lang="lv-LV" altLang="en-US" i="1" dirty="0">
                <a:latin typeface="Courier New" panose="02070309020205020404" pitchFamily="49" charset="0"/>
              </a:rPr>
              <a:t> </a:t>
            </a:r>
            <a:r>
              <a:rPr lang="lv-LV" altLang="en-US" b="1" i="1" dirty="0">
                <a:latin typeface="Courier New" panose="02070309020205020404" pitchFamily="49" charset="0"/>
              </a:rPr>
              <a:t>a</a:t>
            </a:r>
            <a:r>
              <a:rPr lang="lv-LV" altLang="en-US" i="1" dirty="0">
                <a:latin typeface="Courier New" panose="02070309020205020404" pitchFamily="49" charset="0"/>
              </a:rPr>
              <a:t> </a:t>
            </a:r>
            <a:r>
              <a:rPr lang="en-US" altLang="en-US" i="1" dirty="0">
                <a:latin typeface="Courier New" panose="02070309020205020404" pitchFamily="49" charset="0"/>
              </a:rPr>
              <a:t>is not more accessible</a:t>
            </a:r>
            <a:endParaRPr lang="lv-LV" altLang="en-US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E80D0BD-021C-4876-BABC-60B5D652A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9538"/>
            <a:ext cx="8229600" cy="1143000"/>
          </a:xfrm>
        </p:spPr>
        <p:txBody>
          <a:bodyPr/>
          <a:lstStyle/>
          <a:p>
            <a:r>
              <a:rPr lang="lv-LV" altLang="en-US" dirty="0" err="1"/>
              <a:t>Global</a:t>
            </a:r>
            <a:r>
              <a:rPr lang="lv-LV" altLang="en-US" dirty="0"/>
              <a:t> </a:t>
            </a:r>
            <a:r>
              <a:rPr lang="lv-LV" altLang="en-US" dirty="0" err="1"/>
              <a:t>variables</a:t>
            </a:r>
            <a:r>
              <a:rPr lang="lv-LV" altLang="en-US" dirty="0"/>
              <a:t>
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80B19A3-418A-4274-9420-0A167B94E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4743"/>
            <a:ext cx="8569325" cy="2245519"/>
          </a:xfrm>
        </p:spPr>
        <p:txBody>
          <a:bodyPr/>
          <a:lstStyle/>
          <a:p>
            <a:pPr marL="352425" indent="-352425"/>
            <a:r>
              <a:rPr lang="en-US" altLang="en-US" sz="2400" dirty="0"/>
              <a:t>Variables that are defined outside of all functions are accessible throughout the program and called by </a:t>
            </a:r>
            <a:r>
              <a:rPr lang="en-US" altLang="en-US" sz="2400" b="1" dirty="0"/>
              <a:t>global variables. </a:t>
            </a:r>
          </a:p>
          <a:p>
            <a:pPr marL="352425" indent="-352425"/>
            <a:r>
              <a:rPr lang="en-US" altLang="en-US" sz="2400" b="1" dirty="0"/>
              <a:t>Global variables</a:t>
            </a:r>
            <a:r>
              <a:rPr lang="en-US" altLang="en-US" sz="2400" dirty="0"/>
              <a:t> belong to </a:t>
            </a:r>
            <a:r>
              <a:rPr lang="en-US" altLang="en-US" sz="2400" b="1" dirty="0"/>
              <a:t>global scope</a:t>
            </a:r>
            <a:r>
              <a:rPr lang="en-US" altLang="en-US" sz="2400" dirty="0"/>
              <a:t>. Once declared, its can be accessed by any function in the program.</a:t>
            </a:r>
          </a:p>
          <a:p>
            <a:pPr marL="352425" indent="-352425"/>
            <a:r>
              <a:rPr lang="en-US" altLang="en-US" sz="2400" dirty="0"/>
              <a:t>Existence/Vision area –</a:t>
            </a:r>
            <a:r>
              <a:rPr lang="en-US" sz="2400" dirty="0"/>
              <a:t> all program</a:t>
            </a:r>
            <a:r>
              <a:rPr lang="en-US" altLang="en-US" sz="2400" dirty="0"/>
              <a:t>.</a:t>
            </a:r>
            <a:endParaRPr lang="lv-LV" altLang="en-US" sz="2400" dirty="0"/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E8AC62E1-A0C7-4D23-9587-103C4452A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46450"/>
            <a:ext cx="6624637" cy="3397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FF"/>
              </a:buClr>
            </a:pPr>
            <a:r>
              <a:rPr lang="lv-LV" altLang="en-US" dirty="0" err="1">
                <a:latin typeface="Times New Roman" panose="02020603050405020304" pitchFamily="18" charset="0"/>
              </a:rPr>
              <a:t>Example</a:t>
            </a:r>
            <a:r>
              <a:rPr lang="lv-LV" altLang="en-US" dirty="0">
                <a:latin typeface="Times New Roman" panose="02020603050405020304" pitchFamily="18" charset="0"/>
              </a:rPr>
              <a:t>: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g; </a:t>
            </a:r>
            <a:r>
              <a:rPr lang="lv-LV" altLang="en-US" i="1" dirty="0">
                <a:latin typeface="Courier New" panose="02070309020205020404" pitchFamily="49" charset="0"/>
              </a:rPr>
              <a:t>// </a:t>
            </a:r>
            <a:r>
              <a:rPr lang="en-US" altLang="en-US" i="1" dirty="0">
                <a:latin typeface="Courier New" panose="02070309020205020404" pitchFamily="49" charset="0"/>
              </a:rPr>
              <a:t>global variable</a:t>
            </a:r>
            <a:endParaRPr lang="lv-LV" altLang="en-US" i="1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i="1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r>
              <a:rPr lang="lv-LV" altLang="en-US" dirty="0" err="1">
                <a:latin typeface="Courier New" panose="02070309020205020404" pitchFamily="49" charset="0"/>
              </a:rPr>
              <a:t>void</a:t>
            </a:r>
            <a:r>
              <a:rPr lang="lv-LV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latin typeface="Courier New" panose="02070309020205020404" pitchFamily="49" charset="0"/>
              </a:rPr>
              <a:t>function</a:t>
            </a:r>
            <a:r>
              <a:rPr lang="lv-LV" altLang="en-US" dirty="0">
                <a:latin typeface="Courier New" panose="02070309020205020404" pitchFamily="49" charset="0"/>
              </a:rPr>
              <a:t> (...)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>
                <a:latin typeface="Courier New" panose="02070309020205020404" pitchFamily="49" charset="0"/>
              </a:rPr>
              <a:t> {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i="1" dirty="0">
                <a:latin typeface="Courier New" panose="02070309020205020404" pitchFamily="49" charset="0"/>
              </a:rPr>
              <a:t> 	//</a:t>
            </a:r>
            <a:r>
              <a:rPr lang="en-US" altLang="en-US" b="1" i="1" dirty="0">
                <a:latin typeface="Courier New" panose="02070309020205020404" pitchFamily="49" charset="0"/>
              </a:rPr>
              <a:t>g </a:t>
            </a:r>
            <a:r>
              <a:rPr lang="en-US" altLang="en-US" i="1" dirty="0">
                <a:latin typeface="Courier New" panose="02070309020205020404" pitchFamily="49" charset="0"/>
              </a:rPr>
              <a:t>can be used here</a:t>
            </a:r>
            <a:endParaRPr lang="lv-LV" altLang="en-US" b="1" i="1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>
                <a:latin typeface="Courier New" panose="02070309020205020404" pitchFamily="49" charset="0"/>
              </a:rPr>
              <a:t> }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i="1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>
                <a:latin typeface="Courier New" panose="02070309020205020404" pitchFamily="49" charset="0"/>
              </a:rPr>
              <a:t> </a:t>
            </a:r>
            <a:r>
              <a:rPr lang="lv-LV" altLang="en-US" dirty="0" err="1">
                <a:latin typeface="Courier New" panose="02070309020205020404" pitchFamily="49" charset="0"/>
              </a:rPr>
              <a:t>int</a:t>
            </a:r>
            <a:r>
              <a:rPr lang="lv-LV" altLang="en-US" dirty="0">
                <a:latin typeface="Courier New" panose="02070309020205020404" pitchFamily="49" charset="0"/>
              </a:rPr>
              <a:t> </a:t>
            </a:r>
            <a:r>
              <a:rPr lang="lv-LV" altLang="en-US" dirty="0" err="1">
                <a:latin typeface="Courier New" panose="02070309020205020404" pitchFamily="49" charset="0"/>
              </a:rPr>
              <a:t>main</a:t>
            </a:r>
            <a:r>
              <a:rPr lang="lv-LV" altLang="en-US" dirty="0">
                <a:latin typeface="Courier New" panose="02070309020205020404" pitchFamily="49" charset="0"/>
              </a:rPr>
              <a:t> ()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>
                <a:latin typeface="Courier New" panose="02070309020205020404" pitchFamily="49" charset="0"/>
              </a:rPr>
              <a:t> {</a:t>
            </a: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i="1" dirty="0">
                <a:latin typeface="Courier New" panose="02070309020205020404" pitchFamily="49" charset="0"/>
              </a:rPr>
              <a:t> 	//</a:t>
            </a:r>
            <a:r>
              <a:rPr lang="en-US" altLang="en-US" i="1" dirty="0">
                <a:latin typeface="Courier New" panose="02070309020205020404" pitchFamily="49" charset="0"/>
              </a:rPr>
              <a:t>and </a:t>
            </a:r>
            <a:r>
              <a:rPr lang="en-US" altLang="en-US" b="1" i="1" dirty="0">
                <a:latin typeface="Courier New" panose="02070309020205020404" pitchFamily="49" charset="0"/>
              </a:rPr>
              <a:t>g </a:t>
            </a:r>
            <a:r>
              <a:rPr lang="en-US" altLang="en-US" i="1" dirty="0">
                <a:latin typeface="Courier New" panose="02070309020205020404" pitchFamily="49" charset="0"/>
              </a:rPr>
              <a:t>can be used here</a:t>
            </a:r>
            <a:endParaRPr lang="lv-LV" altLang="en-US" i="1" dirty="0">
              <a:latin typeface="Courier New" panose="02070309020205020404" pitchFamily="49" charset="0"/>
            </a:endParaRPr>
          </a:p>
          <a:p>
            <a:pPr>
              <a:buClr>
                <a:srgbClr val="0000FF"/>
              </a:buClr>
              <a:buFontTx/>
              <a:buChar char="•"/>
            </a:pPr>
            <a:r>
              <a:rPr lang="lv-LV" altLang="en-US" dirty="0">
                <a:latin typeface="Courier New" panose="02070309020205020404" pitchFamily="49" charset="0"/>
              </a:rPr>
              <a:t> 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E03F1FB-1C29-4355-914E-F3F22F254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altLang="en-US" dirty="0" err="1"/>
              <a:t>Global</a:t>
            </a:r>
            <a:r>
              <a:rPr lang="lv-LV" altLang="en-US" dirty="0"/>
              <a:t> </a:t>
            </a:r>
            <a:r>
              <a:rPr lang="lv-LV" altLang="en-US" dirty="0" err="1"/>
              <a:t>variables</a:t>
            </a:r>
            <a:r>
              <a:rPr lang="en-US" altLang="en-US" dirty="0"/>
              <a:t> - Example</a:t>
            </a:r>
            <a:endParaRPr lang="lv-LV" altLang="en-US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EDCDC33-F447-448B-A665-4CA5E9841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52538"/>
            <a:ext cx="8229600" cy="551656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int glb_i = 42;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void Inc()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++glb_i;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void Dec()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--glb_i;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endParaRPr lang="lv-LV" altLang="en-US" sz="16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int main()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cout &lt;&lt; "Initial value:" &lt;&lt; glb_i &lt;&lt; endl;//42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Inc();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cout &lt;&lt; "After Inc():" &lt;&lt; glb_i &lt;&lt; endl;//43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Dec();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cout &lt;&lt; "After Dec():" &lt;&lt; glb_i &lt;&lt; endl;//42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system("pause");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    return 0;</a:t>
            </a:r>
          </a:p>
          <a:p>
            <a:pPr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1600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94E29E15-80E1-4ECA-B37E-CA0714662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5953125"/>
            <a:ext cx="37052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EA07926-CE3B-4852-B30C-C302A29B4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9538"/>
            <a:ext cx="8229600" cy="1143000"/>
          </a:xfrm>
        </p:spPr>
        <p:txBody>
          <a:bodyPr/>
          <a:lstStyle/>
          <a:p>
            <a:r>
              <a:rPr lang="en-US" altLang="en-US" dirty="0"/>
              <a:t>S</a:t>
            </a:r>
            <a:r>
              <a:rPr lang="lv-LV" altLang="en-US" dirty="0" err="1"/>
              <a:t>tatic</a:t>
            </a:r>
            <a:r>
              <a:rPr lang="lv-LV" altLang="en-US" dirty="0"/>
              <a:t> </a:t>
            </a:r>
            <a:r>
              <a:rPr lang="lv-LV" altLang="en-US" dirty="0" err="1"/>
              <a:t>variables</a:t>
            </a:r>
            <a:endParaRPr lang="lv-LV" altLang="en-US" dirty="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DAA04EA-B262-4CCD-97BC-A9E5687A9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569325" cy="5314950"/>
          </a:xfrm>
        </p:spPr>
        <p:txBody>
          <a:bodyPr/>
          <a:lstStyle/>
          <a:p>
            <a:pPr marL="352425" indent="-352425"/>
            <a:r>
              <a:rPr lang="en-US" altLang="en-US" dirty="0"/>
              <a:t>Function local variables that store values between function calls.
</a:t>
            </a:r>
            <a:r>
              <a:rPr lang="lv-LV" altLang="en-US" dirty="0" err="1"/>
              <a:t>De</a:t>
            </a:r>
            <a:r>
              <a:rPr lang="en-US" altLang="en-US" dirty="0"/>
              <a:t>fine</a:t>
            </a:r>
            <a:r>
              <a:rPr lang="lv-LV" altLang="en-US" dirty="0"/>
              <a:t> </a:t>
            </a:r>
            <a:r>
              <a:rPr lang="lv-LV" altLang="en-US" dirty="0" err="1"/>
              <a:t>using</a:t>
            </a:r>
            <a:r>
              <a:rPr lang="lv-LV" altLang="en-US" dirty="0"/>
              <a:t> </a:t>
            </a:r>
            <a:r>
              <a:rPr lang="lv-LV" altLang="en-US" dirty="0" err="1"/>
              <a:t>modifier</a:t>
            </a:r>
            <a:r>
              <a:rPr lang="lv-LV" altLang="en-US" dirty="0"/>
              <a:t> </a:t>
            </a:r>
            <a:r>
              <a:rPr lang="lv-LV" altLang="en-US" dirty="0" err="1">
                <a:latin typeface="Courier New" panose="02070309020205020404" pitchFamily="49" charset="0"/>
              </a:rPr>
              <a:t>static</a:t>
            </a:r>
            <a:r>
              <a:rPr lang="lv-LV" altLang="en-US" i="1" dirty="0"/>
              <a:t>,</a:t>
            </a:r>
            <a:r>
              <a:rPr lang="lv-LV" altLang="en-US" dirty="0"/>
              <a:t> </a:t>
            </a:r>
            <a:r>
              <a:rPr lang="en-US" altLang="en-US" dirty="0"/>
              <a:t>with obligatory initialization</a:t>
            </a:r>
            <a:r>
              <a:rPr lang="lv-LV" altLang="en-US" dirty="0"/>
              <a:t>.</a:t>
            </a:r>
          </a:p>
          <a:p>
            <a:pPr marL="352425" indent="-352425">
              <a:buFontTx/>
              <a:buNone/>
            </a:pPr>
            <a:r>
              <a:rPr lang="lv-LV" altLang="en-US" sz="2000" dirty="0">
                <a:latin typeface="Courier New" panose="02070309020205020404" pitchFamily="49" charset="0"/>
              </a:rPr>
              <a:t>	</a:t>
            </a:r>
            <a:r>
              <a:rPr lang="lv-LV" altLang="en-US" sz="2000" dirty="0" err="1">
                <a:latin typeface="Courier New" panose="02070309020205020404" pitchFamily="49" charset="0"/>
              </a:rPr>
              <a:t>static</a:t>
            </a:r>
            <a:r>
              <a:rPr lang="lv-LV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i="1" dirty="0" err="1">
                <a:latin typeface="Courier New" panose="02070309020205020404" pitchFamily="49" charset="0"/>
              </a:rPr>
              <a:t>data_type</a:t>
            </a:r>
            <a:r>
              <a:rPr lang="en-US" altLang="en-US" sz="2000" i="1" dirty="0">
                <a:latin typeface="Courier New" panose="02070309020205020404" pitchFamily="49" charset="0"/>
              </a:rPr>
              <a:t> </a:t>
            </a:r>
            <a:r>
              <a:rPr lang="en-US" altLang="en-US" sz="2000" i="1" dirty="0" err="1">
                <a:latin typeface="Courier New" panose="02070309020205020404" pitchFamily="49" charset="0"/>
              </a:rPr>
              <a:t>variable_name</a:t>
            </a:r>
            <a:r>
              <a:rPr lang="en-US" altLang="en-US" sz="2000" i="1" dirty="0">
                <a:latin typeface="Courier New" panose="02070309020205020404" pitchFamily="49" charset="0"/>
              </a:rPr>
              <a:t> </a:t>
            </a:r>
            <a:r>
              <a:rPr lang="lv-LV" altLang="en-US" sz="2000" dirty="0">
                <a:latin typeface="Courier New" panose="02070309020205020404" pitchFamily="49" charset="0"/>
              </a:rPr>
              <a:t>= </a:t>
            </a:r>
            <a:r>
              <a:rPr lang="en-US" altLang="en-US" sz="2000" dirty="0">
                <a:latin typeface="Courier New" panose="02070309020205020404" pitchFamily="49" charset="0"/>
              </a:rPr>
              <a:t>value</a:t>
            </a:r>
            <a:r>
              <a:rPr lang="lv-LV" altLang="en-US" sz="2000" dirty="0">
                <a:latin typeface="Courier New" panose="02070309020205020404" pitchFamily="49" charset="0"/>
              </a:rPr>
              <a:t>;</a:t>
            </a:r>
          </a:p>
          <a:p>
            <a:pPr marL="352425" indent="-352425"/>
            <a:r>
              <a:rPr lang="en-US" altLang="en-US" dirty="0"/>
              <a:t>It is a way of providing functions with "memory".
Existence area –</a:t>
            </a:r>
            <a:r>
              <a:rPr lang="en-US" dirty="0"/>
              <a:t> all program</a:t>
            </a:r>
            <a:r>
              <a:rPr lang="en-US" altLang="en-US" dirty="0"/>
              <a:t>.</a:t>
            </a:r>
            <a:endParaRPr lang="lv-LV" altLang="en-US" dirty="0"/>
          </a:p>
          <a:p>
            <a:pPr marL="0" indent="0">
              <a:buNone/>
            </a:pPr>
            <a:endParaRPr lang="lv-LV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9375FA8-3D3A-4AAB-89CD-97F5EB78C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</a:t>
            </a:r>
            <a:r>
              <a:rPr lang="lv-LV" altLang="en-US" dirty="0" err="1"/>
              <a:t>tatic</a:t>
            </a:r>
            <a:r>
              <a:rPr lang="lv-LV" altLang="en-US" dirty="0"/>
              <a:t> </a:t>
            </a:r>
            <a:r>
              <a:rPr lang="lv-LV" altLang="en-US" dirty="0" err="1"/>
              <a:t>variables</a:t>
            </a:r>
            <a:r>
              <a:rPr lang="en-US" altLang="en-US" dirty="0"/>
              <a:t> - Example</a:t>
            </a:r>
            <a:endParaRPr lang="lv-LV" altLang="en-US" dirty="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6C3792B-609E-4619-9189-E82BB696F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int counter ()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{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static int cnt=0;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cnt++;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return cnt;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};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lv-LV" altLang="en-US" sz="2000">
                <a:latin typeface="Courier New" panose="02070309020205020404" pitchFamily="49" charset="0"/>
              </a:rPr>
              <a:t> </a:t>
            </a:r>
            <a:endParaRPr lang="en-US" altLang="en-US" sz="2000">
              <a:latin typeface="Courier New" panose="02070309020205020404" pitchFamily="49" charset="0"/>
            </a:endParaRP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int main ()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{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for (int i=0; i&lt;5; i++)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    cout &lt;&lt; counter() &lt;&lt; endl;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system("pause");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    return 0;</a:t>
            </a:r>
          </a:p>
          <a:p>
            <a:pPr marL="381000" indent="-381000">
              <a:lnSpc>
                <a:spcPct val="80000"/>
              </a:lnSpc>
              <a:buClr>
                <a:srgbClr val="0000FF"/>
              </a:buClr>
              <a:buFontTx/>
              <a:buAutoNum type="arabicPeriod"/>
            </a:pPr>
            <a:r>
              <a:rPr lang="en-US" altLang="en-US" sz="2000">
                <a:latin typeface="Courier New" panose="02070309020205020404" pitchFamily="49" charset="0"/>
              </a:rPr>
              <a:t>}</a:t>
            </a:r>
            <a:endParaRPr lang="lv-LV" altLang="en-US" sz="2000">
              <a:latin typeface="Courier New" panose="02070309020205020404" pitchFamily="49" charset="0"/>
            </a:endParaRP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E319A8B3-2652-4FA3-BD62-A91589465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5013325"/>
            <a:ext cx="3686175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9F66535-50EC-4E4F-B10E-9E64E529B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Practice</a:t>
            </a:r>
            <a:endParaRPr lang="lv-LV" altLang="en-US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9CAB42D-72B8-450B-9CAE-BAEF81941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/>
              <a:t>Write the function that finds a greatest common divisor for two integer numbers</a:t>
            </a:r>
            <a:r>
              <a:rPr lang="lv-LV" altLang="en-US" sz="2400" dirty="0"/>
              <a:t>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/>
              <a:t>Write the function that draws a square of asterisks with a side length, equal to a function parameter. 
Write a function which answers if the value you enter is a </a:t>
            </a:r>
            <a:r>
              <a:rPr lang="en-US" altLang="en-US" sz="2400" b="1" dirty="0"/>
              <a:t>prime number</a:t>
            </a:r>
            <a:r>
              <a:rPr lang="en-US" altLang="en-US" sz="2400" dirty="0"/>
              <a:t>. </a:t>
            </a:r>
            <a:r>
              <a:rPr lang="en-US" altLang="en-US" sz="1200" dirty="0"/>
              <a:t>(A prime number (or a prime) is a natural number greater than 1 that cannot be formed by multiplying two smaller natural numbers. A natural number greater than 1 that is not prime is called a composite number. For example, 5 is prime because the only ways of writing it as a product, 1 × 5 or 5 × 1, involve 5 itself. However, 6 is composite because it is the product of two numbers (2 × 3) that are both smaller than 6.)</a:t>
            </a:r>
            <a:endParaRPr lang="lv-LV" altLang="en-US" sz="12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/>
              <a:t>Write the function which receive X and Y, and returns </a:t>
            </a:r>
            <a:r>
              <a:rPr lang="lv-LV" altLang="en-US" sz="2400" dirty="0"/>
              <a:t>X</a:t>
            </a:r>
            <a:r>
              <a:rPr lang="lv-LV" altLang="en-US" sz="2400" baseline="30000" dirty="0"/>
              <a:t>Y.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/>
              <a:t>Write a function that receives a number as a parameter, and changes its sign to the opposite</a:t>
            </a:r>
            <a:r>
              <a:rPr lang="lv-LV" altLang="en-US" sz="2400" dirty="0"/>
              <a:t>.</a:t>
            </a:r>
            <a:endParaRPr lang="en-US" altLang="en-US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/>
              <a:t>Write a function that receives the number and returns the smallest digit from this number.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/>
              <a:t>	</a:t>
            </a:r>
            <a:r>
              <a:rPr lang="lv-LV" altLang="en-US" sz="2400" dirty="0" err="1"/>
              <a:t>Example</a:t>
            </a:r>
            <a:r>
              <a:rPr lang="lv-LV" altLang="en-US" sz="2400" dirty="0"/>
              <a:t>: 57838 -&gt; 3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lv-LV" altLang="en-US" sz="2400" baseline="30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0CA976B-FACF-3AFD-1F5B-0214C2E6FA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42988" y="1773238"/>
            <a:ext cx="6858000" cy="2387600"/>
          </a:xfrm>
        </p:spPr>
        <p:txBody>
          <a:bodyPr/>
          <a:lstStyle/>
          <a:p>
            <a:pPr eaLnBrk="1" hangingPunct="1"/>
            <a:r>
              <a:rPr lang="en-US" altLang="lv-LV" sz="7200" dirty="0"/>
              <a:t>Recursive functions</a:t>
            </a:r>
            <a:endParaRPr lang="lv-LV" altLang="lv-LV" sz="7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E31A05F-6CC4-9071-6BC8-143C1CB4F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lv-LV" dirty="0"/>
              <a:t>Recursion</a:t>
            </a:r>
            <a:endParaRPr lang="lv-LV" altLang="lv-LV" dirty="0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0F81A076-2E36-0DD9-0695-43340E330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2816"/>
            <a:ext cx="8229600" cy="4310063"/>
          </a:xfrm>
        </p:spPr>
        <p:txBody>
          <a:bodyPr/>
          <a:lstStyle/>
          <a:p>
            <a:pPr eaLnBrk="1" hangingPunct="1"/>
            <a:r>
              <a:rPr lang="en-US" altLang="lv-LV" b="1" dirty="0"/>
              <a:t>Recursion</a:t>
            </a:r>
            <a:r>
              <a:rPr lang="en-US" altLang="lv-LV" dirty="0"/>
              <a:t> is a process where a function calls itself.</a:t>
            </a:r>
          </a:p>
          <a:p>
            <a:pPr eaLnBrk="1" hangingPunct="1"/>
            <a:r>
              <a:rPr lang="en-US" altLang="lv-LV" dirty="0"/>
              <a:t>Functions that call themselves are called </a:t>
            </a:r>
            <a:r>
              <a:rPr lang="en-US" altLang="lv-LV" b="1" dirty="0"/>
              <a:t>recursive</a:t>
            </a:r>
            <a:r>
              <a:rPr lang="en-US" altLang="lv-LV" dirty="0"/>
              <a:t> functions.</a:t>
            </a:r>
          </a:p>
          <a:p>
            <a:pPr eaLnBrk="1" hangingPunct="1"/>
            <a:r>
              <a:rPr lang="en-US" altLang="lv-LV" dirty="0"/>
              <a:t>In addition to </a:t>
            </a:r>
            <a:r>
              <a:rPr lang="en-US" altLang="lv-LV" b="1" dirty="0"/>
              <a:t>direct recursion</a:t>
            </a:r>
            <a:r>
              <a:rPr lang="en-US" altLang="lv-LV" dirty="0"/>
              <a:t>, where a function calls itself, </a:t>
            </a:r>
            <a:r>
              <a:rPr lang="en-US" altLang="lv-LV" b="1" dirty="0"/>
              <a:t>indirect recursion </a:t>
            </a:r>
            <a:r>
              <a:rPr lang="en-US" altLang="lv-LV" dirty="0"/>
              <a:t>is also possible – for example, when function A calls function B, and function B calls function A.</a:t>
            </a:r>
            <a:endParaRPr lang="lv-LV" altLang="lv-LV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5D689F4E-EBA2-6959-5D59-900308191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lv-LV" dirty="0"/>
              <a:t>Recursion</a:t>
            </a:r>
            <a:endParaRPr lang="lv-LV" altLang="lv-LV" dirty="0"/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0CEF9A1B-8F8C-D23F-31B0-51C5EC9C3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412875"/>
            <a:ext cx="4319588" cy="497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88" name="TextBox 3">
            <a:extLst>
              <a:ext uri="{FF2B5EF4-FFF2-40B4-BE49-F238E27FC236}">
                <a16:creationId xmlns:a16="http://schemas.microsoft.com/office/drawing/2014/main" id="{51B68A8C-9DF7-82B0-5D85-DE8C60C6B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341438"/>
            <a:ext cx="31686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lv-LV" sz="1800" dirty="0">
                <a:latin typeface="Arial" panose="020B0604020202020204" pitchFamily="34" charset="0"/>
              </a:rPr>
              <a:t>Graphical example of recursion – Koch snowflake.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lv-LV" sz="1800" dirty="0"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lv-LV" sz="1800" dirty="0">
                <a:latin typeface="Arial" panose="020B0604020202020204" pitchFamily="34" charset="0"/>
              </a:rPr>
              <a:t>At the base is a triangle; then, in each iteration, another triangle is added exactly in the middle of each triangle's side.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lv-LV" sz="1800" dirty="0"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lv-LV" sz="1800" dirty="0">
                <a:latin typeface="Arial" panose="020B0604020202020204" pitchFamily="34" charset="0"/>
              </a:rPr>
              <a:t>In fact, each line is a recursive function that calls the division function for itself. The divided lines, in turn, perform the same operation for themselves again, and so on...</a:t>
            </a:r>
            <a:endParaRPr lang="lv-LV" altLang="lv-LV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392D55C7-ED7A-DABE-08D3-8A1624191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lv-LV" dirty="0"/>
              <a:t>Recursive functions</a:t>
            </a:r>
            <a:endParaRPr lang="lv-LV" altLang="lv-LV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3A6B959-EDF8-3A6A-6ECF-85D59A32CC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71625"/>
            <a:ext cx="8229600" cy="4554538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lv-LV" sz="2400" dirty="0"/>
              <a:t>In many cases, recursive functions are very convenient to use; however, they must be applied with caution, as the recursive variants of many functions execute significantly slower.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lv-LV" sz="2400" dirty="0"/>
              <a:t>When developing a recursive function, it is essential to include a conditional operator that ensures an exit from the recursive loop. If this is not implemented, the function will continue to call itself indefinitely, resulting in a stack overflow.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altLang="lv-LV" sz="2400" dirty="0"/>
              <a:t>A stack overflow occurs because the function's parameters and local variables are stored in the stack, and for each new call, a new memory area is allocated.</a:t>
            </a:r>
            <a:endParaRPr lang="lv-LV" altLang="lv-LV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8F8D7908-01F5-CAB5-740D-47D733912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lv-LV" dirty="0"/>
              <a:t>Recursive function example</a:t>
            </a:r>
            <a:endParaRPr lang="lv-LV" altLang="lv-LV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5B4C3AA7-72CC-2ED7-E128-BBF2E29A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600200"/>
            <a:ext cx="7972425" cy="497205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lv-LV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lv-LV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int fact(int num)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   if (num &lt;= 1) return 1;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   else return num * fact(num-1);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lv-LV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lv-LV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   cout &lt;&lt; fact(</a:t>
            </a:r>
            <a:r>
              <a:rPr lang="lv-LV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) &lt;&lt; endl;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   system ("pause");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    return 0; 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lv-LV" altLang="lv-LV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4036" name="Picture 7">
            <a:extLst>
              <a:ext uri="{FF2B5EF4-FFF2-40B4-BE49-F238E27FC236}">
                <a16:creationId xmlns:a16="http://schemas.microsoft.com/office/drawing/2014/main" id="{77771086-34DB-5AFF-6DF6-6225893B8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17"/>
          <a:stretch>
            <a:fillRect/>
          </a:stretch>
        </p:blipFill>
        <p:spPr bwMode="auto">
          <a:xfrm>
            <a:off x="3929063" y="6170613"/>
            <a:ext cx="45434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73FE5CC8-1A0A-35AA-8AD0-DF26EE2FB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lv-LV" dirty="0"/>
              <a:t>Recursive function example</a:t>
            </a:r>
            <a:endParaRPr lang="lv-LV" altLang="lv-LV" dirty="0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EE9858ED-B5A5-03AC-4C15-A330C1C58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471613"/>
            <a:ext cx="3714750" cy="1143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int fact(</a:t>
            </a:r>
            <a:r>
              <a:rPr lang="lv-LV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    if (num &lt;= 1) return 1;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    else return num * </a:t>
            </a:r>
            <a:r>
              <a:rPr lang="en-US" altLang="lv-LV" sz="1200" b="1">
                <a:latin typeface="Courier New" panose="02070309020205020404" pitchFamily="49" charset="0"/>
                <a:cs typeface="Courier New" panose="02070309020205020404" pitchFamily="49" charset="0"/>
              </a:rPr>
              <a:t>fact(</a:t>
            </a:r>
            <a:r>
              <a:rPr lang="lv-LV" altLang="lv-LV" sz="1200" b="1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lv-LV" sz="1200" b="1">
                <a:latin typeface="Courier New" panose="02070309020205020404" pitchFamily="49" charset="0"/>
                <a:cs typeface="Courier New" panose="02070309020205020404" pitchFamily="49" charset="0"/>
              </a:rPr>
              <a:t>-1)</a:t>
            </a: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47675" indent="-447675" eaLnBrk="1" hangingPunct="1">
              <a:buClr>
                <a:srgbClr val="0000FF"/>
              </a:buClr>
              <a:buFont typeface="Times New Roman" panose="02020603050405020304" pitchFamily="18" charset="0"/>
              <a:buAutoNum type="arabicPeriod"/>
            </a:pPr>
            <a:r>
              <a:rPr lang="en-US" altLang="lv-LV" sz="12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EAD2DA-C1D7-DBAF-7DD3-69AB61905B9C}"/>
              </a:ext>
            </a:extLst>
          </p:cNvPr>
          <p:cNvSpPr txBox="1">
            <a:spLocks/>
          </p:cNvSpPr>
          <p:nvPr/>
        </p:nvSpPr>
        <p:spPr bwMode="auto">
          <a:xfrm>
            <a:off x="785813" y="2757488"/>
            <a:ext cx="371475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+mj-lt"/>
              <a:buAutoNum type="arabicPeriod"/>
              <a:defRPr/>
            </a:pPr>
            <a:r>
              <a:rPr lang="en-US" sz="1200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fact(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   if (num &lt;= 1) return 1;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   else return num * </a:t>
            </a:r>
            <a:r>
              <a:rPr lang="en-US" sz="1200" b="1" kern="0" dirty="0">
                <a:latin typeface="Courier New" pitchFamily="49" charset="0"/>
                <a:cs typeface="Courier New" pitchFamily="49" charset="0"/>
              </a:rPr>
              <a:t>fact(</a:t>
            </a:r>
            <a:r>
              <a:rPr lang="lv-LV" sz="1200" b="1" kern="0" dirty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200" b="1" kern="0" dirty="0">
                <a:latin typeface="Courier New" pitchFamily="49" charset="0"/>
                <a:cs typeface="Courier New" pitchFamily="49" charset="0"/>
              </a:rPr>
              <a:t>-1)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A5E990-14D9-7431-7495-BF4AF1BFA32F}"/>
              </a:ext>
            </a:extLst>
          </p:cNvPr>
          <p:cNvSpPr txBox="1">
            <a:spLocks/>
          </p:cNvSpPr>
          <p:nvPr/>
        </p:nvSpPr>
        <p:spPr bwMode="auto">
          <a:xfrm>
            <a:off x="1285875" y="4043363"/>
            <a:ext cx="371475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+mj-lt"/>
              <a:buAutoNum type="arabicPeriod"/>
              <a:defRPr/>
            </a:pPr>
            <a:r>
              <a:rPr lang="en-US" sz="1200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fact(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   if (num &lt;= 1) return 1;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   else return num * </a:t>
            </a:r>
            <a:r>
              <a:rPr lang="en-US" sz="1200" b="1" kern="0" dirty="0">
                <a:latin typeface="Courier New" pitchFamily="49" charset="0"/>
                <a:cs typeface="Courier New" pitchFamily="49" charset="0"/>
              </a:rPr>
              <a:t>fact(</a:t>
            </a:r>
            <a:r>
              <a:rPr lang="lv-LV" sz="1200" b="1" kern="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b="1" kern="0" dirty="0">
                <a:latin typeface="Courier New" pitchFamily="49" charset="0"/>
                <a:cs typeface="Courier New" pitchFamily="49" charset="0"/>
              </a:rPr>
              <a:t>-1)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3EEDA6-7D29-2E30-22EA-601841115FAB}"/>
              </a:ext>
            </a:extLst>
          </p:cNvPr>
          <p:cNvSpPr txBox="1">
            <a:spLocks/>
          </p:cNvSpPr>
          <p:nvPr/>
        </p:nvSpPr>
        <p:spPr bwMode="auto">
          <a:xfrm>
            <a:off x="1714500" y="5329238"/>
            <a:ext cx="371475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+mj-lt"/>
              <a:buAutoNum type="arabicPeriod"/>
              <a:defRPr/>
            </a:pPr>
            <a:r>
              <a:rPr lang="en-US" sz="1200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fact(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   if (num &lt;= 1) </a:t>
            </a:r>
            <a:r>
              <a:rPr lang="en-US" sz="1200" b="1" kern="0" dirty="0">
                <a:latin typeface="Courier New" pitchFamily="49" charset="0"/>
                <a:cs typeface="Courier New" pitchFamily="49" charset="0"/>
              </a:rPr>
              <a:t>return 1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   else return num * fact(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-1);</a:t>
            </a: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BBD103-B1D5-F20B-FA58-D51797CD9B50}"/>
              </a:ext>
            </a:extLst>
          </p:cNvPr>
          <p:cNvCxnSpPr>
            <a:endCxn id="6" idx="0"/>
          </p:cNvCxnSpPr>
          <p:nvPr/>
        </p:nvCxnSpPr>
        <p:spPr>
          <a:xfrm rot="10800000" flipV="1">
            <a:off x="2643188" y="2400300"/>
            <a:ext cx="571500" cy="3571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67171F-3B97-587E-CC45-947D3344BB5C}"/>
              </a:ext>
            </a:extLst>
          </p:cNvPr>
          <p:cNvCxnSpPr/>
          <p:nvPr/>
        </p:nvCxnSpPr>
        <p:spPr>
          <a:xfrm rot="10800000" flipV="1">
            <a:off x="3143250" y="3686175"/>
            <a:ext cx="571500" cy="3571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A9B66B-6EF4-4515-CC49-38A5DA5F8B9C}"/>
              </a:ext>
            </a:extLst>
          </p:cNvPr>
          <p:cNvCxnSpPr/>
          <p:nvPr/>
        </p:nvCxnSpPr>
        <p:spPr>
          <a:xfrm rot="10800000" flipV="1">
            <a:off x="3571875" y="4972050"/>
            <a:ext cx="571500" cy="3571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70082831-A841-8649-C1C9-016A83A1804D}"/>
              </a:ext>
            </a:extLst>
          </p:cNvPr>
          <p:cNvCxnSpPr/>
          <p:nvPr/>
        </p:nvCxnSpPr>
        <p:spPr>
          <a:xfrm rot="5400000" flipH="1" flipV="1">
            <a:off x="3893344" y="5312569"/>
            <a:ext cx="928687" cy="142875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B3B72BE-C573-977C-5ED4-D4FB71CBAB50}"/>
              </a:ext>
            </a:extLst>
          </p:cNvPr>
          <p:cNvCxnSpPr/>
          <p:nvPr/>
        </p:nvCxnSpPr>
        <p:spPr>
          <a:xfrm rot="16200000" flipV="1">
            <a:off x="3643312" y="3971926"/>
            <a:ext cx="1071563" cy="500062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07A387D-BC70-7F44-00C8-50227A9F8BEB}"/>
              </a:ext>
            </a:extLst>
          </p:cNvPr>
          <p:cNvCxnSpPr/>
          <p:nvPr/>
        </p:nvCxnSpPr>
        <p:spPr>
          <a:xfrm rot="16200000" flipV="1">
            <a:off x="3133726" y="2668587"/>
            <a:ext cx="1071562" cy="500063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EB9217A-41D5-BC12-23C6-4B3809A0B1BC}"/>
              </a:ext>
            </a:extLst>
          </p:cNvPr>
          <p:cNvSpPr txBox="1">
            <a:spLocks/>
          </p:cNvSpPr>
          <p:nvPr/>
        </p:nvSpPr>
        <p:spPr bwMode="auto">
          <a:xfrm>
            <a:off x="5143500" y="1471613"/>
            <a:ext cx="371475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+mj-lt"/>
              <a:buAutoNum type="arabicPeriod"/>
              <a:defRPr/>
            </a:pPr>
            <a:r>
              <a:rPr lang="en-US" sz="1200" kern="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lv-LV" sz="1200" kern="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()</a:t>
            </a:r>
            <a:endParaRPr lang="en-US" sz="1200" kern="0" dirty="0">
              <a:latin typeface="Courier New" pitchFamily="49" charset="0"/>
              <a:cs typeface="Courier New" pitchFamily="49" charset="0"/>
            </a:endParaRP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{</a:t>
            </a:r>
            <a:endParaRPr lang="lv-LV" sz="1200" kern="0" dirty="0">
              <a:latin typeface="Courier New" pitchFamily="49" charset="0"/>
              <a:cs typeface="Courier New" pitchFamily="49" charset="0"/>
            </a:endParaRP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+mj-lt"/>
              <a:buAutoNum type="arabicPeriod"/>
              <a:defRPr/>
            </a:pP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lv-LV" sz="1200" kern="0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lv-LV" sz="1200" kern="0" dirty="0" err="1">
                <a:latin typeface="Courier New" pitchFamily="49" charset="0"/>
                <a:cs typeface="Courier New" pitchFamily="49" charset="0"/>
              </a:rPr>
              <a:t>fact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(4) &lt;&lt; </a:t>
            </a:r>
            <a:r>
              <a:rPr lang="lv-LV" sz="1200" kern="0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lv-LV" sz="1200" kern="0" dirty="0">
                <a:latin typeface="Courier New" pitchFamily="49" charset="0"/>
                <a:cs typeface="Courier New" pitchFamily="49" charset="0"/>
              </a:rPr>
              <a:t>; </a:t>
            </a:r>
            <a:endParaRPr lang="en-US" sz="1200" kern="0" dirty="0">
              <a:latin typeface="Courier New" pitchFamily="49" charset="0"/>
              <a:cs typeface="Courier New" pitchFamily="49" charset="0"/>
            </a:endParaRPr>
          </a:p>
          <a:p>
            <a:pPr marL="447675" indent="-447675">
              <a:spcBef>
                <a:spcPct val="20000"/>
              </a:spcBef>
              <a:buClr>
                <a:srgbClr val="0000FF"/>
              </a:buClr>
              <a:buFont typeface="Times New Roman" pitchFamily="18" charset="0"/>
              <a:buAutoNum type="arabicPeriod"/>
              <a:defRPr/>
            </a:pPr>
            <a:r>
              <a:rPr lang="en-US" sz="1200" kern="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E91E99-E1D7-C9B8-8ABE-6F9C7D219297}"/>
              </a:ext>
            </a:extLst>
          </p:cNvPr>
          <p:cNvCxnSpPr/>
          <p:nvPr/>
        </p:nvCxnSpPr>
        <p:spPr>
          <a:xfrm rot="10800000">
            <a:off x="1928813" y="1614488"/>
            <a:ext cx="4786312" cy="2857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7233ED-8D02-4F3C-F5EC-30C5FB2F5EFC}"/>
              </a:ext>
            </a:extLst>
          </p:cNvPr>
          <p:cNvCxnSpPr/>
          <p:nvPr/>
        </p:nvCxnSpPr>
        <p:spPr>
          <a:xfrm>
            <a:off x="3786188" y="2257425"/>
            <a:ext cx="2786062" cy="158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BD4FFD91-54DA-5A1E-C9F4-91FEAEA95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lv-LV" dirty="0"/>
              <a:t>Practice</a:t>
            </a:r>
            <a:endParaRPr lang="lv-LV" altLang="lv-LV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89CC6A3-662B-6FBC-CB52-3A8D35563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543550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sz="1800" dirty="0"/>
              <a:t>Write a recursive function that outputs the n-</a:t>
            </a:r>
            <a:r>
              <a:rPr lang="en-US" sz="1800" dirty="0" err="1"/>
              <a:t>th</a:t>
            </a:r>
            <a:r>
              <a:rPr lang="en-US" sz="1800" dirty="0"/>
              <a:t> Fibonacci sequence number</a:t>
            </a:r>
            <a:r>
              <a:rPr lang="lv-LV" sz="1800" dirty="0"/>
              <a:t>.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lv-LV" sz="1800" dirty="0"/>
              <a:t>	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fibo(int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 x)</a:t>
            </a:r>
            <a:endParaRPr lang="ru-RU" sz="1800" dirty="0">
              <a:latin typeface="Courier New" pitchFamily="49" charset="0"/>
              <a:cs typeface="Courier New" pitchFamily="49" charset="0"/>
            </a:endParaRPr>
          </a:p>
          <a:p>
            <a:pPr marL="457200" indent="-457200" eaLnBrk="1" hangingPunct="1">
              <a:buFontTx/>
              <a:buNone/>
              <a:defRPr/>
            </a:pPr>
            <a:endParaRPr lang="ru-RU" sz="1800" dirty="0"/>
          </a:p>
          <a:p>
            <a:pPr marL="457200" indent="-457200" eaLnBrk="1" hangingPunct="1">
              <a:buFontTx/>
              <a:buNone/>
              <a:defRPr/>
            </a:pPr>
            <a:r>
              <a:rPr lang="ru-RU" sz="1800" dirty="0"/>
              <a:t>	</a:t>
            </a:r>
            <a:r>
              <a:rPr lang="en-US" sz="1800" dirty="0"/>
              <a:t>Fibonacci sequence </a:t>
            </a:r>
            <a:r>
              <a:rPr lang="ru-RU" sz="1800" dirty="0"/>
              <a:t>: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ru-RU" sz="1800" dirty="0"/>
              <a:t>	1, 1, 2, 3, 5, 8, 13, 21, 34, 55, … - </a:t>
            </a:r>
            <a:r>
              <a:rPr lang="en-US" sz="1800" dirty="0"/>
              <a:t>next value is the sum of 2 previous</a:t>
            </a:r>
            <a:endParaRPr lang="ru-RU" sz="1800" dirty="0"/>
          </a:p>
          <a:p>
            <a:pPr marL="457200" indent="-457200" eaLnBrk="1" hangingPunct="1">
              <a:buFontTx/>
              <a:buNone/>
              <a:defRPr/>
            </a:pPr>
            <a:r>
              <a:rPr lang="ru-RU" sz="1800" dirty="0"/>
              <a:t>	</a:t>
            </a:r>
            <a:r>
              <a:rPr lang="en-US" sz="1800" dirty="0"/>
              <a:t>Function call</a:t>
            </a:r>
            <a:r>
              <a:rPr lang="lv-LV" sz="1800" dirty="0"/>
              <a:t>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fibo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8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/>
              <a:t>Need to return </a:t>
            </a:r>
            <a:r>
              <a:rPr lang="ru-RU" sz="1800" dirty="0"/>
              <a:t>(</a:t>
            </a:r>
            <a:r>
              <a:rPr lang="lv-LV" sz="1800" dirty="0"/>
              <a:t>8</a:t>
            </a:r>
            <a:r>
              <a:rPr lang="en-US" sz="1800" baseline="30000" dirty="0" err="1"/>
              <a:t>th</a:t>
            </a:r>
            <a:r>
              <a:rPr lang="en-US" sz="1800" dirty="0"/>
              <a:t> sequence value</a:t>
            </a:r>
            <a:r>
              <a:rPr lang="ru-RU" sz="1800" dirty="0"/>
              <a:t>)</a:t>
            </a:r>
            <a:endParaRPr lang="lv-LV" sz="1800" dirty="0">
              <a:latin typeface="Courier New" pitchFamily="49" charset="0"/>
              <a:cs typeface="Courier New" pitchFamily="49" charset="0"/>
            </a:endParaRPr>
          </a:p>
          <a:p>
            <a:pPr marL="457200" indent="-457200" eaLnBrk="1" hangingPunct="1">
              <a:buFontTx/>
              <a:buNone/>
              <a:defRPr/>
            </a:pPr>
            <a:endParaRPr lang="ru-RU" sz="1800" dirty="0"/>
          </a:p>
          <a:p>
            <a:pPr marL="457200" indent="-457200" eaLnBrk="1" hangingPunct="1">
              <a:buFontTx/>
              <a:buNone/>
              <a:defRPr/>
            </a:pPr>
            <a:r>
              <a:rPr lang="en-US" sz="1800" dirty="0"/>
              <a:t>Let’s examine the calculation process of the task</a:t>
            </a:r>
            <a:r>
              <a:rPr lang="ru-RU" sz="1800" dirty="0"/>
              <a:t>:</a:t>
            </a:r>
          </a:p>
          <a:p>
            <a:pPr marL="457200" indent="-457200" eaLnBrk="1" hangingPunct="1">
              <a:buFontTx/>
              <a:buAutoNum type="arabicParenR"/>
              <a:defRPr/>
            </a:pPr>
            <a:r>
              <a:rPr lang="ru-RU" sz="1800" dirty="0">
                <a:cs typeface="Courier New" pitchFamily="49" charset="0"/>
              </a:rPr>
              <a:t>1</a:t>
            </a:r>
            <a:r>
              <a:rPr lang="en-US" sz="1800" baseline="30000" dirty="0" err="1">
                <a:cs typeface="Courier New" pitchFamily="49" charset="0"/>
              </a:rPr>
              <a:t>st</a:t>
            </a:r>
            <a:r>
              <a:rPr lang="en-US" sz="1800" dirty="0">
                <a:cs typeface="Courier New" pitchFamily="49" charset="0"/>
              </a:rPr>
              <a:t> and</a:t>
            </a:r>
            <a:r>
              <a:rPr lang="ru-RU" sz="1800" dirty="0">
                <a:cs typeface="Courier New" pitchFamily="49" charset="0"/>
              </a:rPr>
              <a:t> 2</a:t>
            </a:r>
            <a:r>
              <a:rPr lang="en-US" sz="1800" dirty="0" err="1">
                <a:cs typeface="Courier New" pitchFamily="49" charset="0"/>
              </a:rPr>
              <a:t>nd</a:t>
            </a:r>
            <a:r>
              <a:rPr lang="ru-RU" sz="1800" dirty="0">
                <a:cs typeface="Courier New" pitchFamily="49" charset="0"/>
              </a:rPr>
              <a:t> </a:t>
            </a:r>
            <a:r>
              <a:rPr lang="en-US" sz="1800" dirty="0">
                <a:cs typeface="Courier New" pitchFamily="49" charset="0"/>
              </a:rPr>
              <a:t>value are equal to </a:t>
            </a:r>
            <a:r>
              <a:rPr lang="ru-RU" sz="1800" dirty="0">
                <a:cs typeface="Courier New" pitchFamily="49" charset="0"/>
              </a:rPr>
              <a:t>1</a:t>
            </a:r>
          </a:p>
          <a:p>
            <a:pPr marL="457200" indent="-457200" algn="just" eaLnBrk="1" hangingPunct="1">
              <a:buFontTx/>
              <a:buAutoNum type="arabicParenR"/>
              <a:defRPr/>
            </a:pPr>
            <a:r>
              <a:rPr lang="en-US" sz="1800" dirty="0"/>
              <a:t>Each subsequent number is the sum of the two previous ones, which means that the recursive function must call two of its own copies: one with a value 1 less than the target value, and another with a value 2 less than the target value, thus:</a:t>
            </a:r>
            <a:endParaRPr lang="ru-RU" sz="1800" dirty="0"/>
          </a:p>
          <a:p>
            <a:pPr marL="0" indent="0" eaLnBrk="1" hangingPunct="1">
              <a:buFontTx/>
              <a:buNone/>
              <a:defRPr/>
            </a:pPr>
            <a:r>
              <a:rPr lang="ru-RU" sz="18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 х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&gt;=2 then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fibo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8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fibo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6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fibo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7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otherwise</a:t>
            </a:r>
            <a:r>
              <a:rPr lang="ru-RU" sz="1800" dirty="0">
                <a:latin typeface="Courier New" pitchFamily="49" charset="0"/>
                <a:cs typeface="Courier New" pitchFamily="49" charset="0"/>
              </a:rPr>
              <a:t> 1</a:t>
            </a:r>
          </a:p>
          <a:p>
            <a:pPr marL="0" indent="0" eaLnBrk="1" hangingPunct="1">
              <a:buFontTx/>
              <a:buNone/>
              <a:defRPr/>
            </a:pPr>
            <a:endParaRPr lang="ru-RU" sz="1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A4BD9808-9531-BF78-E240-48EEEEC67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lv-LV" dirty="0"/>
              <a:t>Practice</a:t>
            </a:r>
            <a:endParaRPr lang="lv-LV" altLang="lv-LV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E361519-0B38-BB3D-6B74-7B1DB169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 marL="457200" indent="-457200" eaLnBrk="1" hangingPunct="1">
              <a:buFont typeface="Times New Roman" panose="02020603050405020304" pitchFamily="18" charset="0"/>
              <a:buAutoNum type="arabicPeriod" startAt="2"/>
              <a:defRPr/>
            </a:pPr>
            <a:r>
              <a:rPr lang="en-US" altLang="lv-LV" sz="1800" dirty="0"/>
              <a:t>Write a recursive power function</a:t>
            </a:r>
            <a:r>
              <a:rPr lang="lv-LV" altLang="lv-LV" sz="1800" dirty="0"/>
              <a:t>.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lv-LV" altLang="lv-LV" sz="1800" dirty="0"/>
              <a:t>	</a:t>
            </a:r>
            <a:r>
              <a:rPr lang="lv-LV" altLang="lv-LV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lv-LV" altLang="lv-LV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lv-LV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pow</a:t>
            </a:r>
            <a:r>
              <a:rPr lang="lv-LV" altLang="lv-LV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lv-LV" altLang="lv-LV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lv-LV" altLang="lv-LV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lv-LV" altLang="lv-LV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lv-LV" altLang="lv-LV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y)</a:t>
            </a:r>
            <a:endParaRPr lang="lv-LV" sz="1800" dirty="0"/>
          </a:p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altLang="lv-LV" sz="1800" dirty="0"/>
              <a:t>Write a recursive function to count number of number digits</a:t>
            </a:r>
            <a:r>
              <a:rPr lang="lv-LV" sz="1800" dirty="0"/>
              <a:t>.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lv-LV" sz="1800" dirty="0"/>
              <a:t>	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KCount(int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 x)</a:t>
            </a:r>
          </a:p>
          <a:p>
            <a:pPr marL="514350" indent="-514350" eaLnBrk="1" hangingPunct="1">
              <a:buFont typeface="+mj-lt"/>
              <a:buAutoNum type="arabicPeriod" startAt="4"/>
              <a:defRPr/>
            </a:pPr>
            <a:r>
              <a:rPr lang="en-US" altLang="lv-LV" sz="1800" dirty="0"/>
              <a:t>Write a recursive function to find a </a:t>
            </a:r>
            <a:r>
              <a:rPr lang="en-US" altLang="lv-LV" sz="1800"/>
              <a:t>sum of </a:t>
            </a:r>
            <a:r>
              <a:rPr lang="en-US" altLang="lv-LV" sz="1800" dirty="0"/>
              <a:t>number digits</a:t>
            </a:r>
            <a:r>
              <a:rPr lang="lv-LV" sz="1800" dirty="0"/>
              <a:t>.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lv-LV" sz="1800" dirty="0"/>
              <a:t>	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KSum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lv-LV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lv-LV" sz="1800" dirty="0">
                <a:latin typeface="Courier New" pitchFamily="49" charset="0"/>
                <a:cs typeface="Courier New" pitchFamily="49" charset="0"/>
              </a:rPr>
              <a:t> 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2824</Words>
  <Application>Microsoft Office PowerPoint</Application>
  <PresentationFormat>On-screen Show (4:3)</PresentationFormat>
  <Paragraphs>404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Courier New</vt:lpstr>
      <vt:lpstr>Times New Roman</vt:lpstr>
      <vt:lpstr>Default Design</vt:lpstr>
      <vt:lpstr>Functions.</vt:lpstr>
      <vt:lpstr>Function definition in C++ language</vt:lpstr>
      <vt:lpstr>Function examples</vt:lpstr>
      <vt:lpstr>Practice</vt:lpstr>
      <vt:lpstr>Practice</vt:lpstr>
      <vt:lpstr>Practice</vt:lpstr>
      <vt:lpstr>Practice</vt:lpstr>
      <vt:lpstr>Practice</vt:lpstr>
      <vt:lpstr>Practice</vt:lpstr>
      <vt:lpstr>References</vt:lpstr>
      <vt:lpstr>References Example 1</vt:lpstr>
      <vt:lpstr>References Example 2</vt:lpstr>
      <vt:lpstr>Passing parameter by reference</vt:lpstr>
      <vt:lpstr>Practice</vt:lpstr>
      <vt:lpstr>const modifier</vt:lpstr>
      <vt:lpstr>const modifier - example</vt:lpstr>
      <vt:lpstr>Types of variables</vt:lpstr>
      <vt:lpstr>Local variables
</vt:lpstr>
      <vt:lpstr>Global variables
</vt:lpstr>
      <vt:lpstr>Global variables - Example</vt:lpstr>
      <vt:lpstr>Static variables</vt:lpstr>
      <vt:lpstr>Static variables - Example</vt:lpstr>
      <vt:lpstr>Practice</vt:lpstr>
      <vt:lpstr>Recursive functions</vt:lpstr>
      <vt:lpstr>Recursion</vt:lpstr>
      <vt:lpstr>Recursion</vt:lpstr>
      <vt:lpstr>Recursive functions</vt:lpstr>
      <vt:lpstr>Recursive function example</vt:lpstr>
      <vt:lpstr>Recursive function example</vt:lpstr>
      <vt:lpstr>Practice</vt:lpstr>
      <vt:lpstr>Practice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Atsauces. Funkcijas.</dc:title>
  <dc:creator>Home</dc:creator>
  <cp:lastModifiedBy>Andrejs Liepiņš</cp:lastModifiedBy>
  <cp:revision>46</cp:revision>
  <dcterms:created xsi:type="dcterms:W3CDTF">2011-07-12T10:59:06Z</dcterms:created>
  <dcterms:modified xsi:type="dcterms:W3CDTF">2025-02-10T10:20:00Z</dcterms:modified>
</cp:coreProperties>
</file>