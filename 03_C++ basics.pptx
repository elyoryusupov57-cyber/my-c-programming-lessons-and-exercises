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9" r:id="rId3"/>
    <p:sldId id="260" r:id="rId4"/>
    <p:sldId id="258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2" r:id="rId20"/>
    <p:sldId id="283" r:id="rId21"/>
    <p:sldId id="276" r:id="rId22"/>
    <p:sldId id="277" r:id="rId23"/>
    <p:sldId id="278" r:id="rId24"/>
    <p:sldId id="280" r:id="rId25"/>
    <p:sldId id="279" r:id="rId26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  <a:srgbClr val="2112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28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CBAD0DE-774B-4394-8B0F-33C7EF273E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lv-LV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829DB36-969A-42A8-AB7A-2055E958C4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lv-LV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F54CAE86-9C44-41D4-A2DD-10D14742EC6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lv-LV" alt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9DF831B6-2B81-4724-B7A3-40AB106F8FD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99943E2-8293-4BEE-BF3B-BBD4BB60DA49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AD6510D-6D84-40AB-8E16-2A29D6A7DC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lv-LV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AEC9DEE-34A4-4889-861D-32B6B25122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lv-LV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08EE3788-9805-48B6-8102-1E5454ADCDB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B3DB332E-CD34-49A4-8B78-87206DDD2C4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F2C0ACB6-964B-43B0-AC76-F9F62B6478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lv-LV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ADC0120B-C0C1-4327-9153-189E666DC5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482AEE-7EFA-4559-B27A-BAB99FF74158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8470C22-0292-4B58-8EDD-B4F1721CE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9C6A3C-B3D3-4F08-8963-AAF3FA9A096B}" type="slidenum">
              <a:rPr lang="lv-LV" altLang="en-US"/>
              <a:pPr/>
              <a:t>1</a:t>
            </a:fld>
            <a:endParaRPr lang="lv-LV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494625CA-204D-4356-97FF-A2D5C0A1A5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ADC622B-E074-4E4A-B30A-93AD59F40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4116B50-99E4-4ACD-83C6-4F6E128719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DDCB64-C87D-4002-9010-F38A21B6F706}" type="slidenum">
              <a:rPr lang="lv-LV" altLang="en-US"/>
              <a:pPr/>
              <a:t>2</a:t>
            </a:fld>
            <a:endParaRPr lang="lv-LV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A22230A4-587D-40DF-876B-86F9970D03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757F91A-52CA-4DDD-9A7A-0605EF35F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6BAC590-3C38-4CAE-AA73-2E23B798B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F3F2A9-E62F-4F05-B8DD-E76936B03130}" type="slidenum">
              <a:rPr lang="lv-LV" altLang="en-US"/>
              <a:pPr/>
              <a:t>3</a:t>
            </a:fld>
            <a:endParaRPr lang="lv-LV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70C26012-E880-45FD-B67D-ADB38ECD70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92C71E1-9405-4127-91E9-A2F97B31E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54385D1-B8FE-4A30-8F5F-715BF4B90B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41A6F-AFD6-4167-9F00-F71726C7CC8B}" type="slidenum">
              <a:rPr lang="lv-LV" altLang="en-US"/>
              <a:pPr/>
              <a:t>4</a:t>
            </a:fld>
            <a:endParaRPr lang="lv-LV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A252FE4B-4F15-440F-8B80-41D7A213A7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D9C51EB-B584-4AD7-987F-0C6551DB11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1233AEF-F7FE-43D6-8F06-B329EBF6D8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D59317-4A37-4ED1-83E0-946D276AD587}" type="slidenum">
              <a:rPr lang="lv-LV" altLang="en-US"/>
              <a:pPr/>
              <a:t>5</a:t>
            </a:fld>
            <a:endParaRPr lang="lv-LV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F5C2EA2E-234B-4F17-9E04-298875E3E9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12E46B2-AD57-488F-92A1-61F039766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142556E-1C48-4F47-A2B4-D4975EDF32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1D6CE0-A073-40EB-B91D-6E76867CD2F9}" type="slidenum">
              <a:rPr lang="lv-LV" altLang="en-US"/>
              <a:pPr/>
              <a:t>18</a:t>
            </a:fld>
            <a:endParaRPr lang="lv-LV" alt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7CD79AEF-7633-4C1F-8747-30AF23E17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2D5F9A1-092D-4E5F-A18C-931376E14B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82AEE-7EFA-4559-B27A-BAB99FF74158}" type="slidenum">
              <a:rPr lang="lv-LV" altLang="en-US" smtClean="0"/>
              <a:pPr/>
              <a:t>21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59015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B5C4-C47E-40FD-B471-756E64360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2AE58-14AE-441A-8788-B8166E7EA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9DEBA-42AE-4CE5-B77D-D08ADA4EB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7F8-D5CF-4E69-A98D-96374030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A5D82-7A2F-4FE2-B8ED-234FE92E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139A39-B3F3-4DDC-BA43-C9E76236467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240217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671C-A561-4A9E-8FB9-69899657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0CAD-0774-420D-A256-DBD13BD75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B46EE-B0F2-4D5C-BBAC-1409F5E2E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77EFF-7E44-48CF-8DB8-A0709E76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206C6-FF77-4F25-86E6-6779B451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B58D89-B57E-484F-8271-F2606E56C2C6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1015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AA703-4128-4990-BCC3-2A98ECCF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84434-8A6D-4442-ACB2-1BDE38CD2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FFBEA-757A-419C-875B-FED6D8D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B9697-B73D-47DF-922A-A282D4E3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9F948-A52D-4BEA-A217-B3C0D274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9F0206-A1E1-4C96-BFF7-F1BE44D59011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77942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C1A5-FA2C-4FB6-9526-69F4CC3D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F69A3-8C46-41ED-BEDE-A5E812325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EB323-1197-4674-932A-48CD6ED55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53187-7F9F-4367-8790-53FC6E8E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0695F-F7A4-4A24-AF98-261B4CA4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516B3-CA60-4671-A692-6DF927C6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543017-34F0-4571-92B1-A3C45AD29BB4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16717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2932-6CBB-4AD8-B0AF-798105B5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5E338-239F-4DE4-B148-3E946CEF3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42B15-F75F-4B3A-B729-763628FF9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7729C-30C6-43F5-A12A-45423E136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1394E-323A-4AD2-8D91-D4A39D752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9A65B2-05E0-4A46-8B07-482AC89A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63A407-DD5E-494C-A886-45A98B5A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89429-688C-4FDB-A5BF-B68BEFE1F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37D573-0DEE-4E3F-A19C-6A920655284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58883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F476-5F97-42E8-9E84-4C257A26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8E60B-C77C-4DE6-A6B5-3B429EF8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E7571-EC35-47EA-BE0E-5CD29B635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1FD17-6D6D-4B64-8C16-71FA5270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142E83-0970-4AF6-8095-E97863A03722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56770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2D9C66-FA22-4D73-BFAB-4B2F40A9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DC182-C27F-431E-A772-AD8498A0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55710-6716-46DA-BA5E-C7E8344B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E77287-9C82-4F56-8F9D-F36C36292DD2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9188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C2FD-A535-4AC1-BF37-BFFB83CB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628E9-3415-42F7-9714-276E51168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9E776-9381-40EC-83CC-6257F2549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066D3-A325-430A-9AEC-A4F7E386D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C7E0E-2C02-4060-B807-35CF3180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0F554-C249-403C-B798-46620305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A790CD-DAA2-492F-BD7A-7C5253E16FE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198553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1E2F-F4DB-41DB-832F-F8486D68B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1EAE3-CE55-475F-A7DF-304F45116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3BA94-8FF3-499F-A31E-30173DE61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9DB45-DD07-4D2B-A9E5-B1D61C8C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EBCE1-4BCF-4F59-B0FA-976B5C74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DD23B-4C7A-457B-B5F1-724AC39B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6BCFBF-D501-4D32-A797-7D463EB902CE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7055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A706-E11E-4127-B280-F546BB3F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E4E7-1931-481D-8FCB-E80C1DB32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33DA3-42F8-48D0-BF1D-5D71FF04F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31CCC-BDCB-4968-95A0-4C78D961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03BB0-9CFC-44D3-84BB-0BF2CC03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9244ED-ABAC-4F38-A161-6876EAF447B3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17948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D4B827-74AA-4B00-B52B-80D148C96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654D0-48BC-45CE-B9DC-572858D50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361B8-ADA0-460D-8CC8-EF84A009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8ECB7-8449-416A-B83F-FACE3AC6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7205E-C355-4416-BC3C-3588CE92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B2591-8A17-48E2-A7BA-B4E6C53E6CE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19032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290B6A-AAE7-4A9D-8752-2501B57DB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55C00DE-D530-4B28-AF92-826282D56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7A017C-95C5-47CD-9211-A1F717E29A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ECD8DB-4959-4F99-8FCA-160B6470BF9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58280B9-8C92-4198-928A-9B7282C25A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8FA83DE-BFA1-4FB1-A60C-3939AEAD6AA4}" type="slidenum">
              <a:rPr lang="lv-LV" altLang="en-US"/>
              <a:pPr/>
              <a:t>‹#›</a:t>
            </a:fld>
            <a:endParaRPr lang="lv-LV" altLang="en-US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684D7EAE-6A89-46FF-9E80-148B03116C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0113" y="4797425"/>
            <a:ext cx="287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AE227EA-660C-48CD-B30B-34FDE2D2CC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lv-LV" altLang="en-US" sz="7200" dirty="0"/>
              <a:t>C++</a:t>
            </a:r>
            <a:r>
              <a:rPr lang="en-US" altLang="en-US" sz="7200" dirty="0"/>
              <a:t> programming language</a:t>
            </a:r>
            <a:endParaRPr lang="lv-LV" alt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683972C-71BC-4935-A605-2D0E3ED19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Programming</a:t>
            </a:r>
            <a:r>
              <a:rPr lang="lv-LV" altLang="en-US" dirty="0"/>
              <a:t> </a:t>
            </a:r>
            <a:r>
              <a:rPr lang="lv-LV" altLang="en-US" dirty="0" err="1"/>
              <a:t>language</a:t>
            </a:r>
            <a:r>
              <a:rPr lang="lv-LV" altLang="en-US" dirty="0"/>
              <a:t> C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1CEBCA5-43E9-4482-9EE9-D2913B884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The programming language C in 1970 was developed in AT&amp;A Bell Laboratories by </a:t>
            </a:r>
            <a:r>
              <a:rPr lang="en-US" altLang="en-US" sz="2800" b="1" dirty="0"/>
              <a:t>Dennis Ritchie</a:t>
            </a:r>
            <a:r>
              <a:rPr lang="en-US" altLang="en-US" sz="2800" dirty="0"/>
              <a:t>.
Language C is considered to be something between the high and low levels of programming languages</a:t>
            </a:r>
            <a:r>
              <a:rPr lang="lv-LV" altLang="en-US" sz="2800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C language deficiencies: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programs that are written on it not easy to understand,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do not have built-in automatization,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do not have high level constructions.</a:t>
            </a:r>
            <a:endParaRPr lang="lv-LV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CE4A7DE-57A1-4181-B313-63852BDE7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Programming</a:t>
            </a:r>
            <a:r>
              <a:rPr lang="lv-LV" altLang="en-US" dirty="0"/>
              <a:t> </a:t>
            </a:r>
            <a:r>
              <a:rPr lang="lv-LV" altLang="en-US" dirty="0" err="1"/>
              <a:t>language</a:t>
            </a:r>
            <a:r>
              <a:rPr lang="lv-LV" altLang="en-US" dirty="0"/>
              <a:t> C ++ 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E59B940-5A89-416B-9401-A35025703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Language C++ was developed from language C
</a:t>
            </a:r>
            <a:r>
              <a:rPr lang="lv-LV" altLang="en-US" sz="2400" dirty="0" err="1"/>
              <a:t>Programming</a:t>
            </a:r>
            <a:r>
              <a:rPr lang="lv-LV" altLang="en-US" sz="2400" dirty="0"/>
              <a:t> </a:t>
            </a:r>
            <a:r>
              <a:rPr lang="lv-LV" altLang="en-US" sz="2400" dirty="0" err="1"/>
              <a:t>language</a:t>
            </a:r>
            <a:r>
              <a:rPr lang="en-US" altLang="en-US" sz="2400" dirty="0"/>
              <a:t> </a:t>
            </a:r>
            <a:r>
              <a:rPr lang="lv-LV" altLang="en-US" sz="2400" dirty="0"/>
              <a:t>C++</a:t>
            </a:r>
            <a:r>
              <a:rPr lang="en-US" altLang="en-US" sz="2400" dirty="0"/>
              <a:t> was d</a:t>
            </a:r>
            <a:r>
              <a:rPr lang="lv-LV" altLang="en-US" sz="2400" dirty="0" err="1"/>
              <a:t>eveloped</a:t>
            </a:r>
            <a:r>
              <a:rPr lang="lv-LV" altLang="en-US" sz="2400" dirty="0"/>
              <a:t> </a:t>
            </a:r>
            <a:r>
              <a:rPr lang="en-US" altLang="en-US" sz="2400" dirty="0"/>
              <a:t>at the end of</a:t>
            </a:r>
            <a:r>
              <a:rPr lang="lv-LV" altLang="en-US" sz="2400" dirty="0"/>
              <a:t> 20</a:t>
            </a:r>
            <a:r>
              <a:rPr lang="en-US" altLang="en-US" sz="2400" dirty="0" err="1"/>
              <a:t>th</a:t>
            </a:r>
            <a:r>
              <a:rPr lang="en-US" altLang="en-US" sz="2400" dirty="0"/>
              <a:t> century (</a:t>
            </a:r>
            <a:r>
              <a:rPr lang="lv-LV" altLang="en-US" sz="2400" dirty="0"/>
              <a:t>70</a:t>
            </a:r>
            <a:r>
              <a:rPr lang="en-US" altLang="en-US" sz="2400" baseline="30000" dirty="0" err="1"/>
              <a:t>th</a:t>
            </a:r>
            <a:r>
              <a:rPr lang="en-US" altLang="en-US" sz="2400" baseline="30000" dirty="0"/>
              <a:t>-</a:t>
            </a:r>
            <a:r>
              <a:rPr lang="lv-LV" altLang="en-US" sz="2400" dirty="0"/>
              <a:t>80</a:t>
            </a:r>
            <a:r>
              <a:rPr lang="en-US" altLang="en-US" sz="2400" baseline="30000" dirty="0" err="1"/>
              <a:t>th</a:t>
            </a:r>
            <a:r>
              <a:rPr lang="en-US" altLang="en-US" sz="2400" dirty="0"/>
              <a:t>)</a:t>
            </a:r>
            <a:r>
              <a:rPr lang="lv-LV" altLang="en-US" sz="2400" dirty="0"/>
              <a:t> </a:t>
            </a:r>
            <a:r>
              <a:rPr lang="en-US" altLang="en-US" sz="2400" dirty="0"/>
              <a:t>in </a:t>
            </a:r>
            <a:r>
              <a:rPr lang="lv-LV" altLang="en-US" sz="2400" dirty="0"/>
              <a:t>AT&amp;A Bell Laboratories </a:t>
            </a:r>
            <a:r>
              <a:rPr lang="en-US" altLang="en-US" sz="2400" dirty="0"/>
              <a:t>by</a:t>
            </a:r>
            <a:r>
              <a:rPr lang="lv-LV" altLang="en-US" sz="2400" dirty="0"/>
              <a:t> </a:t>
            </a:r>
            <a:r>
              <a:rPr lang="lv-LV" altLang="en-US" sz="2400" b="1" dirty="0" err="1"/>
              <a:t>Bjarne</a:t>
            </a:r>
            <a:r>
              <a:rPr lang="lv-LV" altLang="en-US" sz="2400" b="1" dirty="0"/>
              <a:t> </a:t>
            </a:r>
            <a:r>
              <a:rPr lang="lv-LV" altLang="en-US" sz="2400" b="1" dirty="0" err="1"/>
              <a:t>Stroustrup</a:t>
            </a:r>
            <a:endParaRPr lang="lv-LV" altLang="en-US" sz="2400" b="1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Many high-level constructions was introduced to make it easier for understanding.
C++ saved full compatibility with C language.
C++ language  is still combines both low and high level constructions.</a:t>
            </a:r>
            <a:endParaRPr lang="lv-LV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F1EB900-1084-42BC-A3D4-53B892DE1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sz="4000" dirty="0" err="1"/>
              <a:t>Programming</a:t>
            </a:r>
            <a:r>
              <a:rPr lang="lv-LV" altLang="en-US" sz="4000" dirty="0"/>
              <a:t> </a:t>
            </a:r>
            <a:r>
              <a:rPr lang="lv-LV" altLang="en-US" sz="4000" dirty="0" err="1"/>
              <a:t>language</a:t>
            </a:r>
            <a:r>
              <a:rPr lang="lv-LV" altLang="en-US" sz="4000" dirty="0"/>
              <a:t> C ++ </a:t>
            </a:r>
          </a:p>
        </p:txBody>
      </p:sp>
      <p:sp>
        <p:nvSpPr>
          <p:cNvPr id="4102" name="Oval 6">
            <a:extLst>
              <a:ext uri="{FF2B5EF4-FFF2-40B4-BE49-F238E27FC236}">
                <a16:creationId xmlns:a16="http://schemas.microsoft.com/office/drawing/2014/main" id="{E8F82DB7-06A4-441B-8BE7-7AD5BF53D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125538"/>
            <a:ext cx="5068888" cy="4876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/>
          <a:lstStyle/>
          <a:p>
            <a:pPr algn="ctr"/>
            <a:r>
              <a:rPr lang="lv-LV" altLang="en-US" sz="2000" b="1" dirty="0">
                <a:latin typeface="Times New Roman" panose="02020603050405020304" pitchFamily="18" charset="0"/>
              </a:rPr>
              <a:t>C++</a:t>
            </a:r>
            <a:endParaRPr lang="en-GB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03" name="Oval 7">
            <a:extLst>
              <a:ext uri="{FF2B5EF4-FFF2-40B4-BE49-F238E27FC236}">
                <a16:creationId xmlns:a16="http://schemas.microsoft.com/office/drawing/2014/main" id="{D3FFD486-5433-4789-8084-D66BF41A0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924175"/>
            <a:ext cx="3527425" cy="17748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/>
          <a:lstStyle/>
          <a:p>
            <a:pPr algn="ctr"/>
            <a:r>
              <a:rPr lang="lv-LV" altLang="en-US" sz="2000" b="1" dirty="0">
                <a:latin typeface="Times New Roman" panose="02020603050405020304" pitchFamily="18" charset="0"/>
              </a:rPr>
              <a:t>C</a:t>
            </a:r>
            <a:endParaRPr lang="en-GB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112" name="Text Box 16">
            <a:extLst>
              <a:ext uri="{FF2B5EF4-FFF2-40B4-BE49-F238E27FC236}">
                <a16:creationId xmlns:a16="http://schemas.microsoft.com/office/drawing/2014/main" id="{B5532965-1A8A-4A64-BC3B-6B17E11BA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3141663"/>
            <a:ext cx="16160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Functional capabilities that typically do not use C++
</a:t>
            </a:r>
            <a:endParaRPr lang="en-GB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Text Box 24">
            <a:extLst>
              <a:ext uri="{FF2B5EF4-FFF2-40B4-BE49-F238E27FC236}">
                <a16:creationId xmlns:a16="http://schemas.microsoft.com/office/drawing/2014/main" id="{2B1A52CB-3548-46D5-BBBA-216673E20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213100"/>
            <a:ext cx="143986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Functional capabilities Common for C and C++
</a:t>
            </a:r>
            <a:endParaRPr lang="en-GB" altLang="en-US" dirty="0">
              <a:latin typeface="Times New Roman" panose="02020603050405020304" pitchFamily="18" charset="0"/>
            </a:endParaRPr>
          </a:p>
        </p:txBody>
      </p:sp>
      <p:sp>
        <p:nvSpPr>
          <p:cNvPr id="4129" name="Text Box 33">
            <a:extLst>
              <a:ext uri="{FF2B5EF4-FFF2-40B4-BE49-F238E27FC236}">
                <a16:creationId xmlns:a16="http://schemas.microsoft.com/office/drawing/2014/main" id="{661D50F7-A974-40FE-8FB0-82474F95E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421063"/>
            <a:ext cx="215265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Functional capabilities to provide Object-oriented programming
</a:t>
            </a:r>
            <a:endParaRPr lang="en-GB" altLang="en-US" dirty="0">
              <a:latin typeface="Times New Roman" panose="02020603050405020304" pitchFamily="18" charset="0"/>
            </a:endParaRPr>
          </a:p>
        </p:txBody>
      </p:sp>
      <p:sp>
        <p:nvSpPr>
          <p:cNvPr id="4138" name="Text Box 42">
            <a:extLst>
              <a:ext uri="{FF2B5EF4-FFF2-40B4-BE49-F238E27FC236}">
                <a16:creationId xmlns:a16="http://schemas.microsoft.com/office/drawing/2014/main" id="{9454038C-EE45-446D-8CA7-4E6DF57F6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5661025"/>
            <a:ext cx="2133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lv-LV" altLang="en-US" dirty="0" err="1">
                <a:latin typeface="Times New Roman" panose="02020603050405020304" pitchFamily="18" charset="0"/>
              </a:rPr>
              <a:t>Other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lv-LV" altLang="en-US" dirty="0" err="1">
                <a:latin typeface="Times New Roman" panose="02020603050405020304" pitchFamily="18" charset="0"/>
              </a:rPr>
              <a:t>functional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lv-LV" altLang="en-US" dirty="0" err="1">
                <a:latin typeface="Times New Roman" panose="02020603050405020304" pitchFamily="18" charset="0"/>
              </a:rPr>
              <a:t>features</a:t>
            </a:r>
            <a:r>
              <a:rPr lang="lv-LV" altLang="en-US" dirty="0">
                <a:latin typeface="Times New Roman" panose="02020603050405020304" pitchFamily="18" charset="0"/>
              </a:rPr>
              <a:t>
</a:t>
            </a:r>
            <a:endParaRPr lang="en-GB" altLang="en-US" dirty="0">
              <a:latin typeface="Times New Roman" panose="02020603050405020304" pitchFamily="18" charset="0"/>
            </a:endParaRPr>
          </a:p>
        </p:txBody>
      </p:sp>
      <p:sp>
        <p:nvSpPr>
          <p:cNvPr id="4140" name="Line 44">
            <a:extLst>
              <a:ext uri="{FF2B5EF4-FFF2-40B4-BE49-F238E27FC236}">
                <a16:creationId xmlns:a16="http://schemas.microsoft.com/office/drawing/2014/main" id="{F399F9AE-5D4F-4958-A4AA-1A9593232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276475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1" name="Line 45">
            <a:extLst>
              <a:ext uri="{FF2B5EF4-FFF2-40B4-BE49-F238E27FC236}">
                <a16:creationId xmlns:a16="http://schemas.microsoft.com/office/drawing/2014/main" id="{ED4014AF-DBF2-48E4-8BB2-CDE1C99610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5445125"/>
            <a:ext cx="1655763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2" name="Line 46">
            <a:extLst>
              <a:ext uri="{FF2B5EF4-FFF2-40B4-BE49-F238E27FC236}">
                <a16:creationId xmlns:a16="http://schemas.microsoft.com/office/drawing/2014/main" id="{209C4817-AA0A-41DA-A063-385CD69494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3716338"/>
            <a:ext cx="1368425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3" name="Line 47">
            <a:extLst>
              <a:ext uri="{FF2B5EF4-FFF2-40B4-BE49-F238E27FC236}">
                <a16:creationId xmlns:a16="http://schemas.microsoft.com/office/drawing/2014/main" id="{954598B0-3D25-4D5B-AA0B-6E26AA4E15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716338"/>
            <a:ext cx="1439862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4" name="Oval 48">
            <a:extLst>
              <a:ext uri="{FF2B5EF4-FFF2-40B4-BE49-F238E27FC236}">
                <a16:creationId xmlns:a16="http://schemas.microsoft.com/office/drawing/2014/main" id="{3DDD63C1-08AD-40C1-8D76-F4EB4C705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3429000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5" name="Oval 49">
            <a:extLst>
              <a:ext uri="{FF2B5EF4-FFF2-40B4-BE49-F238E27FC236}">
                <a16:creationId xmlns:a16="http://schemas.microsoft.com/office/drawing/2014/main" id="{B9474DC1-7606-4ABE-A874-D12A2DE18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3716338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6" name="Oval 50">
            <a:extLst>
              <a:ext uri="{FF2B5EF4-FFF2-40B4-BE49-F238E27FC236}">
                <a16:creationId xmlns:a16="http://schemas.microsoft.com/office/drawing/2014/main" id="{B084BE4F-ADC6-4AFC-BD1D-4D47CD228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076700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7" name="Oval 51">
            <a:extLst>
              <a:ext uri="{FF2B5EF4-FFF2-40B4-BE49-F238E27FC236}">
                <a16:creationId xmlns:a16="http://schemas.microsoft.com/office/drawing/2014/main" id="{3F07BC9E-F1D4-4776-B13C-50EA3E285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500438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8" name="Oval 52">
            <a:extLst>
              <a:ext uri="{FF2B5EF4-FFF2-40B4-BE49-F238E27FC236}">
                <a16:creationId xmlns:a16="http://schemas.microsoft.com/office/drawing/2014/main" id="{91C5381A-AAAA-43C4-ABF3-F0A80AD6D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933825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9" name="Oval 53">
            <a:extLst>
              <a:ext uri="{FF2B5EF4-FFF2-40B4-BE49-F238E27FC236}">
                <a16:creationId xmlns:a16="http://schemas.microsoft.com/office/drawing/2014/main" id="{2AC00FB6-6BBC-4C3D-8362-248267F7E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076700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0" name="Oval 54">
            <a:extLst>
              <a:ext uri="{FF2B5EF4-FFF2-40B4-BE49-F238E27FC236}">
                <a16:creationId xmlns:a16="http://schemas.microsoft.com/office/drawing/2014/main" id="{0EA10EBB-CC83-4871-A4D9-B0BF6ACC7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860800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1" name="Oval 55">
            <a:extLst>
              <a:ext uri="{FF2B5EF4-FFF2-40B4-BE49-F238E27FC236}">
                <a16:creationId xmlns:a16="http://schemas.microsoft.com/office/drawing/2014/main" id="{05F3F4B5-417E-4BEE-B682-8815D6C70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429000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2" name="Oval 56">
            <a:extLst>
              <a:ext uri="{FF2B5EF4-FFF2-40B4-BE49-F238E27FC236}">
                <a16:creationId xmlns:a16="http://schemas.microsoft.com/office/drawing/2014/main" id="{5DFCCA6C-DA05-4F87-A445-CC83965BC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4076700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3" name="Oval 57">
            <a:extLst>
              <a:ext uri="{FF2B5EF4-FFF2-40B4-BE49-F238E27FC236}">
                <a16:creationId xmlns:a16="http://schemas.microsoft.com/office/drawing/2014/main" id="{FDCF8471-6A7F-46A8-AEAE-A6BA65A33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500438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4" name="Oval 58">
            <a:extLst>
              <a:ext uri="{FF2B5EF4-FFF2-40B4-BE49-F238E27FC236}">
                <a16:creationId xmlns:a16="http://schemas.microsoft.com/office/drawing/2014/main" id="{E2A976C6-C91E-4F80-9B71-BFA071754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789363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5" name="Oval 59">
            <a:extLst>
              <a:ext uri="{FF2B5EF4-FFF2-40B4-BE49-F238E27FC236}">
                <a16:creationId xmlns:a16="http://schemas.microsoft.com/office/drawing/2014/main" id="{3F7FFD9B-B22C-4F92-B60E-3311D1DA9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76475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6" name="Oval 60">
            <a:extLst>
              <a:ext uri="{FF2B5EF4-FFF2-40B4-BE49-F238E27FC236}">
                <a16:creationId xmlns:a16="http://schemas.microsoft.com/office/drawing/2014/main" id="{15A656A5-E676-4C2B-B6DC-01AF0DAB6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492375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7" name="Oval 61">
            <a:extLst>
              <a:ext uri="{FF2B5EF4-FFF2-40B4-BE49-F238E27FC236}">
                <a16:creationId xmlns:a16="http://schemas.microsoft.com/office/drawing/2014/main" id="{E4BDA1E5-A02A-4036-A06E-95418C78C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708275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8" name="Oval 62">
            <a:extLst>
              <a:ext uri="{FF2B5EF4-FFF2-40B4-BE49-F238E27FC236}">
                <a16:creationId xmlns:a16="http://schemas.microsoft.com/office/drawing/2014/main" id="{5DD9FCC7-DDB5-4DA1-A7A0-673F3B030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565400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9" name="Oval 63">
            <a:extLst>
              <a:ext uri="{FF2B5EF4-FFF2-40B4-BE49-F238E27FC236}">
                <a16:creationId xmlns:a16="http://schemas.microsoft.com/office/drawing/2014/main" id="{B080E4DE-2DAB-4F01-AB5B-4A0F360BC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349500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0" name="Oval 64">
            <a:extLst>
              <a:ext uri="{FF2B5EF4-FFF2-40B4-BE49-F238E27FC236}">
                <a16:creationId xmlns:a16="http://schemas.microsoft.com/office/drawing/2014/main" id="{3931E2D5-7CF7-4677-A448-FF4686788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013325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1" name="Oval 65">
            <a:extLst>
              <a:ext uri="{FF2B5EF4-FFF2-40B4-BE49-F238E27FC236}">
                <a16:creationId xmlns:a16="http://schemas.microsoft.com/office/drawing/2014/main" id="{56D279E5-280D-4955-9F88-3F800645F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661025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2" name="Oval 66">
            <a:extLst>
              <a:ext uri="{FF2B5EF4-FFF2-40B4-BE49-F238E27FC236}">
                <a16:creationId xmlns:a16="http://schemas.microsoft.com/office/drawing/2014/main" id="{BB680306-49B3-4EF5-99D8-813E01F2D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5445125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3" name="Oval 67">
            <a:extLst>
              <a:ext uri="{FF2B5EF4-FFF2-40B4-BE49-F238E27FC236}">
                <a16:creationId xmlns:a16="http://schemas.microsoft.com/office/drawing/2014/main" id="{362D8E7F-0499-4E1C-A086-E4427A201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445125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4" name="Oval 68">
            <a:extLst>
              <a:ext uri="{FF2B5EF4-FFF2-40B4-BE49-F238E27FC236}">
                <a16:creationId xmlns:a16="http://schemas.microsoft.com/office/drawing/2014/main" id="{C88DA0B0-1687-4EE0-81AD-D62D6AAA3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516563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5" name="Oval 69">
            <a:extLst>
              <a:ext uri="{FF2B5EF4-FFF2-40B4-BE49-F238E27FC236}">
                <a16:creationId xmlns:a16="http://schemas.microsoft.com/office/drawing/2014/main" id="{BB264AD4-0D63-4B68-9702-4D67FB64F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5157788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6" name="Oval 70">
            <a:extLst>
              <a:ext uri="{FF2B5EF4-FFF2-40B4-BE49-F238E27FC236}">
                <a16:creationId xmlns:a16="http://schemas.microsoft.com/office/drawing/2014/main" id="{E449C8C6-431B-4D21-A9FB-DF5EE75A8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084763"/>
            <a:ext cx="215900" cy="215900"/>
          </a:xfrm>
          <a:prstGeom prst="ellipse">
            <a:avLst/>
          </a:prstGeom>
          <a:solidFill>
            <a:srgbClr val="2112E4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B8A6431-B29B-4740-B834-3BC4DAD09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 </a:t>
            </a:r>
            <a:r>
              <a:rPr lang="lv-LV" altLang="en-US" dirty="0"/>
              <a:t>C++</a:t>
            </a:r>
            <a:r>
              <a:rPr lang="en-US" altLang="en-US" dirty="0"/>
              <a:t> program</a:t>
            </a:r>
            <a:endParaRPr lang="lv-LV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5B172B8-A3DC-4B5B-A31F-4810EECDB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708275"/>
            <a:ext cx="6130925" cy="2665413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#include &lt;iostream&gt;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using namespace std;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int main()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{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dirty="0">
                <a:latin typeface="Courier New" panose="02070309020205020404" pitchFamily="49" charset="0"/>
              </a:rPr>
              <a:t> &lt;&lt; "Hello , World !" &lt;&lt; </a:t>
            </a:r>
            <a:r>
              <a:rPr lang="en-US" altLang="en-US" sz="1800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dirty="0">
                <a:latin typeface="Courier New" panose="02070309020205020404" pitchFamily="49" charset="0"/>
              </a:rPr>
              <a:t> 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    system ("pause");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    return 0;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  <a:endParaRPr lang="lv-LV" altLang="en-US" sz="1800" dirty="0">
              <a:latin typeface="Courier New" panose="02070309020205020404" pitchFamily="49" charset="0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6DA7D53C-03FE-4309-A4D0-D4530864D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784"/>
            <a:ext cx="820896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You do not need to enter line numbers when you type the program text.
C++ language is case sensitive – replacing the </a:t>
            </a:r>
            <a:r>
              <a:rPr lang="en-US" altLang="en-US" b="1" dirty="0">
                <a:latin typeface="Times New Roman" panose="02020603050405020304" pitchFamily="18" charset="0"/>
              </a:rPr>
              <a:t>main</a:t>
            </a:r>
            <a:r>
              <a:rPr lang="en-US" altLang="en-US" dirty="0">
                <a:latin typeface="Times New Roman" panose="02020603050405020304" pitchFamily="18" charset="0"/>
              </a:rPr>
              <a:t> to </a:t>
            </a:r>
            <a:r>
              <a:rPr lang="en-US" altLang="en-US" b="1" dirty="0">
                <a:latin typeface="Times New Roman" panose="02020603050405020304" pitchFamily="18" charset="0"/>
              </a:rPr>
              <a:t>Main</a:t>
            </a:r>
            <a:r>
              <a:rPr lang="en-US" altLang="en-US" dirty="0">
                <a:latin typeface="Times New Roman" panose="02020603050405020304" pitchFamily="18" charset="0"/>
              </a:rPr>
              <a:t> or </a:t>
            </a:r>
            <a:r>
              <a:rPr lang="en-US" altLang="en-US" b="1" dirty="0">
                <a:latin typeface="Times New Roman" panose="02020603050405020304" pitchFamily="18" charset="0"/>
              </a:rPr>
              <a:t>MAIN</a:t>
            </a:r>
            <a:r>
              <a:rPr lang="en-US" altLang="en-US" dirty="0">
                <a:latin typeface="Times New Roman" panose="02020603050405020304" pitchFamily="18" charset="0"/>
              </a:rPr>
              <a:t> will make program nonfunctional!</a:t>
            </a:r>
            <a:endParaRPr lang="lv-LV" altLang="en-US" dirty="0">
              <a:latin typeface="Times New Roman" panose="02020603050405020304" pitchFamily="18" charset="0"/>
            </a:endParaRP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300680B8-3315-4EAD-A8F2-28DAE63D1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805488"/>
            <a:ext cx="8064500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Save file as </a:t>
            </a:r>
            <a:r>
              <a:rPr lang="lv-LV" altLang="en-US" i="1" dirty="0">
                <a:latin typeface="Times New Roman" panose="02020603050405020304" pitchFamily="18" charset="0"/>
              </a:rPr>
              <a:t>hello.cpp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Compile and Run </a:t>
            </a:r>
            <a:r>
              <a:rPr lang="lv-LV" altLang="en-US" dirty="0">
                <a:latin typeface="Times New Roman" panose="02020603050405020304" pitchFamily="18" charset="0"/>
              </a:rPr>
              <a:t>(</a:t>
            </a:r>
            <a:r>
              <a:rPr lang="en-US" altLang="en-US" dirty="0">
                <a:latin typeface="Times New Roman" panose="02020603050405020304" pitchFamily="18" charset="0"/>
              </a:rPr>
              <a:t>F11</a:t>
            </a:r>
            <a:r>
              <a:rPr lang="lv-LV" altLang="en-US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859CD91-E1EC-4400-9E2A-8AB29A431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 </a:t>
            </a:r>
            <a:r>
              <a:rPr lang="lv-LV" altLang="en-US" dirty="0"/>
              <a:t>C++</a:t>
            </a:r>
            <a:r>
              <a:rPr lang="en-US" altLang="en-US" dirty="0"/>
              <a:t> program</a:t>
            </a:r>
            <a:endParaRPr lang="lv-LV" altLang="en-US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9E5F991-4854-4CC0-847E-20F7A62C5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6048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Result</a:t>
            </a:r>
            <a:endParaRPr lang="lv-LV" altLang="en-US" dirty="0"/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96AAC07B-7782-4944-A04B-9B56D416D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44675"/>
            <a:ext cx="6602413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9" name="Text Box 5">
            <a:extLst>
              <a:ext uri="{FF2B5EF4-FFF2-40B4-BE49-F238E27FC236}">
                <a16:creationId xmlns:a16="http://schemas.microsoft.com/office/drawing/2014/main" id="{F6A0B59D-4DCB-40AA-ABD0-06DA39CF7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949950"/>
            <a:ext cx="80645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If everything was correct you'll see "Hello World!"
To exit a program press any key.</a:t>
            </a:r>
            <a:endParaRPr lang="lv-LV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C6FA267-1FC4-4DF8-80D5-426807183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First </a:t>
            </a:r>
            <a:r>
              <a:rPr lang="lv-LV" altLang="en-US" dirty="0"/>
              <a:t>C++</a:t>
            </a:r>
            <a:r>
              <a:rPr lang="en-US" altLang="en-US" dirty="0"/>
              <a:t> program</a:t>
            </a:r>
            <a:endParaRPr lang="lv-LV" altLang="en-US" dirty="0"/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842C1671-00B2-4877-ADE2-44B3C93D6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57338"/>
            <a:ext cx="8064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If there is an error in compilation, you will have the appropriate message.</a:t>
            </a:r>
            <a:endParaRPr lang="lv-LV" altLang="en-US" dirty="0">
              <a:latin typeface="Times New Roman" panose="02020603050405020304" pitchFamily="18" charset="0"/>
            </a:endParaRPr>
          </a:p>
        </p:txBody>
      </p:sp>
      <p:pic>
        <p:nvPicPr>
          <p:cNvPr id="18438" name="Picture 6">
            <a:extLst>
              <a:ext uri="{FF2B5EF4-FFF2-40B4-BE49-F238E27FC236}">
                <a16:creationId xmlns:a16="http://schemas.microsoft.com/office/drawing/2014/main" id="{002D0E10-ABC2-46BA-A8BC-1B6AA854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33600"/>
            <a:ext cx="6627812" cy="43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095EC2C-F392-42A1-85A7-A10454838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Program</a:t>
            </a:r>
            <a:r>
              <a:rPr lang="lv-LV" altLang="en-US" dirty="0"/>
              <a:t> </a:t>
            </a:r>
            <a:r>
              <a:rPr lang="lv-LV" altLang="en-US" dirty="0" err="1"/>
              <a:t>analysis</a:t>
            </a:r>
            <a:endParaRPr lang="lv-LV" altLang="en-US" dirty="0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D4A2C8D1-C6BA-41AE-9BED-00F251C22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5761038" cy="2303463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#include &lt;iostream&gt;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using namespace std;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int main()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cout &lt;&lt; "Hello , World !" &lt;&lt; endl 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system ("pause");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return 0;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  <a:endParaRPr lang="lv-LV" altLang="en-US" sz="1600">
              <a:latin typeface="Courier New" panose="02070309020205020404" pitchFamily="49" charset="0"/>
            </a:endParaRP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1FD3262F-6939-42C9-9692-508E9A942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365625"/>
            <a:ext cx="8135937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Times New Roman" panose="02020603050405020304" pitchFamily="18" charset="0"/>
              </a:rPr>
              <a:t>Input</a:t>
            </a:r>
            <a:r>
              <a:rPr lang="lv-LV" altLang="en-US" dirty="0">
                <a:latin typeface="Times New Roman" panose="02020603050405020304" pitchFamily="18" charset="0"/>
              </a:rPr>
              <a:t>/</a:t>
            </a:r>
            <a:r>
              <a:rPr lang="lv-LV" altLang="en-US" dirty="0" err="1">
                <a:latin typeface="Times New Roman" panose="02020603050405020304" pitchFamily="18" charset="0"/>
              </a:rPr>
              <a:t>Output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lv-LV" altLang="en-US" dirty="0" err="1">
                <a:latin typeface="Times New Roman" panose="02020603050405020304" pitchFamily="18" charset="0"/>
              </a:rPr>
              <a:t>streams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support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Use functions from the C++ standard libraries.
Blank lines will be ignored, it can be used to improve code understanding.</a:t>
            </a:r>
            <a:endParaRPr lang="lv-LV" altLang="en-US" dirty="0">
              <a:latin typeface="Times New Roman" panose="02020603050405020304" pitchFamily="18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Times New Roman" panose="02020603050405020304" pitchFamily="18" charset="0"/>
              </a:rPr>
              <a:t>main</a:t>
            </a:r>
            <a:r>
              <a:rPr lang="lv-LV" altLang="en-US" dirty="0">
                <a:latin typeface="Times New Roman" panose="02020603050405020304" pitchFamily="18" charset="0"/>
              </a:rPr>
              <a:t>() — </a:t>
            </a:r>
            <a:r>
              <a:rPr lang="en-US" altLang="en-US" dirty="0">
                <a:latin typeface="Times New Roman" panose="02020603050405020304" pitchFamily="18" charset="0"/>
              </a:rPr>
              <a:t>main C++ function</a:t>
            </a:r>
            <a:r>
              <a:rPr lang="lv-LV" altLang="en-US" dirty="0">
                <a:latin typeface="Times New Roman" panose="02020603050405020304" pitchFamily="18" charset="0"/>
              </a:rPr>
              <a:t>; </a:t>
            </a:r>
            <a:r>
              <a:rPr lang="en-US" altLang="en-US" dirty="0">
                <a:latin typeface="Times New Roman" panose="02020603050405020304" pitchFamily="18" charset="0"/>
              </a:rPr>
              <a:t>keyword </a:t>
            </a:r>
            <a:r>
              <a:rPr lang="en-US" altLang="en-US" b="1" dirty="0">
                <a:latin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</a:rPr>
              <a:t> means that the function will return the integer value.</a:t>
            </a:r>
            <a:endParaRPr lang="lv-LV" altLang="en-US" dirty="0">
              <a:latin typeface="Times New Roman" panose="02020603050405020304" pitchFamily="18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and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lv-LV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9.</a:t>
            </a:r>
            <a:r>
              <a:rPr lang="lv-LV" altLang="en-US" dirty="0">
                <a:latin typeface="Times New Roman" panose="02020603050405020304" pitchFamily="18" charset="0"/>
              </a:rPr>
              <a:t> – </a:t>
            </a:r>
            <a:r>
              <a:rPr lang="en-US" altLang="en-US" dirty="0">
                <a:latin typeface="Times New Roman" panose="02020603050405020304" pitchFamily="18" charset="0"/>
              </a:rPr>
              <a:t>function body enclosed in braces</a:t>
            </a:r>
            <a:endParaRPr lang="lv-LV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E4EC58F-10AE-42C0-B6A2-B7CDC6AF1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Program</a:t>
            </a:r>
            <a:r>
              <a:rPr lang="lv-LV" altLang="en-US" dirty="0"/>
              <a:t> </a:t>
            </a:r>
            <a:r>
              <a:rPr lang="lv-LV" altLang="en-US" dirty="0" err="1"/>
              <a:t>analysis</a:t>
            </a:r>
            <a:endParaRPr lang="lv-LV" altLang="en-US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FD71B2C-2D1E-4662-A655-DC0BE9A4D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5688012" cy="2376488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#include &lt;iostream&gt;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using namespace std;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int main()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cout &lt;&lt; "Hello , World !" &lt;&lt; endl 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system ("pause");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return 0;</a:t>
            </a:r>
          </a:p>
          <a:p>
            <a:pPr marL="533400" indent="-5334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  <a:endParaRPr lang="lv-LV" altLang="en-US" sz="1600">
              <a:latin typeface="Courier New" panose="02070309020205020404" pitchFamily="49" charset="0"/>
            </a:endParaRP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6DCE31CB-D57C-48A3-9D91-4B64F179F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365625"/>
            <a:ext cx="81359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 startAt="6"/>
            </a:pPr>
            <a:r>
              <a:rPr lang="en-US" altLang="en-US" i="1" dirty="0" err="1">
                <a:latin typeface="Times New Roman" panose="02020603050405020304" pitchFamily="18" charset="0"/>
              </a:rPr>
              <a:t>cout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is the name of the object that provides information output to the screen, output objects need to be separated by “&lt;&lt;” symbols, </a:t>
            </a:r>
            <a:r>
              <a:rPr lang="en-US" altLang="en-US" i="1" dirty="0" err="1">
                <a:latin typeface="Times New Roman" panose="02020603050405020304" pitchFamily="18" charset="0"/>
              </a:rPr>
              <a:t>endl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moves the cursor to the new line.</a:t>
            </a:r>
            <a:r>
              <a:rPr lang="en-US" altLang="en-US" i="1" dirty="0">
                <a:latin typeface="Times New Roman" panose="02020603050405020304" pitchFamily="18" charset="0"/>
              </a:rPr>
              <a:t>
system ("pause")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waits until any key is pressed and will not allow the program window to close.
Program exiting point</a:t>
            </a:r>
            <a:r>
              <a:rPr lang="lv-LV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</a:rPr>
              <a:t>value </a:t>
            </a:r>
            <a:r>
              <a:rPr lang="lv-LV" altLang="en-US" dirty="0">
                <a:latin typeface="Times New Roman" panose="02020603050405020304" pitchFamily="18" charset="0"/>
              </a:rPr>
              <a:t>“0”</a:t>
            </a:r>
            <a:r>
              <a:rPr lang="en-US" altLang="en-US" dirty="0">
                <a:latin typeface="Times New Roman" panose="02020603050405020304" pitchFamily="18" charset="0"/>
              </a:rPr>
              <a:t> is returned as result.</a:t>
            </a:r>
            <a:endParaRPr lang="lv-LV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64D7055-159E-4130-A197-88F1B835C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Notes</a:t>
            </a:r>
            <a:endParaRPr lang="lv-LV" altLang="en-US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23625AF-98F7-4FC0-8628-9D66017E6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19002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Compiler ignores blank lines
The transition to the next line and indentation also does not affect compiler work. </a:t>
            </a:r>
            <a:endParaRPr lang="lv-LV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The following program is completely equivalent to previous:</a:t>
            </a:r>
            <a:endParaRPr lang="lv-LV" altLang="en-US" sz="2400" dirty="0"/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50EDC290-E057-4FA9-92BD-BA8BF84F4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500438"/>
            <a:ext cx="84963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lv-LV" altLang="en-US">
                <a:latin typeface="Courier New" panose="02070309020205020404" pitchFamily="49" charset="0"/>
              </a:rPr>
              <a:t>#include &lt;iostream&gt; using namespace std;int main (){ cout &lt;&lt;</a:t>
            </a:r>
          </a:p>
          <a:p>
            <a:r>
              <a:rPr lang="lv-LV" altLang="en-US">
                <a:latin typeface="Courier New" panose="02070309020205020404" pitchFamily="49" charset="0"/>
              </a:rPr>
              <a:t>"Hello , World !"&lt;&lt; endl ; system ("pause"); return 0;}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02172097-EE7D-434B-9D8A-2C114609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65624"/>
            <a:ext cx="8158162" cy="2159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/>
              <a:t>To improve the readability of the code, you should use indents and blank lines.
Almost all programs ends with </a:t>
            </a:r>
            <a:r>
              <a:rPr lang="lv-LV" altLang="en-US" sz="2400" dirty="0"/>
              <a:t>“;”</a:t>
            </a:r>
          </a:p>
          <a:p>
            <a:r>
              <a:rPr lang="lv-LV" altLang="en-US" sz="2400" i="1" dirty="0"/>
              <a:t>#</a:t>
            </a:r>
            <a:r>
              <a:rPr lang="lv-LV" altLang="en-US" sz="2400" i="1" dirty="0" err="1"/>
              <a:t>include</a:t>
            </a:r>
            <a:r>
              <a:rPr lang="lv-LV" altLang="en-US" sz="2400" i="1" dirty="0"/>
              <a:t> &lt;</a:t>
            </a:r>
            <a:r>
              <a:rPr lang="lv-LV" altLang="en-US" sz="2400" i="1" dirty="0" err="1"/>
              <a:t>iostream</a:t>
            </a:r>
            <a:r>
              <a:rPr lang="lv-LV" altLang="en-US" sz="2400" i="1" dirty="0"/>
              <a:t>&gt; </a:t>
            </a:r>
            <a:r>
              <a:rPr lang="en-US" altLang="en-US" sz="2400" dirty="0"/>
              <a:t>command</a:t>
            </a:r>
            <a:r>
              <a:rPr lang="en-US" altLang="en-US" sz="2400" i="1" dirty="0"/>
              <a:t> </a:t>
            </a:r>
            <a:r>
              <a:rPr lang="en-US" altLang="en-US" sz="2400" dirty="0"/>
              <a:t>means: "Include to program </a:t>
            </a:r>
            <a:r>
              <a:rPr lang="en-US" altLang="en-US" sz="2400" b="1" dirty="0"/>
              <a:t>iostream</a:t>
            </a:r>
            <a:r>
              <a:rPr lang="en-US" altLang="en-US" sz="2400" dirty="0"/>
              <a:t> library"</a:t>
            </a:r>
            <a:endParaRPr lang="lv-LV" altLang="en-US" sz="2400" dirty="0"/>
          </a:p>
          <a:p>
            <a:endParaRPr lang="lv-LV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980ED96-CFBB-4EF2-BD29-8F818AE25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0E7C667-52A6-40E9-9ADC-7EC4D15D3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Change the program code to output another line of text “I Love C++”.
How many times </a:t>
            </a:r>
            <a:r>
              <a:rPr lang="en-US" altLang="en-US" i="1" dirty="0" err="1"/>
              <a:t>cout</a:t>
            </a:r>
            <a:r>
              <a:rPr lang="en-US" altLang="en-US" dirty="0"/>
              <a:t> object was used?
Try change the program code to use it only once.</a:t>
            </a:r>
            <a:endParaRPr lang="lv-LV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6706E8E-8298-4993-818D-3D969C284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Comments</a:t>
            </a:r>
            <a:r>
              <a:rPr lang="lv-LV" altLang="en-US" dirty="0"/>
              <a:t> </a:t>
            </a:r>
            <a:r>
              <a:rPr lang="lv-LV" altLang="en-US" dirty="0" err="1"/>
              <a:t>in</a:t>
            </a:r>
            <a:r>
              <a:rPr lang="lv-LV" altLang="en-US" dirty="0"/>
              <a:t> C++ </a:t>
            </a:r>
            <a:r>
              <a:rPr lang="lv-LV" altLang="en-US" dirty="0" err="1"/>
              <a:t>language</a:t>
            </a:r>
            <a:endParaRPr lang="lv-LV" altLang="en-US" dirty="0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9C6130EF-0777-4685-B1BC-E31C56A7E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924175"/>
            <a:ext cx="8135937" cy="252095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#include &lt;iostream&gt;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using namespace std;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int main()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main program function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{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dirty="0">
                <a:latin typeface="Courier New" panose="02070309020205020404" pitchFamily="49" charset="0"/>
              </a:rPr>
              <a:t> &lt;&lt; "Hello , World !" &lt;&lt; </a:t>
            </a:r>
            <a:r>
              <a:rPr lang="en-US" altLang="en-US" sz="1800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text output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system ("pause");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return 0;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end of the program</a:t>
            </a:r>
            <a:endParaRPr lang="lv-LV" altLang="en-US" sz="1800" dirty="0">
              <a:solidFill>
                <a:schemeClr val="bg2"/>
              </a:solidFill>
              <a:latin typeface="Courier New" panose="02070309020205020404" pitchFamily="49" charset="0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2DCF8588-F93D-4C5D-914A-3A7271FD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80645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Using of comments allows you to leave comments about complicated code, or usage of nonstandard solutions.
A comment is a sequence of symbols ignored by compiler.</a:t>
            </a:r>
            <a:endParaRPr lang="lv-LV" altLang="en-US" dirty="0">
              <a:latin typeface="Times New Roman" panose="02020603050405020304" pitchFamily="18" charset="0"/>
            </a:endParaRP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C077F92F-2B91-49CA-9F02-9C9BCC589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05488"/>
            <a:ext cx="7848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All text inserted after "//" symbols till the end of line belong to comment.</a:t>
            </a:r>
            <a:endParaRPr lang="lv-LV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8FE231E-6895-4B91-B790-69B5032F5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Comments</a:t>
            </a:r>
            <a:r>
              <a:rPr lang="lv-LV" altLang="en-US" dirty="0"/>
              <a:t> </a:t>
            </a:r>
            <a:r>
              <a:rPr lang="lv-LV" altLang="en-US" dirty="0" err="1"/>
              <a:t>in</a:t>
            </a:r>
            <a:r>
              <a:rPr lang="lv-LV" altLang="en-US" dirty="0"/>
              <a:t> C++ </a:t>
            </a:r>
            <a:r>
              <a:rPr lang="lv-LV" altLang="en-US" dirty="0" err="1"/>
              <a:t>language</a:t>
            </a:r>
            <a:endParaRPr lang="lv-LV" altLang="en-US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162C5F4-8AAC-45EC-B075-B5F5CADC6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135937" cy="396081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#include &lt;iostream&gt;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using namespace std;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int main()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main program function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{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dirty="0">
                <a:latin typeface="Courier New" panose="02070309020205020404" pitchFamily="49" charset="0"/>
              </a:rPr>
              <a:t> &lt;&lt; "Hello , World !" &lt;&lt; </a:t>
            </a:r>
            <a:r>
              <a:rPr lang="en-US" altLang="en-US" sz="1800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text output</a:t>
            </a:r>
            <a:endParaRPr lang="lv-LV" altLang="en-US" sz="1800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	/* 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Here is vary long comment</a:t>
            </a:r>
            <a:endParaRPr lang="lv-LV" altLang="en-US" sz="1800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which consist of several lines</a:t>
            </a:r>
            <a:endParaRPr lang="lv-LV" altLang="en-US" sz="1800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	</a:t>
            </a:r>
            <a:r>
              <a:rPr lang="lv-LV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cout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&lt;&lt; ”I </a:t>
            </a:r>
            <a:r>
              <a:rPr lang="lv-LV" altLang="en-US" sz="1800" dirty="0" err="1">
                <a:solidFill>
                  <a:schemeClr val="bg2"/>
                </a:solidFill>
                <a:latin typeface="Courier New" panose="02070309020205020404" pitchFamily="49" charset="0"/>
              </a:rPr>
              <a:t>love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C++”;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end of the long comment 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*/</a:t>
            </a:r>
            <a:endParaRPr lang="en-US" altLang="en-US" sz="1800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system ("pause");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return 0;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//</a:t>
            </a:r>
            <a:r>
              <a:rPr lang="en-US" altLang="en-US" sz="1800" dirty="0">
                <a:solidFill>
                  <a:schemeClr val="bg2"/>
                </a:solidFill>
                <a:latin typeface="Courier New" panose="02070309020205020404" pitchFamily="49" charset="0"/>
              </a:rPr>
              <a:t> end of the program</a:t>
            </a:r>
            <a:endParaRPr lang="lv-LV" altLang="en-US" sz="1800" dirty="0">
              <a:solidFill>
                <a:schemeClr val="bg2"/>
              </a:solidFill>
              <a:latin typeface="Courier New" panose="02070309020205020404" pitchFamily="49" charset="0"/>
            </a:endParaRP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B76B0713-6690-4318-93EB-CD1B6DA61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45125"/>
            <a:ext cx="78486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All the text between </a:t>
            </a:r>
            <a:r>
              <a:rPr lang="lv-LV" altLang="en-US" dirty="0">
                <a:latin typeface="Times New Roman" panose="02020603050405020304" pitchFamily="18" charset="0"/>
              </a:rPr>
              <a:t>“/*” </a:t>
            </a:r>
            <a:r>
              <a:rPr lang="en-US" altLang="en-US" dirty="0">
                <a:latin typeface="Times New Roman" panose="02020603050405020304" pitchFamily="18" charset="0"/>
              </a:rPr>
              <a:t> and </a:t>
            </a:r>
            <a:r>
              <a:rPr lang="lv-LV" altLang="en-US" dirty="0">
                <a:latin typeface="Times New Roman" panose="02020603050405020304" pitchFamily="18" charset="0"/>
              </a:rPr>
              <a:t>“*/” simbol</a:t>
            </a:r>
            <a:r>
              <a:rPr lang="en-US" altLang="en-US" dirty="0">
                <a:latin typeface="Times New Roman" panose="02020603050405020304" pitchFamily="18" charset="0"/>
              </a:rPr>
              <a:t>s</a:t>
            </a:r>
            <a:r>
              <a:rPr lang="lv-LV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belongs to comment</a:t>
            </a:r>
            <a:r>
              <a:rPr lang="lv-LV" altLang="en-US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Comments can also be used during the debugging of application by including pieces of suspicious code to comments</a:t>
            </a:r>
            <a:r>
              <a:rPr lang="lv-LV" altLang="en-US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88A0150-2F88-4A72-9BBF-747FD7856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Variables</a:t>
            </a:r>
            <a:endParaRPr lang="lv-LV" altLang="en-US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EEAE62F-99AF-456E-B216-2F7CE7FC8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533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r</a:t>
            </a:r>
            <a:r>
              <a:rPr lang="lv-LV" altLang="en-US" dirty="0" err="1"/>
              <a:t>esolving</a:t>
            </a:r>
            <a:r>
              <a:rPr lang="lv-LV" altLang="en-US" dirty="0"/>
              <a:t> </a:t>
            </a:r>
            <a:r>
              <a:rPr lang="lv-LV" altLang="en-US" dirty="0" err="1"/>
              <a:t>an</a:t>
            </a:r>
            <a:r>
              <a:rPr lang="lv-LV" altLang="en-US" dirty="0"/>
              <a:t> </a:t>
            </a:r>
            <a:r>
              <a:rPr lang="lv-LV" altLang="en-US" dirty="0" err="1"/>
              <a:t>equation</a:t>
            </a:r>
            <a:r>
              <a:rPr lang="en-US" altLang="en-US" dirty="0"/>
              <a:t>: </a:t>
            </a:r>
            <a:r>
              <a:rPr lang="lv-LV" altLang="en-US" dirty="0"/>
              <a:t>a + x = b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5A3E565A-5A7F-4649-9E01-041525646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89138"/>
            <a:ext cx="8207375" cy="474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#include &lt;iostream&gt;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using namespace std;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int main()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double a,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 err="1">
                <a:latin typeface="Courier New" panose="02070309020205020404" pitchFamily="49" charset="0"/>
              </a:rPr>
              <a:t>cout</a:t>
            </a:r>
            <a:r>
              <a:rPr lang="en-US" altLang="en-US" sz="1600" dirty="0">
                <a:latin typeface="Courier New" panose="02070309020205020404" pitchFamily="49" charset="0"/>
              </a:rPr>
              <a:t> &lt;&lt; "Input a: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 err="1">
                <a:latin typeface="Courier New" panose="02070309020205020404" pitchFamily="49" charset="0"/>
              </a:rPr>
              <a:t>cin</a:t>
            </a:r>
            <a:r>
              <a:rPr lang="en-US" altLang="en-US" sz="1600" dirty="0">
                <a:latin typeface="Courier New" panose="02070309020205020404" pitchFamily="49" charset="0"/>
              </a:rPr>
              <a:t> &gt;&gt; 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 err="1">
                <a:latin typeface="Courier New" panose="02070309020205020404" pitchFamily="49" charset="0"/>
              </a:rPr>
              <a:t>cout</a:t>
            </a:r>
            <a:r>
              <a:rPr lang="en-US" altLang="en-US" sz="1600" dirty="0">
                <a:latin typeface="Courier New" panose="02070309020205020404" pitchFamily="49" charset="0"/>
              </a:rPr>
              <a:t> &lt;&lt; "Input b: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 err="1">
                <a:latin typeface="Courier New" panose="02070309020205020404" pitchFamily="49" charset="0"/>
              </a:rPr>
              <a:t>cin</a:t>
            </a:r>
            <a:r>
              <a:rPr lang="en-US" altLang="en-US" sz="1600" dirty="0">
                <a:latin typeface="Courier New" panose="02070309020205020404" pitchFamily="49" charset="0"/>
              </a:rPr>
              <a:t> &gt;&gt;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double x = b-a;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 err="1">
                <a:latin typeface="Courier New" panose="02070309020205020404" pitchFamily="49" charset="0"/>
              </a:rPr>
              <a:t>cout</a:t>
            </a:r>
            <a:r>
              <a:rPr lang="en-US" altLang="en-US" sz="1600" dirty="0">
                <a:latin typeface="Courier New" panose="02070309020205020404" pitchFamily="49" charset="0"/>
              </a:rPr>
              <a:t> &lt;&lt; "Root of equation </a:t>
            </a:r>
            <a:r>
              <a:rPr lang="en-US" altLang="en-US" sz="1600" dirty="0" err="1">
                <a:latin typeface="Courier New" panose="02070309020205020404" pitchFamily="49" charset="0"/>
              </a:rPr>
              <a:t>a+x</a:t>
            </a:r>
            <a:r>
              <a:rPr lang="en-US" altLang="en-US" sz="1600" dirty="0">
                <a:latin typeface="Courier New" panose="02070309020205020404" pitchFamily="49" charset="0"/>
              </a:rPr>
              <a:t>=b is " &lt;&lt; x &lt;&lt; </a:t>
            </a:r>
            <a:r>
              <a:rPr lang="en-US" altLang="en-US" sz="1600" dirty="0" err="1">
                <a:latin typeface="Courier New" panose="02070309020205020404" pitchFamily="49" charset="0"/>
              </a:rPr>
              <a:t>endl</a:t>
            </a:r>
            <a:r>
              <a:rPr lang="en-US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system 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}</a:t>
            </a:r>
            <a:endParaRPr lang="lv-LV" altLang="en-US" sz="16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2A63B0C-8E9B-44DC-A800-02701260E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Variables</a:t>
            </a:r>
            <a:endParaRPr lang="lv-LV" altLang="en-US" dirty="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840EEE9-A807-450E-9AC8-0DB740132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4137025"/>
          </a:xfrm>
        </p:spPr>
        <p:txBody>
          <a:bodyPr/>
          <a:lstStyle/>
          <a:p>
            <a:r>
              <a:rPr lang="lv-LV" altLang="en-US" i="1" dirty="0" err="1"/>
              <a:t>cin</a:t>
            </a:r>
            <a:r>
              <a:rPr lang="lv-LV" altLang="en-US" dirty="0"/>
              <a:t> </a:t>
            </a:r>
            <a:r>
              <a:rPr lang="en-US" altLang="en-US" dirty="0"/>
              <a:t>is the name of the object that provide input in console mode, all data you need to input must be separated with “&gt;&gt;” symbols</a:t>
            </a:r>
            <a:endParaRPr lang="lv-LV" altLang="en-US" dirty="0"/>
          </a:p>
          <a:p>
            <a:r>
              <a:rPr lang="en-US" altLang="en-US" i="1" dirty="0">
                <a:latin typeface="Courier New" panose="02070309020205020404" pitchFamily="49" charset="0"/>
              </a:rPr>
              <a:t>double a, b;</a:t>
            </a:r>
            <a:r>
              <a:rPr lang="lv-LV" altLang="en-US" i="1" dirty="0"/>
              <a:t> </a:t>
            </a:r>
            <a:r>
              <a:rPr lang="en-US" altLang="en-US" dirty="0"/>
              <a:t>variable definition</a:t>
            </a:r>
            <a:endParaRPr lang="lv-LV" altLang="en-US" dirty="0"/>
          </a:p>
          <a:p>
            <a:r>
              <a:rPr lang="en-US" altLang="en-US" dirty="0">
                <a:latin typeface="Courier New" panose="02070309020205020404" pitchFamily="49" charset="0"/>
              </a:rPr>
              <a:t>double x = b-a;</a:t>
            </a:r>
            <a:r>
              <a:rPr lang="lv-LV" altLang="en-US" dirty="0"/>
              <a:t> </a:t>
            </a:r>
            <a:r>
              <a:rPr lang="en-US" altLang="en-US" dirty="0"/>
              <a:t>variable definition and assignment of initial value.</a:t>
            </a:r>
            <a:endParaRPr lang="lv-LV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2B8D480-B683-454E-A2F3-542FDC815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Variables</a:t>
            </a:r>
            <a:endParaRPr lang="lv-LV" altLang="en-US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D969748-6C2D-454A-84AF-49D4A0A72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altLang="en-US" sz="2800" dirty="0"/>
              <a:t>We need to store a data somewhere</a:t>
            </a:r>
            <a:endParaRPr lang="lv-LV" altLang="en-US" sz="2800" dirty="0"/>
          </a:p>
          <a:p>
            <a:r>
              <a:rPr lang="en-US" altLang="en-US" sz="2800" dirty="0"/>
              <a:t>All the variables in C++ language must be defined before using them.
In C++, a variable can be defined in any place, but:</a:t>
            </a:r>
            <a:endParaRPr lang="lv-LV" altLang="en-US" sz="2800" dirty="0"/>
          </a:p>
          <a:p>
            <a:pPr lvl="1"/>
            <a:r>
              <a:rPr lang="en-US" altLang="en-US" sz="2400" dirty="0"/>
              <a:t>It is not allowed to define multiple variables with the same name in the same block (the block continues from an opening brace to a closing brace)
You can use a variable immediately after you defined it and until the current block ends (to the nearest closing brace)</a:t>
            </a:r>
            <a:endParaRPr lang="lv-LV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9CB36127-B79F-4106-8C4D-AE44FCCCB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04813"/>
            <a:ext cx="7467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en-US" sz="4400" dirty="0">
                <a:latin typeface="Times New Roman" panose="02020603050405020304" pitchFamily="18" charset="0"/>
              </a:rPr>
              <a:t>Variable types in</a:t>
            </a:r>
            <a:r>
              <a:rPr lang="lv-LV" altLang="en-US" sz="4400" dirty="0">
                <a:latin typeface="Times New Roman" panose="02020603050405020304" pitchFamily="18" charset="0"/>
              </a:rPr>
              <a:t> C++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59DAE00C-3832-45A2-AE50-FB53FA091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341438"/>
            <a:ext cx="8388350" cy="292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b="1" u="sng" dirty="0">
                <a:latin typeface="Times New Roman" panose="02020603050405020304" pitchFamily="18" charset="0"/>
              </a:rPr>
              <a:t>Basic types</a:t>
            </a:r>
            <a:endParaRPr lang="lv-LV" altLang="en-US" sz="2400" b="1" u="sng" dirty="0">
              <a:latin typeface="Times New Roman" panose="02020603050405020304" pitchFamily="18" charset="0"/>
            </a:endParaRPr>
          </a:p>
          <a:p>
            <a:r>
              <a:rPr lang="lv-LV" altLang="en-US" b="1" dirty="0" err="1">
                <a:latin typeface="Times New Roman" panose="02020603050405020304" pitchFamily="18" charset="0"/>
              </a:rPr>
              <a:t>Keyword</a:t>
            </a:r>
            <a:r>
              <a:rPr lang="lv-LV" altLang="en-US" b="1" dirty="0">
                <a:latin typeface="Times New Roman" panose="02020603050405020304" pitchFamily="18" charset="0"/>
              </a:rPr>
              <a:t> 	</a:t>
            </a:r>
            <a:r>
              <a:rPr lang="lv-LV" altLang="en-US" b="1" dirty="0" err="1">
                <a:latin typeface="Times New Roman" panose="02020603050405020304" pitchFamily="18" charset="0"/>
              </a:rPr>
              <a:t>Low</a:t>
            </a:r>
            <a:r>
              <a:rPr lang="lv-LV" altLang="en-US" b="1" dirty="0">
                <a:latin typeface="Times New Roman" panose="02020603050405020304" pitchFamily="18" charset="0"/>
              </a:rPr>
              <a:t>		</a:t>
            </a:r>
            <a:r>
              <a:rPr lang="lv-LV" altLang="en-US" b="1" dirty="0" err="1">
                <a:latin typeface="Times New Roman" panose="02020603050405020304" pitchFamily="18" charset="0"/>
              </a:rPr>
              <a:t>High</a:t>
            </a:r>
            <a:r>
              <a:rPr lang="lv-LV" altLang="en-US" b="1" dirty="0">
                <a:latin typeface="Times New Roman" panose="02020603050405020304" pitchFamily="18" charset="0"/>
              </a:rPr>
              <a:t>		</a:t>
            </a:r>
            <a:r>
              <a:rPr lang="lv-LV" altLang="en-US" b="1" dirty="0" err="1">
                <a:latin typeface="Times New Roman" panose="02020603050405020304" pitchFamily="18" charset="0"/>
              </a:rPr>
              <a:t>Dig</a:t>
            </a:r>
            <a:r>
              <a:rPr lang="lv-LV" altLang="en-US" b="1" dirty="0">
                <a:latin typeface="Times New Roman" panose="02020603050405020304" pitchFamily="18" charset="0"/>
              </a:rPr>
              <a:t>. </a:t>
            </a:r>
            <a:r>
              <a:rPr lang="lv-LV" altLang="en-US" b="1" dirty="0" err="1">
                <a:latin typeface="Times New Roman" panose="02020603050405020304" pitchFamily="18" charset="0"/>
              </a:rPr>
              <a:t>of</a:t>
            </a:r>
            <a:r>
              <a:rPr lang="lv-LV" altLang="en-US" b="1" dirty="0">
                <a:latin typeface="Times New Roman" panose="02020603050405020304" pitchFamily="18" charset="0"/>
              </a:rPr>
              <a:t> Prec. 	</a:t>
            </a:r>
            <a:r>
              <a:rPr lang="lv-LV" altLang="en-US" b="1" dirty="0" err="1">
                <a:latin typeface="Times New Roman" panose="02020603050405020304" pitchFamily="18" charset="0"/>
              </a:rPr>
              <a:t>Bytes</a:t>
            </a:r>
            <a:endParaRPr lang="lv-LV" altLang="en-US" b="1" dirty="0">
              <a:latin typeface="Times New Roman" panose="02020603050405020304" pitchFamily="18" charset="0"/>
            </a:endParaRPr>
          </a:p>
          <a:p>
            <a:r>
              <a:rPr lang="lv-LV" altLang="en-US" dirty="0" err="1">
                <a:latin typeface="Courier New" panose="02070309020205020404" pitchFamily="49" charset="0"/>
              </a:rPr>
              <a:t>char</a:t>
            </a:r>
            <a:r>
              <a:rPr lang="lv-LV" altLang="en-US" dirty="0">
                <a:latin typeface="Courier New" panose="02070309020205020404" pitchFamily="49" charset="0"/>
              </a:rPr>
              <a:t>		-128		127		n/a		1</a:t>
            </a:r>
          </a:p>
          <a:p>
            <a:r>
              <a:rPr lang="lv-LV" altLang="en-US" dirty="0" err="1">
                <a:latin typeface="Courier New" panose="02070309020205020404" pitchFamily="49" charset="0"/>
              </a:rPr>
              <a:t>short</a:t>
            </a:r>
            <a:r>
              <a:rPr lang="lv-LV" altLang="en-US" dirty="0">
                <a:latin typeface="Courier New" panose="02070309020205020404" pitchFamily="49" charset="0"/>
              </a:rPr>
              <a:t>		-32’768	32’767		n/a		2</a:t>
            </a:r>
          </a:p>
          <a:p>
            <a:r>
              <a:rPr lang="lv-LV" altLang="en-US" dirty="0" err="1">
                <a:latin typeface="Courier New" panose="02070309020205020404" pitchFamily="49" charset="0"/>
              </a:rPr>
              <a:t>int</a:t>
            </a:r>
            <a:r>
              <a:rPr lang="lv-LV" altLang="en-US" dirty="0">
                <a:latin typeface="Courier New" panose="02070309020205020404" pitchFamily="49" charset="0"/>
              </a:rPr>
              <a:t>		</a:t>
            </a:r>
            <a:r>
              <a:rPr lang="lv-LV" altLang="en-US" sz="1600" dirty="0">
                <a:latin typeface="Courier New" panose="02070309020205020404" pitchFamily="49" charset="0"/>
              </a:rPr>
              <a:t>-2’147’483’648</a:t>
            </a:r>
            <a:r>
              <a:rPr lang="lv-LV" altLang="en-US" dirty="0">
                <a:latin typeface="Courier New" panose="02070309020205020404" pitchFamily="49" charset="0"/>
              </a:rPr>
              <a:t>	</a:t>
            </a:r>
            <a:r>
              <a:rPr lang="lv-LV" altLang="en-US" sz="1600" dirty="0">
                <a:latin typeface="Courier New" panose="02070309020205020404" pitchFamily="49" charset="0"/>
              </a:rPr>
              <a:t>2’147’483’647</a:t>
            </a:r>
            <a:r>
              <a:rPr lang="lv-LV" altLang="en-US" dirty="0">
                <a:latin typeface="Courier New" panose="02070309020205020404" pitchFamily="49" charset="0"/>
              </a:rPr>
              <a:t>	n/a		4</a:t>
            </a:r>
          </a:p>
          <a:p>
            <a:r>
              <a:rPr lang="lv-LV" altLang="en-US" dirty="0" err="1">
                <a:latin typeface="Courier New" panose="02070309020205020404" pitchFamily="49" charset="0"/>
              </a:rPr>
              <a:t>long</a:t>
            </a:r>
            <a:r>
              <a:rPr lang="lv-LV" altLang="en-US" dirty="0">
                <a:latin typeface="Courier New" panose="02070309020205020404" pitchFamily="49" charset="0"/>
              </a:rPr>
              <a:t>		</a:t>
            </a:r>
            <a:r>
              <a:rPr lang="lv-LV" altLang="en-US" sz="1600" dirty="0">
                <a:latin typeface="Courier New" panose="02070309020205020404" pitchFamily="49" charset="0"/>
              </a:rPr>
              <a:t>-2’147’483’648</a:t>
            </a:r>
            <a:r>
              <a:rPr lang="lv-LV" altLang="en-US" dirty="0">
                <a:latin typeface="Courier New" panose="02070309020205020404" pitchFamily="49" charset="0"/>
              </a:rPr>
              <a:t>	</a:t>
            </a:r>
            <a:r>
              <a:rPr lang="lv-LV" altLang="en-US" sz="1600" dirty="0">
                <a:latin typeface="Courier New" panose="02070309020205020404" pitchFamily="49" charset="0"/>
              </a:rPr>
              <a:t>2’147’483’647</a:t>
            </a:r>
            <a:r>
              <a:rPr lang="lv-LV" altLang="en-US" dirty="0">
                <a:latin typeface="Courier New" panose="02070309020205020404" pitchFamily="49" charset="0"/>
              </a:rPr>
              <a:t>	n/a		4</a:t>
            </a:r>
          </a:p>
          <a:p>
            <a:r>
              <a:rPr lang="lv-LV" altLang="en-US" dirty="0" err="1">
                <a:latin typeface="Courier New" panose="02070309020205020404" pitchFamily="49" charset="0"/>
              </a:rPr>
              <a:t>float</a:t>
            </a:r>
            <a:r>
              <a:rPr lang="lv-LV" altLang="en-US" dirty="0">
                <a:latin typeface="Courier New" panose="02070309020205020404" pitchFamily="49" charset="0"/>
              </a:rPr>
              <a:t>		3.4*10</a:t>
            </a:r>
            <a:r>
              <a:rPr lang="lv-LV" altLang="en-US" baseline="30000" dirty="0">
                <a:latin typeface="Courier New" panose="02070309020205020404" pitchFamily="49" charset="0"/>
              </a:rPr>
              <a:t>-38</a:t>
            </a:r>
            <a:r>
              <a:rPr lang="lv-LV" altLang="en-US" dirty="0">
                <a:latin typeface="Courier New" panose="02070309020205020404" pitchFamily="49" charset="0"/>
              </a:rPr>
              <a:t>	3.4*10</a:t>
            </a:r>
            <a:r>
              <a:rPr lang="lv-LV" altLang="en-US" baseline="30000" dirty="0">
                <a:latin typeface="Courier New" panose="02070309020205020404" pitchFamily="49" charset="0"/>
              </a:rPr>
              <a:t>38</a:t>
            </a:r>
            <a:r>
              <a:rPr lang="lv-LV" altLang="en-US" dirty="0">
                <a:latin typeface="Courier New" panose="02070309020205020404" pitchFamily="49" charset="0"/>
              </a:rPr>
              <a:t>	7		4</a:t>
            </a:r>
          </a:p>
          <a:p>
            <a:r>
              <a:rPr lang="lv-LV" altLang="en-US" dirty="0" err="1">
                <a:latin typeface="Courier New" panose="02070309020205020404" pitchFamily="49" charset="0"/>
              </a:rPr>
              <a:t>double</a:t>
            </a:r>
            <a:r>
              <a:rPr lang="lv-LV" altLang="en-US" dirty="0">
                <a:latin typeface="Courier New" panose="02070309020205020404" pitchFamily="49" charset="0"/>
              </a:rPr>
              <a:t>		1.7*10</a:t>
            </a:r>
            <a:r>
              <a:rPr lang="lv-LV" altLang="en-US" baseline="30000" dirty="0">
                <a:latin typeface="Courier New" panose="02070309020205020404" pitchFamily="49" charset="0"/>
              </a:rPr>
              <a:t>-308</a:t>
            </a:r>
            <a:r>
              <a:rPr lang="lv-LV" altLang="en-US" dirty="0">
                <a:latin typeface="Courier New" panose="02070309020205020404" pitchFamily="49" charset="0"/>
              </a:rPr>
              <a:t>	1.7*10</a:t>
            </a:r>
            <a:r>
              <a:rPr lang="lv-LV" altLang="en-US" baseline="30000" dirty="0">
                <a:latin typeface="Courier New" panose="02070309020205020404" pitchFamily="49" charset="0"/>
              </a:rPr>
              <a:t>308</a:t>
            </a:r>
            <a:r>
              <a:rPr lang="lv-LV" altLang="en-US" dirty="0">
                <a:latin typeface="Courier New" panose="02070309020205020404" pitchFamily="49" charset="0"/>
              </a:rPr>
              <a:t> 	15		8</a:t>
            </a:r>
          </a:p>
          <a:p>
            <a:r>
              <a:rPr lang="lv-LV" altLang="en-US" dirty="0" err="1">
                <a:latin typeface="Courier New" panose="02070309020205020404" pitchFamily="49" charset="0"/>
              </a:rPr>
              <a:t>long</a:t>
            </a:r>
            <a:r>
              <a:rPr lang="lv-LV" altLang="en-US" dirty="0">
                <a:latin typeface="Courier New" panose="02070309020205020404" pitchFamily="49" charset="0"/>
              </a:rPr>
              <a:t> </a:t>
            </a:r>
            <a:r>
              <a:rPr lang="lv-LV" altLang="en-US" dirty="0" err="1">
                <a:latin typeface="Courier New" panose="02070309020205020404" pitchFamily="49" charset="0"/>
              </a:rPr>
              <a:t>double</a:t>
            </a:r>
            <a:r>
              <a:rPr lang="lv-LV" altLang="en-US" dirty="0">
                <a:latin typeface="Courier New" panose="02070309020205020404" pitchFamily="49" charset="0"/>
              </a:rPr>
              <a:t>	3.4*10</a:t>
            </a:r>
            <a:r>
              <a:rPr lang="lv-LV" altLang="en-US" baseline="30000" dirty="0">
                <a:latin typeface="Courier New" panose="02070309020205020404" pitchFamily="49" charset="0"/>
              </a:rPr>
              <a:t>-4932</a:t>
            </a:r>
            <a:r>
              <a:rPr lang="lv-LV" altLang="en-US" dirty="0">
                <a:latin typeface="Courier New" panose="02070309020205020404" pitchFamily="49" charset="0"/>
              </a:rPr>
              <a:t>	3.4*10</a:t>
            </a:r>
            <a:r>
              <a:rPr lang="lv-LV" altLang="en-US" baseline="30000" dirty="0">
                <a:latin typeface="Courier New" panose="02070309020205020404" pitchFamily="49" charset="0"/>
              </a:rPr>
              <a:t>4932</a:t>
            </a:r>
            <a:r>
              <a:rPr lang="lv-LV" altLang="en-US" dirty="0">
                <a:latin typeface="Courier New" panose="02070309020205020404" pitchFamily="49" charset="0"/>
              </a:rPr>
              <a:t>	19		16</a:t>
            </a:r>
          </a:p>
          <a:p>
            <a:r>
              <a:rPr lang="lv-LV" altLang="en-US" dirty="0" err="1">
                <a:latin typeface="Courier New" panose="02070309020205020404" pitchFamily="49" charset="0"/>
              </a:rPr>
              <a:t>bool</a:t>
            </a:r>
            <a:r>
              <a:rPr lang="lv-LV" altLang="en-US" dirty="0">
                <a:latin typeface="Courier New" panose="02070309020205020404" pitchFamily="49" charset="0"/>
              </a:rPr>
              <a:t>		</a:t>
            </a:r>
            <a:r>
              <a:rPr lang="lv-LV" altLang="en-US" dirty="0" err="1">
                <a:latin typeface="Courier New" panose="02070309020205020404" pitchFamily="49" charset="0"/>
              </a:rPr>
              <a:t>false</a:t>
            </a:r>
            <a:r>
              <a:rPr lang="lv-LV" altLang="en-US" dirty="0">
                <a:latin typeface="Courier New" panose="02070309020205020404" pitchFamily="49" charset="0"/>
              </a:rPr>
              <a:t>		</a:t>
            </a:r>
            <a:r>
              <a:rPr lang="lv-LV" altLang="en-US" dirty="0" err="1">
                <a:latin typeface="Courier New" panose="02070309020205020404" pitchFamily="49" charset="0"/>
              </a:rPr>
              <a:t>true</a:t>
            </a:r>
            <a:r>
              <a:rPr lang="lv-LV" altLang="en-US" dirty="0">
                <a:latin typeface="Courier New" panose="02070309020205020404" pitchFamily="49" charset="0"/>
              </a:rPr>
              <a:t>		n/a		1</a:t>
            </a:r>
            <a:endParaRPr lang="lv-LV" altLang="en-US" dirty="0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F0359812-7C8B-459A-BF0F-5CE4727D1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365625"/>
            <a:ext cx="8305800" cy="183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lv-LV" altLang="en-US" sz="2400" b="1" u="sng">
                <a:latin typeface="Times New Roman" panose="02020603050405020304" pitchFamily="18" charset="0"/>
              </a:rPr>
              <a:t>Unsigned Integer Types</a:t>
            </a:r>
          </a:p>
          <a:p>
            <a:r>
              <a:rPr lang="lv-LV" altLang="en-US" b="1">
                <a:latin typeface="Times New Roman" panose="02020603050405020304" pitchFamily="18" charset="0"/>
              </a:rPr>
              <a:t>Keyword 		Low	High		Bytes</a:t>
            </a:r>
          </a:p>
          <a:p>
            <a:r>
              <a:rPr lang="lv-LV" altLang="en-US">
                <a:latin typeface="Courier New" panose="02070309020205020404" pitchFamily="49" charset="0"/>
              </a:rPr>
              <a:t>unsigned char		0	255		1</a:t>
            </a:r>
          </a:p>
          <a:p>
            <a:r>
              <a:rPr lang="lv-LV" altLang="en-US">
                <a:latin typeface="Courier New" panose="02070309020205020404" pitchFamily="49" charset="0"/>
              </a:rPr>
              <a:t>unsigned short	0	65’535		2</a:t>
            </a:r>
          </a:p>
          <a:p>
            <a:r>
              <a:rPr lang="lv-LV" altLang="en-US">
                <a:latin typeface="Courier New" panose="02070309020205020404" pitchFamily="49" charset="0"/>
              </a:rPr>
              <a:t>unsigned int		0	4</a:t>
            </a:r>
            <a:r>
              <a:rPr lang="lv-LV" altLang="en-US" sz="1600">
                <a:latin typeface="Courier New" panose="02070309020205020404" pitchFamily="49" charset="0"/>
              </a:rPr>
              <a:t>’294’967’295</a:t>
            </a:r>
            <a:r>
              <a:rPr lang="lv-LV" altLang="en-US">
                <a:latin typeface="Courier New" panose="02070309020205020404" pitchFamily="49" charset="0"/>
              </a:rPr>
              <a:t>	4</a:t>
            </a:r>
          </a:p>
          <a:p>
            <a:r>
              <a:rPr lang="lv-LV" altLang="en-US">
                <a:latin typeface="Courier New" panose="02070309020205020404" pitchFamily="49" charset="0"/>
              </a:rPr>
              <a:t>unsigned long		0	4</a:t>
            </a:r>
            <a:r>
              <a:rPr lang="lv-LV" altLang="en-US" sz="1600">
                <a:latin typeface="Courier New" panose="02070309020205020404" pitchFamily="49" charset="0"/>
              </a:rPr>
              <a:t>’294’967’295 </a:t>
            </a:r>
            <a:r>
              <a:rPr lang="lv-LV" altLang="en-US">
                <a:latin typeface="Courier New" panose="02070309020205020404" pitchFamily="49" charset="0"/>
              </a:rPr>
              <a:t>	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418EC21-40A8-4E37-9D73-B9E089D95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Variable names</a:t>
            </a:r>
            <a:endParaRPr lang="lv-LV" altLang="en-US" dirty="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44263CB-95DB-4A39-A41C-900BDDE2B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/>
              <a:t>In variable names you can use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Latin characters A-Z, a-z
Underlining symbol
Digits 0-9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0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/>
              <a:t>Variables and function names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Can not begin with a number
does not recommend to start and end with the underlining symbol
should not match the reserved keywords (int, return,...)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000" dirty="0"/>
          </a:p>
          <a:p>
            <a:pPr marL="0" indent="0">
              <a:lnSpc>
                <a:spcPct val="80000"/>
              </a:lnSpc>
              <a:buNone/>
            </a:pPr>
            <a:r>
              <a:rPr lang="lv-LV" altLang="en-US" sz="2000" dirty="0" err="1"/>
              <a:t>Examples</a:t>
            </a:r>
            <a:r>
              <a:rPr lang="lv-LV" altLang="en-US" sz="2000" dirty="0"/>
              <a:t>:</a:t>
            </a:r>
          </a:p>
          <a:p>
            <a:pPr>
              <a:lnSpc>
                <a:spcPct val="80000"/>
              </a:lnSpc>
            </a:pPr>
            <a:r>
              <a:rPr lang="lv-LV" altLang="en-US" sz="2000" dirty="0" err="1"/>
              <a:t>Allowed</a:t>
            </a:r>
            <a:r>
              <a:rPr lang="lv-LV" altLang="en-US" sz="2000" dirty="0"/>
              <a:t> </a:t>
            </a:r>
            <a:r>
              <a:rPr lang="lv-LV" altLang="en-US" sz="2000" dirty="0" err="1"/>
              <a:t>names</a:t>
            </a:r>
            <a:r>
              <a:rPr lang="lv-LV" altLang="en-US" sz="2000" dirty="0"/>
              <a:t>: </a:t>
            </a:r>
            <a:r>
              <a:rPr lang="lv-LV" altLang="en-US" sz="2000" dirty="0">
                <a:latin typeface="Courier New" panose="02070309020205020404" pitchFamily="49" charset="0"/>
              </a:rPr>
              <a:t>a, b, x1, y_42, </a:t>
            </a:r>
            <a:r>
              <a:rPr lang="lv-LV" altLang="en-US" sz="2000" dirty="0" err="1">
                <a:latin typeface="Courier New" panose="02070309020205020404" pitchFamily="49" charset="0"/>
              </a:rPr>
              <a:t>day_of_week</a:t>
            </a:r>
            <a:r>
              <a:rPr lang="lv-LV" altLang="en-US" sz="2000" dirty="0">
                <a:latin typeface="Courier New" panose="02070309020205020404" pitchFamily="49" charset="0"/>
              </a:rPr>
              <a:t>, </a:t>
            </a:r>
            <a:r>
              <a:rPr lang="lv-LV" altLang="en-US" sz="2000" dirty="0" err="1">
                <a:latin typeface="Courier New" panose="02070309020205020404" pitchFamily="49" charset="0"/>
              </a:rPr>
              <a:t>num_of_students</a:t>
            </a:r>
            <a:r>
              <a:rPr lang="lv-LV" altLang="en-US" sz="2000" dirty="0">
                <a:latin typeface="Courier New" panose="02070309020205020404" pitchFamily="49" charset="0"/>
              </a:rPr>
              <a:t>, route_66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Not allowed names</a:t>
            </a:r>
            <a:r>
              <a:rPr lang="lv-LV" altLang="en-US" sz="2000" dirty="0"/>
              <a:t>: </a:t>
            </a:r>
            <a:r>
              <a:rPr lang="lv-LV" altLang="en-US" sz="2000" dirty="0">
                <a:latin typeface="Courier New" panose="02070309020205020404" pitchFamily="49" charset="0"/>
              </a:rPr>
              <a:t>3rd_law, </a:t>
            </a:r>
            <a:r>
              <a:rPr lang="lv-LV" altLang="en-US" sz="2000" dirty="0" err="1">
                <a:latin typeface="Courier New" panose="02070309020205020404" pitchFamily="49" charset="0"/>
              </a:rPr>
              <a:t>double</a:t>
            </a:r>
            <a:endParaRPr lang="lv-LV" altLang="en-US" sz="20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000" dirty="0"/>
              <a:t>Not recommended names</a:t>
            </a:r>
            <a:r>
              <a:rPr lang="lv-LV" altLang="en-US" sz="2000" dirty="0"/>
              <a:t>: </a:t>
            </a:r>
            <a:r>
              <a:rPr lang="lv-LV" altLang="en-US" sz="2000" dirty="0">
                <a:latin typeface="Courier New" panose="02070309020205020404" pitchFamily="49" charset="0"/>
              </a:rPr>
              <a:t>_</a:t>
            </a:r>
            <a:r>
              <a:rPr lang="lv-LV" altLang="en-US" sz="2000" dirty="0" err="1">
                <a:latin typeface="Courier New" panose="02070309020205020404" pitchFamily="49" charset="0"/>
              </a:rPr>
              <a:t>temp_var</a:t>
            </a:r>
            <a:r>
              <a:rPr lang="lv-LV" altLang="en-US" sz="2000" dirty="0">
                <a:latin typeface="Courier New" panose="02070309020205020404" pitchFamily="49" charset="0"/>
              </a:rPr>
              <a:t>, </a:t>
            </a:r>
            <a:r>
              <a:rPr lang="lv-LV" altLang="en-US" sz="2000" dirty="0" err="1">
                <a:latin typeface="Courier New" panose="02070309020205020404" pitchFamily="49" charset="0"/>
              </a:rPr>
              <a:t>new_var</a:t>
            </a:r>
            <a:r>
              <a:rPr lang="lv-LV" altLang="en-US" sz="2000" dirty="0">
                <a:latin typeface="Courier New" panose="02070309020205020404" pitchFamily="49" charset="0"/>
              </a:rPr>
              <a:t>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88A0150-2F88-4A72-9BBF-747FD7856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endParaRPr lang="lv-LV" altLang="en-US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EEAE62F-99AF-456E-B216-2F7CE7FC8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19920"/>
            <a:ext cx="8229600" cy="533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A program to demonstrate need of namespace</a:t>
            </a:r>
            <a:endParaRPr lang="lv-LV" altLang="en-US" dirty="0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5A3E565A-5A7F-4649-9E01-041525646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240645"/>
            <a:ext cx="8207375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int main()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{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int value;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value = 0;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double value; // Error here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value = 0.0;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}</a:t>
            </a:r>
            <a:endParaRPr lang="lv-LV" altLang="en-US" sz="1600" dirty="0">
              <a:latin typeface="Courier New" panose="020703090202050204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15A90C-63A5-4BF2-8689-102408803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363776"/>
            <a:ext cx="5122912" cy="21735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Compiler Error: 'value' has a previous declaration as 'int value'</a:t>
            </a:r>
            <a:r>
              <a:rPr kumimoji="0" lang="en-US" altLang="en-US" sz="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0DCF9DC-38D3-4BC3-BAD7-D07C94765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888376"/>
            <a:ext cx="8229600" cy="163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r>
              <a:rPr lang="en-US" dirty="0"/>
              <a:t>In each scope, a name can only represent one entity. So, there cannot be two variables with the same name in the same scope.</a:t>
            </a:r>
            <a:endParaRPr lang="lv-LV" altLang="en-US" dirty="0"/>
          </a:p>
        </p:txBody>
      </p:sp>
    </p:spTree>
    <p:extLst>
      <p:ext uri="{BB962C8B-B14F-4D97-AF65-F5344CB8AC3E}">
        <p14:creationId xmlns:p14="http://schemas.microsoft.com/office/powerpoint/2010/main" val="324074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88A0150-2F88-4A72-9BBF-747FD7856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endParaRPr lang="lv-LV" altLang="en-US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EEAE62F-99AF-456E-B216-2F7CE7FC8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760"/>
            <a:ext cx="8229600" cy="11430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dirty="0"/>
              <a:t>Using namespaces, we can create two variables or member functions having the same name.</a:t>
            </a:r>
            <a:endParaRPr lang="lv-LV" altLang="en-US" dirty="0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5A3E565A-5A7F-4649-9E01-041525646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276872"/>
            <a:ext cx="8207375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#include &lt;iostream&gt;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using namespace std;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namespace first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{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int </a:t>
            </a:r>
            <a:r>
              <a:rPr lang="en-US" altLang="en-US" sz="1600" dirty="0" err="1">
                <a:latin typeface="Courier New" panose="02070309020205020404" pitchFamily="49" charset="0"/>
              </a:rPr>
              <a:t>val</a:t>
            </a:r>
            <a:r>
              <a:rPr lang="en-US" altLang="en-US" sz="1600" dirty="0">
                <a:latin typeface="Courier New" panose="02070309020205020404" pitchFamily="49" charset="0"/>
              </a:rPr>
              <a:t> = 500; </a:t>
            </a: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// Variable created inside namespace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}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int main()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{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int </a:t>
            </a:r>
            <a:r>
              <a:rPr lang="en-US" altLang="en-US" sz="1600" dirty="0" err="1">
                <a:latin typeface="Courier New" panose="02070309020205020404" pitchFamily="49" charset="0"/>
              </a:rPr>
              <a:t>val</a:t>
            </a:r>
            <a:r>
              <a:rPr lang="en-US" altLang="en-US" sz="1600" dirty="0">
                <a:latin typeface="Courier New" panose="02070309020205020404" pitchFamily="49" charset="0"/>
              </a:rPr>
              <a:t> = 200; </a:t>
            </a: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// Local variable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// namespace variables can be accessed from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    // outside the namespace using the scope operator ::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 err="1">
                <a:latin typeface="Courier New" panose="02070309020205020404" pitchFamily="49" charset="0"/>
              </a:rPr>
              <a:t>cout</a:t>
            </a:r>
            <a:r>
              <a:rPr lang="en-US" altLang="en-US" sz="1600" dirty="0">
                <a:latin typeface="Courier New" panose="02070309020205020404" pitchFamily="49" charset="0"/>
              </a:rPr>
              <a:t> &lt;&lt; first::</a:t>
            </a:r>
            <a:r>
              <a:rPr lang="en-US" altLang="en-US" sz="1600" dirty="0" err="1">
                <a:latin typeface="Courier New" panose="02070309020205020404" pitchFamily="49" charset="0"/>
              </a:rPr>
              <a:t>val</a:t>
            </a:r>
            <a:r>
              <a:rPr lang="en-US" altLang="en-US" sz="1600" dirty="0">
                <a:latin typeface="Courier New" panose="02070309020205020404" pitchFamily="49" charset="0"/>
              </a:rPr>
              <a:t> &lt;&lt; '\n';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    return 0;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sz="1600" dirty="0">
                <a:latin typeface="Courier New" panose="02070309020205020404" pitchFamily="49" charset="0"/>
              </a:rPr>
              <a:t>}</a:t>
            </a:r>
            <a:endParaRPr lang="lv-LV" altLang="en-US" sz="1600" dirty="0">
              <a:latin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F210AC-1A62-48EB-AA2B-DFD08A034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8344" y="6021288"/>
            <a:ext cx="905753" cy="679017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Output: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500</a:t>
            </a:r>
            <a:br>
              <a:rPr kumimoji="0" lang="en-US" altLang="en-US" sz="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55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F57FDAC-370D-4005-9636-1F9BB759B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	</a:t>
            </a:r>
            <a:r>
              <a:rPr lang="en-US" altLang="en-US" dirty="0"/>
              <a:t>A</a:t>
            </a:r>
            <a:r>
              <a:rPr lang="lv-LV" altLang="en-US" dirty="0" err="1"/>
              <a:t>rithmetical</a:t>
            </a:r>
            <a:r>
              <a:rPr lang="lv-LV" altLang="en-US" dirty="0"/>
              <a:t> operators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9EC1D54-A9E3-4EF7-9474-F87F9CF5C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808"/>
            <a:ext cx="8229600" cy="4525963"/>
          </a:xfrm>
        </p:spPr>
        <p:txBody>
          <a:bodyPr/>
          <a:lstStyle/>
          <a:p>
            <a:r>
              <a:rPr lang="lv-LV" altLang="en-US" sz="2800" b="1" dirty="0"/>
              <a:t>“=“</a:t>
            </a:r>
            <a:r>
              <a:rPr lang="ru-RU" altLang="en-US" sz="2800" b="1" dirty="0"/>
              <a:t> </a:t>
            </a:r>
            <a:r>
              <a:rPr lang="en-US" altLang="en-US" sz="2800" b="1" dirty="0"/>
              <a:t>  </a:t>
            </a:r>
            <a:r>
              <a:rPr lang="en-US" altLang="en-US" sz="2800" dirty="0"/>
              <a:t>A</a:t>
            </a:r>
            <a:r>
              <a:rPr lang="lv-LV" altLang="en-US" sz="2800" dirty="0" err="1"/>
              <a:t>ssignment</a:t>
            </a:r>
            <a:r>
              <a:rPr lang="lv-LV" altLang="en-US" sz="2800" dirty="0"/>
              <a:t> </a:t>
            </a:r>
            <a:r>
              <a:rPr lang="en-US" altLang="en-US" sz="2800" dirty="0"/>
              <a:t>(variable-binding) </a:t>
            </a:r>
            <a:r>
              <a:rPr lang="lv-LV" altLang="en-US" sz="2800" dirty="0"/>
              <a:t>operator</a:t>
            </a:r>
          </a:p>
          <a:p>
            <a:r>
              <a:rPr lang="lv-LV" altLang="en-US" sz="2800" b="1" dirty="0"/>
              <a:t>“+”</a:t>
            </a:r>
            <a:r>
              <a:rPr lang="lv-LV" altLang="en-US" sz="2800" dirty="0"/>
              <a:t> </a:t>
            </a:r>
            <a:r>
              <a:rPr lang="en-US" altLang="en-US" sz="2800" dirty="0"/>
              <a:t>  </a:t>
            </a:r>
            <a:r>
              <a:rPr lang="lv-LV" altLang="en-US" sz="2800" dirty="0" err="1"/>
              <a:t>Addition</a:t>
            </a:r>
            <a:r>
              <a:rPr lang="lv-LV" altLang="en-US" sz="2800" dirty="0"/>
              <a:t> operator </a:t>
            </a:r>
          </a:p>
          <a:p>
            <a:r>
              <a:rPr lang="lv-LV" altLang="en-US" sz="2800" b="1" dirty="0"/>
              <a:t>“−”</a:t>
            </a:r>
            <a:r>
              <a:rPr lang="lv-LV" altLang="en-US" sz="2800" dirty="0"/>
              <a:t> </a:t>
            </a:r>
            <a:r>
              <a:rPr lang="en-US" altLang="en-US" sz="2800" dirty="0"/>
              <a:t>  </a:t>
            </a:r>
            <a:r>
              <a:rPr lang="lv-LV" altLang="en-US" sz="2800" dirty="0" err="1"/>
              <a:t>Subtraction</a:t>
            </a:r>
            <a:r>
              <a:rPr lang="lv-LV" altLang="en-US" sz="2800" dirty="0"/>
              <a:t> operator </a:t>
            </a:r>
          </a:p>
          <a:p>
            <a:r>
              <a:rPr lang="lv-LV" altLang="en-US" sz="2800" b="1" dirty="0"/>
              <a:t>“*”</a:t>
            </a:r>
            <a:r>
              <a:rPr lang="lv-LV" altLang="en-US" sz="2800" dirty="0"/>
              <a:t> </a:t>
            </a:r>
            <a:r>
              <a:rPr lang="en-US" altLang="en-US" sz="2800" dirty="0"/>
              <a:t>  M</a:t>
            </a:r>
            <a:r>
              <a:rPr lang="lv-LV" altLang="en-US" sz="2800" dirty="0" err="1"/>
              <a:t>ultiplication</a:t>
            </a:r>
            <a:r>
              <a:rPr lang="lv-LV" altLang="en-US" sz="2800" dirty="0"/>
              <a:t> operator </a:t>
            </a:r>
          </a:p>
          <a:p>
            <a:r>
              <a:rPr lang="lv-LV" altLang="en-US" sz="2800" b="1" dirty="0"/>
              <a:t>“/”</a:t>
            </a:r>
            <a:r>
              <a:rPr lang="lv-LV" altLang="en-US" sz="2800" dirty="0"/>
              <a:t> </a:t>
            </a:r>
            <a:r>
              <a:rPr lang="ru-RU" altLang="en-US" sz="2800" dirty="0"/>
              <a:t> </a:t>
            </a:r>
            <a:r>
              <a:rPr lang="en-US" altLang="en-US" sz="2800" dirty="0"/>
              <a:t>  </a:t>
            </a:r>
            <a:r>
              <a:rPr lang="lv-LV" altLang="en-US" sz="2800" dirty="0" err="1"/>
              <a:t>Division</a:t>
            </a:r>
            <a:r>
              <a:rPr lang="lv-LV" altLang="en-US" sz="2800" dirty="0"/>
              <a:t> operator  (6/4 → 1, 6.0/4 → 1.5, 6/4.0 → 1.5)</a:t>
            </a:r>
          </a:p>
          <a:p>
            <a:r>
              <a:rPr lang="lv-LV" altLang="en-US" sz="2800" b="1" dirty="0"/>
              <a:t>“%”</a:t>
            </a:r>
            <a:r>
              <a:rPr lang="lv-LV" altLang="en-US" sz="2800" dirty="0"/>
              <a:t> </a:t>
            </a:r>
            <a:r>
              <a:rPr lang="en-US" altLang="en-US" sz="2800" dirty="0"/>
              <a:t>  Modulo operation - finds the remainder after division of one number by another (sometimes called modulus)</a:t>
            </a:r>
            <a:r>
              <a:rPr lang="lv-LV" altLang="en-US" sz="2800" dirty="0"/>
              <a:t> (6%4 → 2, 13%6 → 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2198B94-C34E-4550-B1BC-2554C0F6B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58EC9EC-17E8-4260-925B-65C732C81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036638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dirty="0"/>
              <a:t>Write the program that contains the following variables definition</a:t>
            </a:r>
            <a:r>
              <a:rPr lang="lv-LV" altLang="en-US" dirty="0"/>
              <a:t>.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95295E48-F509-4023-8A65-5BC78F42C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45125"/>
            <a:ext cx="82296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7763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Output it to the screen, explain why it got exactly that values.
</a:t>
            </a:r>
            <a:endParaRPr lang="lv-LV" altLang="en-US" dirty="0"/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92B13FE0-AAB0-4105-95F5-D9BCAC98C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636838"/>
            <a:ext cx="8064500" cy="2573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int</a:t>
            </a:r>
            <a:r>
              <a:rPr lang="lv-LV" altLang="en-US" dirty="0">
                <a:latin typeface="Courier New" panose="02070309020205020404" pitchFamily="49" charset="0"/>
              </a:rPr>
              <a:t> a = 13/5;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int</a:t>
            </a:r>
            <a:r>
              <a:rPr lang="lv-LV" altLang="en-US" dirty="0">
                <a:latin typeface="Courier New" panose="02070309020205020404" pitchFamily="49" charset="0"/>
              </a:rPr>
              <a:t> b = 13%5;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int</a:t>
            </a:r>
            <a:r>
              <a:rPr lang="lv-LV" altLang="en-US" dirty="0">
                <a:latin typeface="Courier New" panose="02070309020205020404" pitchFamily="49" charset="0"/>
              </a:rPr>
              <a:t> c = 13.0/5;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double</a:t>
            </a:r>
            <a:r>
              <a:rPr lang="lv-LV" altLang="en-US" dirty="0">
                <a:latin typeface="Courier New" panose="02070309020205020404" pitchFamily="49" charset="0"/>
              </a:rPr>
              <a:t> d = 13/5;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double</a:t>
            </a:r>
            <a:r>
              <a:rPr lang="lv-LV" altLang="en-US" dirty="0">
                <a:latin typeface="Courier New" panose="02070309020205020404" pitchFamily="49" charset="0"/>
              </a:rPr>
              <a:t> e = 13%5;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double</a:t>
            </a:r>
            <a:r>
              <a:rPr lang="lv-LV" altLang="en-US" dirty="0">
                <a:latin typeface="Courier New" panose="02070309020205020404" pitchFamily="49" charset="0"/>
              </a:rPr>
              <a:t> f = 13.0/5;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double</a:t>
            </a:r>
            <a:r>
              <a:rPr lang="lv-LV" altLang="en-US" dirty="0">
                <a:latin typeface="Courier New" panose="02070309020205020404" pitchFamily="49" charset="0"/>
              </a:rPr>
              <a:t> g = 13/5 + 2/5;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double</a:t>
            </a:r>
            <a:r>
              <a:rPr lang="lv-LV" altLang="en-US" dirty="0">
                <a:latin typeface="Courier New" panose="02070309020205020404" pitchFamily="49" charset="0"/>
              </a:rPr>
              <a:t> h = 13.0/5 + 2.0/5;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int</a:t>
            </a:r>
            <a:r>
              <a:rPr lang="lv-LV" altLang="en-US" dirty="0">
                <a:latin typeface="Courier New" panose="02070309020205020404" pitchFamily="49" charset="0"/>
              </a:rPr>
              <a:t> i = 13.0/5 + 2.0/5;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EA360E0-6A8A-4278-9124-C3930B2ED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2CBAB40-2FDB-4C2D-BC06-95125E5F3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 sz="2800" dirty="0"/>
              <a:t>There are two integer variables. Write an application that swaps the values of the variables </a:t>
            </a:r>
            <a:r>
              <a:rPr lang="lv-LV" altLang="en-US" sz="2800" dirty="0"/>
              <a:t>(a=2, b=3 -&gt; a=3, b=2).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800" dirty="0"/>
              <a:t>Input </a:t>
            </a:r>
            <a:r>
              <a:rPr lang="lv-LV" altLang="en-US" sz="2800" dirty="0"/>
              <a:t>x. </a:t>
            </a:r>
            <a:r>
              <a:rPr lang="en-US" altLang="en-US" sz="2800" dirty="0"/>
              <a:t>Calculate</a:t>
            </a:r>
            <a:r>
              <a:rPr lang="lv-LV" altLang="en-US" sz="2800" dirty="0"/>
              <a:t> x</a:t>
            </a:r>
            <a:r>
              <a:rPr lang="lv-LV" altLang="en-US" sz="2800" baseline="30000" dirty="0"/>
              <a:t>4</a:t>
            </a:r>
            <a:r>
              <a:rPr lang="lv-LV" altLang="en-US" sz="28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800" dirty="0"/>
              <a:t>Input </a:t>
            </a:r>
            <a:r>
              <a:rPr lang="lv-LV" altLang="en-US" sz="2800" dirty="0"/>
              <a:t>x. </a:t>
            </a:r>
            <a:r>
              <a:rPr lang="en-US" altLang="en-US" sz="2800" dirty="0"/>
              <a:t>Calculate</a:t>
            </a:r>
            <a:r>
              <a:rPr lang="lv-LV" altLang="en-US" sz="2800" dirty="0"/>
              <a:t> x</a:t>
            </a:r>
            <a:r>
              <a:rPr lang="lv-LV" altLang="en-US" sz="2800" baseline="30000" dirty="0"/>
              <a:t>7</a:t>
            </a:r>
            <a:r>
              <a:rPr lang="lv-LV" altLang="en-US" sz="2800" dirty="0"/>
              <a:t> </a:t>
            </a:r>
            <a:r>
              <a:rPr lang="en-US" altLang="en-US" sz="2800" dirty="0"/>
              <a:t>using only</a:t>
            </a:r>
            <a:r>
              <a:rPr lang="lv-LV" altLang="en-US" sz="2800" dirty="0"/>
              <a:t> 4 </a:t>
            </a:r>
            <a:r>
              <a:rPr lang="en-US" altLang="en-US" sz="2800" dirty="0"/>
              <a:t>m</a:t>
            </a:r>
            <a:r>
              <a:rPr lang="lv-LV" altLang="en-US" sz="2800" dirty="0" err="1"/>
              <a:t>ultiplication</a:t>
            </a:r>
            <a:r>
              <a:rPr lang="lv-LV" altLang="en-US" sz="2800" dirty="0"/>
              <a:t> operator</a:t>
            </a:r>
            <a:r>
              <a:rPr lang="en-US" altLang="en-US" sz="2800" dirty="0"/>
              <a:t>s</a:t>
            </a:r>
            <a:r>
              <a:rPr lang="lv-LV" altLang="en-US" sz="28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800" dirty="0"/>
              <a:t>Input </a:t>
            </a:r>
            <a:r>
              <a:rPr lang="lv-LV" altLang="en-US" sz="2800" dirty="0"/>
              <a:t>x. </a:t>
            </a:r>
            <a:r>
              <a:rPr lang="en-US" altLang="en-US" sz="2800" dirty="0"/>
              <a:t>Calculate</a:t>
            </a:r>
            <a:r>
              <a:rPr lang="lv-LV" altLang="en-US" sz="2800" dirty="0"/>
              <a:t> x</a:t>
            </a:r>
            <a:r>
              <a:rPr lang="lv-LV" altLang="en-US" sz="2800" baseline="30000" dirty="0"/>
              <a:t>13</a:t>
            </a:r>
            <a:r>
              <a:rPr lang="lv-LV" altLang="en-US" sz="2800" dirty="0"/>
              <a:t> </a:t>
            </a:r>
            <a:r>
              <a:rPr lang="en-US" altLang="en-US" sz="2800" dirty="0"/>
              <a:t>using only</a:t>
            </a:r>
            <a:r>
              <a:rPr lang="lv-LV" altLang="en-US" sz="2800" dirty="0"/>
              <a:t> 5 </a:t>
            </a:r>
            <a:r>
              <a:rPr lang="en-US" altLang="en-US" sz="2800" dirty="0"/>
              <a:t>m</a:t>
            </a:r>
            <a:r>
              <a:rPr lang="lv-LV" altLang="en-US" sz="2800" dirty="0" err="1"/>
              <a:t>ultiplication</a:t>
            </a:r>
            <a:r>
              <a:rPr lang="lv-LV" altLang="en-US" sz="2800" dirty="0"/>
              <a:t> operator</a:t>
            </a:r>
            <a:r>
              <a:rPr lang="en-US" altLang="en-US" sz="2800" dirty="0"/>
              <a:t>s</a:t>
            </a:r>
            <a:r>
              <a:rPr lang="lv-LV" altLang="en-US" sz="28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800" dirty="0"/>
              <a:t>Input natural number. Output it’s last digit.</a:t>
            </a:r>
            <a:endParaRPr lang="lv-LV" alt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7092832-FB0A-4717-91ED-0DED10A2F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B95DC76-52E0-4DC5-89D9-E3173ECDF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+mj-lt"/>
              <a:buAutoNum type="arabicPeriod" startAt="6"/>
            </a:pPr>
            <a:r>
              <a:rPr lang="en-US" altLang="en-US" dirty="0"/>
              <a:t>Input a speed in km/h and convert it to m/s. 
Program requires 3 assessment marks and calculates the average. </a:t>
            </a:r>
          </a:p>
          <a:p>
            <a:pPr marL="609600" indent="-609600">
              <a:buFontTx/>
              <a:buAutoNum type="arabicPeriod" startAt="6"/>
            </a:pPr>
            <a:r>
              <a:rPr lang="en-US" altLang="en-US" dirty="0"/>
              <a:t>Knowing the cube edge length, calculate the cube volume, its surface area and side diagonal length. </a:t>
            </a:r>
            <a:endParaRPr lang="lv-LV" altLang="en-US" dirty="0"/>
          </a:p>
          <a:p>
            <a:pPr marL="609600" indent="-609600">
              <a:buFontTx/>
              <a:buAutoNum type="arabicPeriod" startAt="6"/>
            </a:pPr>
            <a:endParaRPr lang="lv-LV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74706BE-72ED-4463-A118-874B2CD56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8149278-EB1E-48EA-A1D3-4952657D5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marL="609600" indent="-609600">
              <a:buFont typeface="+mj-lt"/>
              <a:buAutoNum type="arabicPeriod" startAt="9"/>
            </a:pPr>
            <a:r>
              <a:rPr lang="en-US" altLang="en-US" dirty="0"/>
              <a:t>Input two integer variables. Write a program that swaps the values for the variables </a:t>
            </a:r>
            <a:r>
              <a:rPr lang="lv-LV" altLang="en-US" dirty="0"/>
              <a:t>(a=2, b=3 -&gt; a=3, b=2)</a:t>
            </a:r>
            <a:r>
              <a:rPr lang="en-US" altLang="en-US" dirty="0"/>
              <a:t>, </a:t>
            </a:r>
            <a:r>
              <a:rPr lang="en-US" altLang="en-US" u="sng" dirty="0"/>
              <a:t>without using an additional variable</a:t>
            </a:r>
            <a:r>
              <a:rPr lang="en-US" altLang="en-US" dirty="0"/>
              <a:t>.
There are three integer variables </a:t>
            </a:r>
            <a:r>
              <a:rPr lang="lv-LV" altLang="en-US" dirty="0"/>
              <a:t>h, m, s. </a:t>
            </a:r>
            <a:r>
              <a:rPr lang="en-US" altLang="en-US" dirty="0"/>
              <a:t>Find the angle (in degrees) between hour's arrow at midnight and the hour arrow at the moment h:m:s</a:t>
            </a:r>
            <a:r>
              <a:rPr lang="lv-LV" alt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1147</Words>
  <Application>Microsoft Office PowerPoint</Application>
  <PresentationFormat>On-screen Show (4:3)</PresentationFormat>
  <Paragraphs>224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Consolas</vt:lpstr>
      <vt:lpstr>Courier New</vt:lpstr>
      <vt:lpstr>Roboto</vt:lpstr>
      <vt:lpstr>Times New Roman</vt:lpstr>
      <vt:lpstr>Default Design</vt:lpstr>
      <vt:lpstr>C++ programming language</vt:lpstr>
      <vt:lpstr>Programming language C</vt:lpstr>
      <vt:lpstr>Programming language C ++ </vt:lpstr>
      <vt:lpstr>Programming language C ++ </vt:lpstr>
      <vt:lpstr>First C++ program</vt:lpstr>
      <vt:lpstr>First C++ program</vt:lpstr>
      <vt:lpstr>First C++ program</vt:lpstr>
      <vt:lpstr>Program analysis</vt:lpstr>
      <vt:lpstr>Program analysis</vt:lpstr>
      <vt:lpstr>Notes</vt:lpstr>
      <vt:lpstr>Practice</vt:lpstr>
      <vt:lpstr>Comments in C++ language</vt:lpstr>
      <vt:lpstr>Comments in C++ language</vt:lpstr>
      <vt:lpstr>Variables</vt:lpstr>
      <vt:lpstr>Variables</vt:lpstr>
      <vt:lpstr>Variables</vt:lpstr>
      <vt:lpstr>PowerPoint Presentation</vt:lpstr>
      <vt:lpstr>Variable names</vt:lpstr>
      <vt:lpstr>Namespaces</vt:lpstr>
      <vt:lpstr>Namespaces</vt:lpstr>
      <vt:lpstr> Arithmetical operators</vt:lpstr>
      <vt:lpstr>Practice</vt:lpstr>
      <vt:lpstr>Practice</vt:lpstr>
      <vt:lpstr>Practice</vt:lpstr>
      <vt:lpstr>Practice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Programmēšanas valoda C++</dc:title>
  <dc:creator>Home</dc:creator>
  <cp:lastModifiedBy>Andrej Liepiņš</cp:lastModifiedBy>
  <cp:revision>34</cp:revision>
  <dcterms:created xsi:type="dcterms:W3CDTF">2011-07-06T16:51:01Z</dcterms:created>
  <dcterms:modified xsi:type="dcterms:W3CDTF">2019-08-20T15:10:09Z</dcterms:modified>
</cp:coreProperties>
</file>