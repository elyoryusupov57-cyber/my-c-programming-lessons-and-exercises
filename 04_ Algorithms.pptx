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137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E9E1A-7C17-4B07-8846-F2676E07C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CFCB2-4066-4155-9076-E7D629910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BA6FA-BA21-485F-A764-BD1A7645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08661-DF7B-4392-996A-8FA566C7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0326A-BC19-4936-9EDB-6D455AEA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A6A86F-3A4A-4090-9ABB-A1B25440EE0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64468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6262-F090-4FB5-9840-171AA20F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AA7E2-7CD3-4B42-9C96-17CBC0984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0002D-BB44-4730-83A7-2FAA3790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38EC8-1A67-4F76-88DB-A4ECD1E9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7F742-1C40-41EF-9187-296C89EB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BFD1E2-749D-460A-AB3C-9386061367F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25546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4A24-40D9-4E0E-B2A2-C30F674C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854BF-DAFA-40A5-8960-751FF4F72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14763-A56A-4F3E-BEAC-EBEE94AC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CA1E7-2E60-4E05-8228-F7D3E318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CA8D7-B578-4EBC-A0CE-CDBAA634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92C7C7-A1ED-442A-8D6A-BBEE8DE14E8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75141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AAB7-47BF-4EE6-AAF8-3FDCEE56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630B3-725D-4160-9BEF-AEF540927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731F1-E25B-4189-8CA4-0E8B3D600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1783F-0FBE-49FE-B54D-036238D4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13187-9CC8-4B73-9B0E-037035C2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70EB-6C8F-4C3A-BC83-8494E2C1E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40C748-4C09-4B0E-80B1-A69F44A1428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50277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9BA8-96E6-4D3F-A4E3-5C5EC92C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68642-1470-4316-BD9E-29A631D2D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7FB02-550A-4BAE-90D9-DC74B9140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0B20B-FD1C-4100-B859-4D5080D26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B18F0-392C-460C-A9EA-2190EFE88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709D5-FF2F-4DA2-900E-56435B9A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CAF60-830C-4280-A325-FC5AA359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DD924-D7E3-44E9-BBF2-5BC3765B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9D8FC-BD69-4520-BF7C-76FA712F8EC6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46097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69F8-E505-4FF6-BF3B-4731F2CB3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5E7C7-0347-4612-9AE4-5F39125F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A7EE7-E1C6-4C58-BF6A-A7A767FF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3BBBD-A972-4334-B5A5-40589368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56B50E-18C8-4FF4-9AF2-3016B18F8A74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68441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21A8B-9410-4BCD-8AB3-C2F7FEC6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632D77-24AA-4CFF-86F7-FD5B1608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F4E04-C8F7-4E9F-BC96-E1243D4D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7957D7-8C55-4A3C-8E1D-C9095EF4883F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00404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4C26-4D52-4FD5-9A26-C11B0B349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A2306-0FC2-4B34-9239-E04985D22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4FF50-BFB7-4DA8-9FAF-DE4312B72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455EF-BD3A-4545-9663-3B7A690A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5EA1C-455C-462C-8054-1A9479EF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3F776-2482-4003-A351-9201D38F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B9A89-7AB1-4110-978D-FD634B3FFF34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39904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FFB8-B4E6-4294-967D-FC77819B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B7B4FC-F4D0-4702-912D-B2A4CD5B8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12D53-CB5C-4E3F-8778-EFF521667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0F469-1D72-4E4F-9BE7-1CD454F7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D0BBC-7818-4943-9BE0-92EDB88C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4F7DB-EE77-4156-985E-58CC4088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8E2E0-22FC-432F-8AEB-F215C5BBB39C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39747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ED5F-309A-4E5D-9E7E-1B389D1E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83075-C9B3-455A-8660-B23F736FB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0848-4F31-40BC-9443-8F2CE81B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40545-B365-437C-85D5-A45CED7F2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88AEB-7A6B-4676-B925-B09A9229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CB172-DB6C-486E-916F-269406A8D6E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88086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49941-A2DE-40F9-B134-FC05A1624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1939F-417D-4EB2-95FF-2B34C6A27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719F4-A8B5-4744-91EF-56B4B348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0F71-1A64-47E8-9CB6-F58602405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003A1-BC85-436D-A816-EAB43DAA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5530D-2BF5-4D11-9E03-5B4E465D138E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91668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6BF99A-0A54-41FF-B58F-AC3E72826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87D412-7AC3-46EA-A4A9-CAFE8351A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9B06C9-71A3-489B-B8CD-C29F53A2F07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11F765-34B4-464D-BEAA-E59845C0BD9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EEEEE1B-5263-451C-BF8D-D49C82CC68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0D6C55-6586-4CDB-A2B9-63E29C9745F1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EEA4B3D-7309-4CD2-B485-83A895C3AB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 dirty="0"/>
              <a:t>Types and descriptions of algorithms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8411A3B-43ED-44C0-845B-20DCADAFC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and descriptions of algorithms</a:t>
            </a:r>
            <a:endParaRPr lang="lv-LV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60BC156-1C56-434E-B8AB-E81E5B7B7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en-US" altLang="en-US" dirty="0"/>
              <a:t>Algorithm - organized sequence of actions that lead to the result.
Algorithm designs with flowchart help.</a:t>
            </a:r>
            <a:endParaRPr lang="lv-LV" altLang="en-US" dirty="0"/>
          </a:p>
          <a:p>
            <a:r>
              <a:rPr lang="en-US" altLang="en-US" dirty="0"/>
              <a:t>Flowchart – algorithm steps description, using various form blocks, connected with the arrows.</a:t>
            </a:r>
            <a:endParaRPr lang="lv-LV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B149FF-CD43-47C9-BF99-F596C1A5E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Flowchart block types</a:t>
            </a:r>
            <a:endParaRPr lang="lv-LV" altLang="en-US" dirty="0"/>
          </a:p>
        </p:txBody>
      </p:sp>
      <p:sp>
        <p:nvSpPr>
          <p:cNvPr id="4100" name="AutoShape 4">
            <a:extLst>
              <a:ext uri="{FF2B5EF4-FFF2-40B4-BE49-F238E27FC236}">
                <a16:creationId xmlns:a16="http://schemas.microsoft.com/office/drawing/2014/main" id="{22D7D037-FB8C-4F60-AA0F-CB26F2FDD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76475"/>
            <a:ext cx="2447925" cy="9350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lv-LV" altLang="en-US" sz="3600" dirty="0"/>
              <a:t>Start</a:t>
            </a:r>
          </a:p>
        </p:txBody>
      </p:sp>
      <p:sp>
        <p:nvSpPr>
          <p:cNvPr id="4102" name="AutoShape 6">
            <a:extLst>
              <a:ext uri="{FF2B5EF4-FFF2-40B4-BE49-F238E27FC236}">
                <a16:creationId xmlns:a16="http://schemas.microsoft.com/office/drawing/2014/main" id="{9EE6D7AB-D8D4-403B-861C-8EC4A9E1B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05263"/>
            <a:ext cx="2447925" cy="9350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 dirty="0"/>
              <a:t>E</a:t>
            </a:r>
            <a:r>
              <a:rPr lang="lv-LV" altLang="en-US" sz="3600" dirty="0" err="1"/>
              <a:t>nd</a:t>
            </a:r>
            <a:endParaRPr lang="lv-LV" altLang="en-US" sz="3600" dirty="0"/>
          </a:p>
        </p:txBody>
      </p:sp>
      <p:sp>
        <p:nvSpPr>
          <p:cNvPr id="4103" name="AutoShape 7">
            <a:extLst>
              <a:ext uri="{FF2B5EF4-FFF2-40B4-BE49-F238E27FC236}">
                <a16:creationId xmlns:a16="http://schemas.microsoft.com/office/drawing/2014/main" id="{2D1779AA-4EA6-46C6-A7B9-74E635B1D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349500"/>
            <a:ext cx="2735263" cy="792163"/>
          </a:xfrm>
          <a:prstGeom prst="parallelogram">
            <a:avLst>
              <a:gd name="adj" fmla="val 8632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 dirty="0"/>
              <a:t>Input</a:t>
            </a:r>
            <a:endParaRPr lang="lv-LV" altLang="en-US" sz="3600" dirty="0"/>
          </a:p>
        </p:txBody>
      </p:sp>
      <p:sp>
        <p:nvSpPr>
          <p:cNvPr id="4104" name="AutoShape 8">
            <a:extLst>
              <a:ext uri="{FF2B5EF4-FFF2-40B4-BE49-F238E27FC236}">
                <a16:creationId xmlns:a16="http://schemas.microsoft.com/office/drawing/2014/main" id="{24307FE6-DF04-4553-9675-8F2C5977C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076700"/>
            <a:ext cx="2735263" cy="792163"/>
          </a:xfrm>
          <a:prstGeom prst="parallelogram">
            <a:avLst>
              <a:gd name="adj" fmla="val 8632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 dirty="0"/>
              <a:t>Output</a:t>
            </a:r>
            <a:endParaRPr lang="lv-LV" altLang="en-US" sz="3600" dirty="0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AA386F07-86DB-4DD0-96D6-43CF08EA7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349500"/>
            <a:ext cx="2305050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lv-LV" altLang="en-US" sz="3600" dirty="0" err="1"/>
              <a:t>Actions</a:t>
            </a:r>
            <a:endParaRPr lang="lv-LV" altLang="en-US" sz="3600" dirty="0"/>
          </a:p>
        </p:txBody>
      </p:sp>
      <p:sp>
        <p:nvSpPr>
          <p:cNvPr id="4106" name="AutoShape 10">
            <a:extLst>
              <a:ext uri="{FF2B5EF4-FFF2-40B4-BE49-F238E27FC236}">
                <a16:creationId xmlns:a16="http://schemas.microsoft.com/office/drawing/2014/main" id="{04AE9FAC-0E7A-49BF-9D56-EAFB23B64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644900"/>
            <a:ext cx="2881312" cy="1296988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lv-LV" altLang="en-US" sz="2800" dirty="0" err="1"/>
              <a:t>Condition</a:t>
            </a:r>
            <a:endParaRPr lang="lv-LV" altLang="en-US" sz="2800" dirty="0"/>
          </a:p>
        </p:txBody>
      </p:sp>
      <p:sp>
        <p:nvSpPr>
          <p:cNvPr id="4107" name="Oval 11">
            <a:extLst>
              <a:ext uri="{FF2B5EF4-FFF2-40B4-BE49-F238E27FC236}">
                <a16:creationId xmlns:a16="http://schemas.microsoft.com/office/drawing/2014/main" id="{C8E19245-F640-4959-BCE2-9A92F2935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5589588"/>
            <a:ext cx="863600" cy="86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Text Box 12">
            <a:extLst>
              <a:ext uri="{FF2B5EF4-FFF2-40B4-BE49-F238E27FC236}">
                <a16:creationId xmlns:a16="http://schemas.microsoft.com/office/drawing/2014/main" id="{610E9848-5FD4-4A4B-B6AF-B2C278B62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661025"/>
            <a:ext cx="2879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lv-LV" altLang="en-US" sz="3600" dirty="0" err="1"/>
              <a:t>Connector</a:t>
            </a:r>
            <a:endParaRPr lang="lv-LV" alt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70A728-E265-4BD2-AE51-3D4B08554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Basic</a:t>
            </a:r>
            <a:r>
              <a:rPr lang="lv-LV" altLang="en-US" dirty="0"/>
              <a:t> </a:t>
            </a:r>
            <a:r>
              <a:rPr lang="lv-LV" altLang="en-US" dirty="0" err="1"/>
              <a:t>types</a:t>
            </a:r>
            <a:r>
              <a:rPr lang="lv-LV" altLang="en-US" dirty="0"/>
              <a:t> </a:t>
            </a:r>
            <a:r>
              <a:rPr lang="lv-LV" altLang="en-US" dirty="0" err="1"/>
              <a:t>of</a:t>
            </a:r>
            <a:r>
              <a:rPr lang="lv-LV" altLang="en-US" dirty="0"/>
              <a:t> </a:t>
            </a:r>
            <a:r>
              <a:rPr lang="lv-LV" altLang="en-US" dirty="0" err="1"/>
              <a:t>algorithms</a:t>
            </a:r>
            <a:endParaRPr lang="lv-LV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C7A9F16-4374-4726-83B8-F9F9FCB81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205038"/>
            <a:ext cx="8229600" cy="3921125"/>
          </a:xfrm>
        </p:spPr>
        <p:txBody>
          <a:bodyPr/>
          <a:lstStyle/>
          <a:p>
            <a:pPr marL="538163" indent="-538163"/>
            <a:r>
              <a:rPr lang="en-US" altLang="en-US" sz="6000" dirty="0"/>
              <a:t>Linear</a:t>
            </a:r>
            <a:endParaRPr lang="lv-LV" altLang="en-US" sz="6000" dirty="0"/>
          </a:p>
          <a:p>
            <a:pPr marL="538163" indent="-538163"/>
            <a:r>
              <a:rPr lang="en-US" altLang="en-US" sz="6000" dirty="0"/>
              <a:t>B</a:t>
            </a:r>
            <a:r>
              <a:rPr lang="lv-LV" altLang="en-US" sz="6000" dirty="0" err="1"/>
              <a:t>ranching</a:t>
            </a:r>
            <a:r>
              <a:rPr lang="en-US" altLang="en-US" sz="6000" dirty="0"/>
              <a:t>s</a:t>
            </a:r>
            <a:endParaRPr lang="lv-LV" altLang="en-US" sz="6000" dirty="0"/>
          </a:p>
          <a:p>
            <a:pPr marL="538163" indent="-538163"/>
            <a:r>
              <a:rPr lang="lv-LV" altLang="en-US" sz="6000" dirty="0" err="1"/>
              <a:t>Cyclic</a:t>
            </a:r>
            <a:endParaRPr lang="lv-LV" alt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6E9CE2-C620-451C-866B-302AE8FE9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sz="4000" dirty="0" err="1"/>
              <a:t>Linear</a:t>
            </a:r>
            <a:r>
              <a:rPr lang="lv-LV" altLang="en-US" sz="4000" dirty="0"/>
              <a:t> </a:t>
            </a:r>
            <a:r>
              <a:rPr lang="lv-LV" altLang="en-US" sz="4000" dirty="0" err="1"/>
              <a:t>algorithm</a:t>
            </a:r>
            <a:r>
              <a:rPr lang="lv-LV" altLang="en-US" sz="4000" dirty="0"/>
              <a:t> </a:t>
            </a:r>
            <a:r>
              <a:rPr lang="lv-LV" altLang="en-US" sz="4000" dirty="0" err="1"/>
              <a:t>Flowchart</a:t>
            </a:r>
            <a:r>
              <a:rPr lang="lv-LV" altLang="en-US" sz="4000" dirty="0"/>
              <a:t> </a:t>
            </a:r>
            <a:r>
              <a:rPr lang="lv-LV" altLang="en-US" sz="4000" dirty="0" err="1"/>
              <a:t>Examples</a:t>
            </a:r>
            <a:endParaRPr lang="lv-LV" altLang="en-US" sz="4000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A9514D3-1764-4EC6-943B-3960508E0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>
              <a:buFontTx/>
              <a:buNone/>
            </a:pPr>
            <a:r>
              <a:rPr lang="lv-LV" altLang="en-US"/>
              <a:t>hello.cpp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F3EFD15-C84D-4BEB-8B22-C62AA2413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997200"/>
            <a:ext cx="5543550" cy="2303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#include &lt;iostream&gt;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using namespace std;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int main()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cout &lt;&lt; "Hello , World !" &lt;&lt; endl 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system ("pause");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return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  <a:endParaRPr lang="lv-LV" altLang="en-US" sz="1600">
              <a:latin typeface="Courier New" panose="02070309020205020404" pitchFamily="49" charset="0"/>
            </a:endParaRPr>
          </a:p>
        </p:txBody>
      </p:sp>
      <p:sp>
        <p:nvSpPr>
          <p:cNvPr id="6149" name="AutoShape 5">
            <a:extLst>
              <a:ext uri="{FF2B5EF4-FFF2-40B4-BE49-F238E27FC236}">
                <a16:creationId xmlns:a16="http://schemas.microsoft.com/office/drawing/2014/main" id="{90F2A816-0196-478C-91E7-7D77E2C66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844675"/>
            <a:ext cx="2447925" cy="9350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lv-LV" altLang="en-US" sz="3600" dirty="0"/>
              <a:t>Start</a:t>
            </a:r>
          </a:p>
        </p:txBody>
      </p:sp>
      <p:sp>
        <p:nvSpPr>
          <p:cNvPr id="6150" name="AutoShape 6">
            <a:extLst>
              <a:ext uri="{FF2B5EF4-FFF2-40B4-BE49-F238E27FC236}">
                <a16:creationId xmlns:a16="http://schemas.microsoft.com/office/drawing/2014/main" id="{DE4F8AFA-0F99-4208-8E7F-DEAA27311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644900"/>
            <a:ext cx="2735262" cy="792163"/>
          </a:xfrm>
          <a:prstGeom prst="parallelogram">
            <a:avLst>
              <a:gd name="adj" fmla="val 8632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Hello , World !</a:t>
            </a:r>
            <a:endParaRPr lang="lv-LV" altLang="en-US"/>
          </a:p>
        </p:txBody>
      </p:sp>
      <p:sp>
        <p:nvSpPr>
          <p:cNvPr id="6151" name="AutoShape 7">
            <a:extLst>
              <a:ext uri="{FF2B5EF4-FFF2-40B4-BE49-F238E27FC236}">
                <a16:creationId xmlns:a16="http://schemas.microsoft.com/office/drawing/2014/main" id="{E126C7D8-F160-4FB8-A94E-9FA274A6F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229225"/>
            <a:ext cx="2447925" cy="9350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600" dirty="0"/>
              <a:t>End</a:t>
            </a:r>
            <a:endParaRPr lang="lv-LV" altLang="en-US" sz="3600" dirty="0"/>
          </a:p>
        </p:txBody>
      </p:sp>
      <p:sp>
        <p:nvSpPr>
          <p:cNvPr id="6152" name="Line 8">
            <a:extLst>
              <a:ext uri="{FF2B5EF4-FFF2-40B4-BE49-F238E27FC236}">
                <a16:creationId xmlns:a16="http://schemas.microsoft.com/office/drawing/2014/main" id="{99C2196F-4037-4AE0-BE30-7960C188C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781300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Line 9">
            <a:extLst>
              <a:ext uri="{FF2B5EF4-FFF2-40B4-BE49-F238E27FC236}">
                <a16:creationId xmlns:a16="http://schemas.microsoft.com/office/drawing/2014/main" id="{937D6A5F-FE26-4626-BD9B-0BF5D1EC8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4437063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8617E0B-E308-4CBF-874D-F9E4A6CE8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sz="4000" dirty="0" err="1"/>
              <a:t>Linear</a:t>
            </a:r>
            <a:r>
              <a:rPr lang="lv-LV" altLang="en-US" sz="4000" dirty="0"/>
              <a:t> </a:t>
            </a:r>
            <a:r>
              <a:rPr lang="lv-LV" altLang="en-US" sz="4000" dirty="0" err="1"/>
              <a:t>algorithm</a:t>
            </a:r>
            <a:r>
              <a:rPr lang="lv-LV" altLang="en-US" sz="4000" dirty="0"/>
              <a:t> </a:t>
            </a:r>
            <a:r>
              <a:rPr lang="lv-LV" altLang="en-US" sz="4000" dirty="0" err="1"/>
              <a:t>Flowchart</a:t>
            </a:r>
            <a:r>
              <a:rPr lang="lv-LV" altLang="en-US" sz="4000" dirty="0"/>
              <a:t> </a:t>
            </a:r>
            <a:r>
              <a:rPr lang="lv-LV" altLang="en-US" sz="4000" dirty="0" err="1"/>
              <a:t>Examples</a:t>
            </a:r>
            <a:endParaRPr lang="lv-LV" altLang="en-US" sz="4000" dirty="0"/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BEAAE4A3-2705-4B2D-92C6-5AF2D0073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060575"/>
            <a:ext cx="5976937" cy="3871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double a,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cout &lt;&lt; "Input a: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cin &gt;&gt; 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cout &lt;&lt; "Input b: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cin &gt;&gt;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double x = b-a;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cout &lt;&lt; "Root of equation a+x=b is " &lt;&lt; x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system 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}</a:t>
            </a:r>
            <a:endParaRPr lang="lv-LV" altLang="en-US" sz="1300">
              <a:latin typeface="Courier New" panose="02070309020205020404" pitchFamily="49" charset="0"/>
            </a:endParaRPr>
          </a:p>
        </p:txBody>
      </p:sp>
      <p:grpSp>
        <p:nvGrpSpPr>
          <p:cNvPr id="7186" name="Group 18">
            <a:extLst>
              <a:ext uri="{FF2B5EF4-FFF2-40B4-BE49-F238E27FC236}">
                <a16:creationId xmlns:a16="http://schemas.microsoft.com/office/drawing/2014/main" id="{FB95F08D-C2A7-4B36-868D-8E8796BE4F2E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1450975"/>
            <a:ext cx="2087563" cy="4537075"/>
            <a:chOff x="4150" y="914"/>
            <a:chExt cx="1315" cy="2858"/>
          </a:xfrm>
        </p:grpSpPr>
        <p:sp>
          <p:nvSpPr>
            <p:cNvPr id="7173" name="AutoShape 5">
              <a:extLst>
                <a:ext uri="{FF2B5EF4-FFF2-40B4-BE49-F238E27FC236}">
                  <a16:creationId xmlns:a16="http://schemas.microsoft.com/office/drawing/2014/main" id="{22D3AAA2-B0C5-40ED-8A3E-00B3E968D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914"/>
              <a:ext cx="1179" cy="45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3600" dirty="0"/>
                <a:t>Start</a:t>
              </a:r>
              <a:endParaRPr lang="lv-LV" altLang="en-US" sz="3600" dirty="0"/>
            </a:p>
          </p:txBody>
        </p:sp>
        <p:sp>
          <p:nvSpPr>
            <p:cNvPr id="7175" name="AutoShape 7">
              <a:extLst>
                <a:ext uri="{FF2B5EF4-FFF2-40B4-BE49-F238E27FC236}">
                  <a16:creationId xmlns:a16="http://schemas.microsoft.com/office/drawing/2014/main" id="{3AEE9B8D-7B53-4B19-A996-77CAECB09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339"/>
              <a:ext cx="1134" cy="43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3600" dirty="0"/>
                <a:t>End</a:t>
              </a:r>
              <a:endParaRPr lang="lv-LV" altLang="en-US" sz="3600" dirty="0"/>
            </a:p>
          </p:txBody>
        </p:sp>
        <p:sp>
          <p:nvSpPr>
            <p:cNvPr id="7179" name="AutoShape 11">
              <a:extLst>
                <a:ext uri="{FF2B5EF4-FFF2-40B4-BE49-F238E27FC236}">
                  <a16:creationId xmlns:a16="http://schemas.microsoft.com/office/drawing/2014/main" id="{3582561A-33FF-4F97-B388-35C07A2CA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616"/>
              <a:ext cx="1315" cy="363"/>
            </a:xfrm>
            <a:prstGeom prst="parallelogram">
              <a:avLst>
                <a:gd name="adj" fmla="val 9056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a, b</a:t>
              </a:r>
            </a:p>
          </p:txBody>
        </p:sp>
        <p:sp>
          <p:nvSpPr>
            <p:cNvPr id="7180" name="Rectangle 12">
              <a:extLst>
                <a:ext uri="{FF2B5EF4-FFF2-40B4-BE49-F238E27FC236}">
                  <a16:creationId xmlns:a16="http://schemas.microsoft.com/office/drawing/2014/main" id="{865283BA-738F-4CF2-B70A-C7304DF6F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205"/>
              <a:ext cx="1180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x=b-a</a:t>
              </a:r>
            </a:p>
          </p:txBody>
        </p:sp>
        <p:sp>
          <p:nvSpPr>
            <p:cNvPr id="7181" name="AutoShape 13">
              <a:extLst>
                <a:ext uri="{FF2B5EF4-FFF2-40B4-BE49-F238E27FC236}">
                  <a16:creationId xmlns:a16="http://schemas.microsoft.com/office/drawing/2014/main" id="{57E25011-3ED9-4032-AF06-7137889D3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774"/>
              <a:ext cx="1315" cy="363"/>
            </a:xfrm>
            <a:prstGeom prst="parallelogram">
              <a:avLst>
                <a:gd name="adj" fmla="val 9056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x</a:t>
              </a:r>
            </a:p>
          </p:txBody>
        </p:sp>
        <p:sp>
          <p:nvSpPr>
            <p:cNvPr id="7182" name="Line 14">
              <a:extLst>
                <a:ext uri="{FF2B5EF4-FFF2-40B4-BE49-F238E27FC236}">
                  <a16:creationId xmlns:a16="http://schemas.microsoft.com/office/drawing/2014/main" id="{982C5767-1A92-49D8-B176-214ABBD15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389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Line 15">
              <a:extLst>
                <a:ext uri="{FF2B5EF4-FFF2-40B4-BE49-F238E27FC236}">
                  <a16:creationId xmlns:a16="http://schemas.microsoft.com/office/drawing/2014/main" id="{CBE87113-F7DC-4B65-87D5-BEC7E8441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979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4" name="Line 16">
              <a:extLst>
                <a:ext uri="{FF2B5EF4-FFF2-40B4-BE49-F238E27FC236}">
                  <a16:creationId xmlns:a16="http://schemas.microsoft.com/office/drawing/2014/main" id="{AD2B543C-D597-415B-ADC3-858E35DF6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568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Line 17">
              <a:extLst>
                <a:ext uri="{FF2B5EF4-FFF2-40B4-BE49-F238E27FC236}">
                  <a16:creationId xmlns:a16="http://schemas.microsoft.com/office/drawing/2014/main" id="{19DFECA5-1197-4F2C-9F59-1DFFC7EF1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3113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E0E4362-1D9E-490D-8701-5230DF7A1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sz="4000" dirty="0" err="1"/>
              <a:t>Linear</a:t>
            </a:r>
            <a:r>
              <a:rPr lang="lv-LV" altLang="en-US" sz="4000" dirty="0"/>
              <a:t> </a:t>
            </a:r>
            <a:r>
              <a:rPr lang="lv-LV" altLang="en-US" sz="4000" dirty="0" err="1"/>
              <a:t>algorithm</a:t>
            </a:r>
            <a:r>
              <a:rPr lang="lv-LV" altLang="en-US" sz="4000" dirty="0"/>
              <a:t> </a:t>
            </a:r>
            <a:r>
              <a:rPr lang="lv-LV" altLang="en-US" sz="4000" dirty="0" err="1"/>
              <a:t>Flowchart</a:t>
            </a:r>
            <a:r>
              <a:rPr lang="lv-LV" altLang="en-US" sz="4000" dirty="0"/>
              <a:t> </a:t>
            </a:r>
            <a:r>
              <a:rPr lang="lv-LV" altLang="en-US" sz="4000" dirty="0" err="1"/>
              <a:t>Examples</a:t>
            </a:r>
            <a:endParaRPr lang="lv-LV" altLang="en-US" sz="4000" dirty="0"/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4C5C2A83-96DF-469A-91A0-4D19CC67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060575"/>
            <a:ext cx="5976937" cy="3871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double a,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cout &lt;&lt; "Input a: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cin &gt;&gt; 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cout &lt;&lt; "Input b: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cin &gt;&gt;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double x = b-a;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cout &lt;&lt; "Root of equation a+x=b is " &lt;&lt; x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300">
                <a:latin typeface="Courier New" panose="02070309020205020404" pitchFamily="49" charset="0"/>
              </a:rPr>
              <a:t> </a:t>
            </a:r>
            <a:endParaRPr lang="en-US" altLang="en-US" sz="130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system 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300">
                <a:latin typeface="Courier New" panose="02070309020205020404" pitchFamily="49" charset="0"/>
              </a:rPr>
              <a:t>}</a:t>
            </a:r>
            <a:endParaRPr lang="lv-LV" altLang="en-US" sz="1300">
              <a:latin typeface="Courier New" panose="02070309020205020404" pitchFamily="49" charset="0"/>
            </a:endParaRPr>
          </a:p>
        </p:txBody>
      </p:sp>
      <p:grpSp>
        <p:nvGrpSpPr>
          <p:cNvPr id="8210" name="Group 18">
            <a:extLst>
              <a:ext uri="{FF2B5EF4-FFF2-40B4-BE49-F238E27FC236}">
                <a16:creationId xmlns:a16="http://schemas.microsoft.com/office/drawing/2014/main" id="{BB9E656C-74D6-43B9-AD27-FD00069495E3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700213"/>
            <a:ext cx="4824413" cy="3495675"/>
            <a:chOff x="2426" y="935"/>
            <a:chExt cx="3039" cy="2202"/>
          </a:xfrm>
        </p:grpSpPr>
        <p:sp>
          <p:nvSpPr>
            <p:cNvPr id="8197" name="AutoShape 5">
              <a:extLst>
                <a:ext uri="{FF2B5EF4-FFF2-40B4-BE49-F238E27FC236}">
                  <a16:creationId xmlns:a16="http://schemas.microsoft.com/office/drawing/2014/main" id="{ADC9483D-96C5-4045-94FD-4760C74BD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2704"/>
              <a:ext cx="1134" cy="43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3600" dirty="0"/>
                <a:t>End</a:t>
              </a:r>
              <a:endParaRPr lang="lv-LV" altLang="en-US" sz="3600" dirty="0"/>
            </a:p>
          </p:txBody>
        </p:sp>
        <p:sp>
          <p:nvSpPr>
            <p:cNvPr id="8200" name="Rectangle 8">
              <a:extLst>
                <a:ext uri="{FF2B5EF4-FFF2-40B4-BE49-F238E27FC236}">
                  <a16:creationId xmlns:a16="http://schemas.microsoft.com/office/drawing/2014/main" id="{5425EDFA-10CB-46D7-8932-639C882FC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570"/>
              <a:ext cx="1180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x=b-a</a:t>
              </a:r>
            </a:p>
          </p:txBody>
        </p:sp>
        <p:sp>
          <p:nvSpPr>
            <p:cNvPr id="8201" name="AutoShape 9">
              <a:extLst>
                <a:ext uri="{FF2B5EF4-FFF2-40B4-BE49-F238E27FC236}">
                  <a16:creationId xmlns:a16="http://schemas.microsoft.com/office/drawing/2014/main" id="{82C0732E-F863-4E47-A87B-F26BF531D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139"/>
              <a:ext cx="1315" cy="363"/>
            </a:xfrm>
            <a:prstGeom prst="parallelogram">
              <a:avLst>
                <a:gd name="adj" fmla="val 9056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x</a:t>
              </a:r>
            </a:p>
          </p:txBody>
        </p:sp>
        <p:sp>
          <p:nvSpPr>
            <p:cNvPr id="8204" name="Line 12">
              <a:extLst>
                <a:ext uri="{FF2B5EF4-FFF2-40B4-BE49-F238E27FC236}">
                  <a16:creationId xmlns:a16="http://schemas.microsoft.com/office/drawing/2014/main" id="{8EDF82CC-F9F4-41C5-BBBE-77F269376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93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Line 13">
              <a:extLst>
                <a:ext uri="{FF2B5EF4-FFF2-40B4-BE49-F238E27FC236}">
                  <a16:creationId xmlns:a16="http://schemas.microsoft.com/office/drawing/2014/main" id="{8FB473C2-A939-4E15-9A07-A57CA1A68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478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" name="AutoShape 4">
              <a:extLst>
                <a:ext uri="{FF2B5EF4-FFF2-40B4-BE49-F238E27FC236}">
                  <a16:creationId xmlns:a16="http://schemas.microsoft.com/office/drawing/2014/main" id="{C6B47451-80E5-4117-B1F2-AD1DC5BB1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981"/>
              <a:ext cx="1179" cy="45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3600" dirty="0"/>
                <a:t>Start</a:t>
              </a:r>
              <a:endParaRPr lang="lv-LV" altLang="en-US" sz="3600" dirty="0"/>
            </a:p>
          </p:txBody>
        </p:sp>
        <p:sp>
          <p:nvSpPr>
            <p:cNvPr id="8199" name="AutoShape 7">
              <a:extLst>
                <a:ext uri="{FF2B5EF4-FFF2-40B4-BE49-F238E27FC236}">
                  <a16:creationId xmlns:a16="http://schemas.microsoft.com/office/drawing/2014/main" id="{79D23653-2636-4486-A6FD-C7A82C473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683"/>
              <a:ext cx="1315" cy="363"/>
            </a:xfrm>
            <a:prstGeom prst="parallelogram">
              <a:avLst>
                <a:gd name="adj" fmla="val 9056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a, b</a:t>
              </a:r>
            </a:p>
          </p:txBody>
        </p:sp>
        <p:sp>
          <p:nvSpPr>
            <p:cNvPr id="8202" name="Line 10">
              <a:extLst>
                <a:ext uri="{FF2B5EF4-FFF2-40B4-BE49-F238E27FC236}">
                  <a16:creationId xmlns:a16="http://schemas.microsoft.com/office/drawing/2014/main" id="{104845CE-C2A9-49B8-BE5E-620880B71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45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Line 11">
              <a:extLst>
                <a:ext uri="{FF2B5EF4-FFF2-40B4-BE49-F238E27FC236}">
                  <a16:creationId xmlns:a16="http://schemas.microsoft.com/office/drawing/2014/main" id="{A3F06641-ECEC-4DD9-9106-1F2083D4C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046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Oval 15">
              <a:extLst>
                <a:ext uri="{FF2B5EF4-FFF2-40B4-BE49-F238E27FC236}">
                  <a16:creationId xmlns:a16="http://schemas.microsoft.com/office/drawing/2014/main" id="{07A6D423-6392-4057-BDA5-3B2C892A0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2251"/>
              <a:ext cx="408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400"/>
                <a:t>1</a:t>
              </a:r>
            </a:p>
          </p:txBody>
        </p:sp>
        <p:sp>
          <p:nvSpPr>
            <p:cNvPr id="8208" name="Oval 16">
              <a:extLst>
                <a:ext uri="{FF2B5EF4-FFF2-40B4-BE49-F238E27FC236}">
                  <a16:creationId xmlns:a16="http://schemas.microsoft.com/office/drawing/2014/main" id="{B420BBB7-DB6C-425C-8BFA-57D4E6EC5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4" y="935"/>
              <a:ext cx="408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400"/>
                <a:t>1</a:t>
              </a:r>
            </a:p>
          </p:txBody>
        </p:sp>
        <p:sp>
          <p:nvSpPr>
            <p:cNvPr id="8209" name="Line 17">
              <a:extLst>
                <a:ext uri="{FF2B5EF4-FFF2-40B4-BE49-F238E27FC236}">
                  <a16:creationId xmlns:a16="http://schemas.microsoft.com/office/drawing/2014/main" id="{2310481E-63B6-4F67-8DD4-A1D49DE81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1344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C6978ED-83F1-4F04-BCED-B853D60B4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O</a:t>
            </a:r>
            <a:r>
              <a:rPr lang="lv-LV" altLang="en-US" sz="4000" dirty="0" err="1"/>
              <a:t>ther</a:t>
            </a:r>
            <a:r>
              <a:rPr lang="lv-LV" altLang="en-US" sz="4000" dirty="0"/>
              <a:t> </a:t>
            </a:r>
            <a:r>
              <a:rPr lang="lv-LV" altLang="en-US" sz="4000" dirty="0" err="1"/>
              <a:t>algorithm</a:t>
            </a:r>
            <a:r>
              <a:rPr lang="en-US" altLang="en-US" sz="4000" dirty="0"/>
              <a:t>s </a:t>
            </a:r>
            <a:r>
              <a:rPr lang="lv-LV" altLang="en-US" sz="4000" dirty="0" err="1"/>
              <a:t>flowchart</a:t>
            </a:r>
            <a:r>
              <a:rPr lang="lv-LV" altLang="en-US" sz="4000" dirty="0"/>
              <a:t> </a:t>
            </a:r>
            <a:r>
              <a:rPr lang="en-US" altLang="en-US" sz="4000" dirty="0"/>
              <a:t>s</a:t>
            </a:r>
            <a:r>
              <a:rPr lang="lv-LV" altLang="en-US" sz="4000" dirty="0" err="1"/>
              <a:t>ample</a:t>
            </a:r>
            <a:r>
              <a:rPr lang="en-US" altLang="en-US" sz="4000" dirty="0"/>
              <a:t>s.</a:t>
            </a:r>
            <a:endParaRPr lang="lv-LV" altLang="en-US" sz="4000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2639F1B-C6AF-4507-8493-E52F77342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924175"/>
            <a:ext cx="8229600" cy="32019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dirty="0"/>
              <a:t>Will be reviewed in future programs.
</a:t>
            </a:r>
            <a:endParaRPr lang="lv-LV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304</Words>
  <Application>Microsoft Office PowerPoint</Application>
  <PresentationFormat>On-screen Show (4:3)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Default Design</vt:lpstr>
      <vt:lpstr>Types and descriptions of algorithms</vt:lpstr>
      <vt:lpstr>Types and descriptions of algorithms</vt:lpstr>
      <vt:lpstr>Flowchart block types</vt:lpstr>
      <vt:lpstr>Basic types of algorithms</vt:lpstr>
      <vt:lpstr>Linear algorithm Flowchart Examples</vt:lpstr>
      <vt:lpstr>Linear algorithm Flowchart Examples</vt:lpstr>
      <vt:lpstr>Linear algorithm Flowchart Examples</vt:lpstr>
      <vt:lpstr>Other algorithms flowchart samples.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Algoritmi. Blokshēmas.</dc:title>
  <dc:creator>Home</dc:creator>
  <cp:lastModifiedBy>Andrej Liepiņš</cp:lastModifiedBy>
  <cp:revision>9</cp:revision>
  <dcterms:created xsi:type="dcterms:W3CDTF">2011-07-08T11:42:52Z</dcterms:created>
  <dcterms:modified xsi:type="dcterms:W3CDTF">2019-03-04T10:24:38Z</dcterms:modified>
</cp:coreProperties>
</file>