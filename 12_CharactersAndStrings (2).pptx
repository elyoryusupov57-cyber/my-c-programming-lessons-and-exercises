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70" r:id="rId7"/>
    <p:sldId id="271" r:id="rId8"/>
    <p:sldId id="272" r:id="rId9"/>
    <p:sldId id="274" r:id="rId10"/>
    <p:sldId id="275" r:id="rId11"/>
    <p:sldId id="259" r:id="rId12"/>
    <p:sldId id="261" r:id="rId13"/>
    <p:sldId id="262" r:id="rId14"/>
    <p:sldId id="263" r:id="rId15"/>
    <p:sldId id="273" r:id="rId16"/>
    <p:sldId id="264" r:id="rId17"/>
    <p:sldId id="265" r:id="rId18"/>
    <p:sldId id="276" r:id="rId19"/>
    <p:sldId id="279" r:id="rId20"/>
    <p:sldId id="280" r:id="rId21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92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A368-35D9-42E7-8700-D29163242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12481-250F-409B-9315-B62648BE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84301-DEAC-47F6-B102-3A89BCC7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B1A8-AB20-4B0C-A926-7999BACF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C42D7-4184-4D93-9FA7-F3F37090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EBE8E-7A51-4CEF-91C1-217DB947151D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5592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FE6-84EF-49F9-BCAF-4C84F053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D713-A22A-4852-BF90-8B848B070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BC059-A2E8-4805-A771-50146518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928B8-E359-4E6A-BECA-2503FD3A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0FC5A-D870-4D7F-8800-CF46748B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24A5B-F273-46AF-AC83-AC531FF8DA8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92104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CC6A-080E-45C6-B2A0-80616725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7B29E-1A02-4941-89D0-9E2042E93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2056C-8665-4DAD-89C0-EA159E08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217B-C477-4AF0-AF46-C8D7B3DB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F0BC4-E9FE-4518-BB38-C338BCC7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A853E-F3B3-4FCA-9978-6E3061BA0B5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16376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C7F6-498C-4B32-A1D8-86A9FBE5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4FE6-7CA0-4584-BD28-9C7B333C0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16CDE-EFFD-4422-8BBE-5A2DA21C2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4EF90-F348-4723-AF6C-C98FECE3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AF00A-497D-46A2-8668-3A432255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76CD4-E320-4E5C-BC71-38227DC7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88DF94-925D-482D-A56C-F2FDB0FF623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04766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BF34-2825-4613-8DE2-B55E0209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33E57-A328-481D-898B-F40B9DFE8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90F84-17F8-4A51-BB37-42EB18D67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B2D36-1B4B-4E4B-A39B-57131CDAE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12B29-2CC1-4262-937E-DD200611F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F81FD-6F3E-49CF-90C9-6C96A1C7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246CF-73DC-464E-8BD0-0436CED9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251F0-B1D6-4017-B3C7-8B98C5AF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C9AD4-B25B-4E30-8552-C09BF0CAEED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319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B31C-9C08-447B-A5DE-A00FEC3A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FB30F-A6BA-471F-96D3-AFDEBE24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880D1-4CBB-4C63-AE3C-ADF583B9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A36BC-EE97-46C7-90F3-F7FD26FE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8ADFC2-D722-4839-A57B-C0757574D23F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40160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B45C5-9760-459F-ADBD-E52BCA84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129D5-7616-4F68-B559-D813AECC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BFE8A-6642-4C73-8CB1-2395BEDB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D7601D-4374-4163-A81A-DFA9A4F0A12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3245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3E7E-DB5A-4486-9A7F-DCDC4E9E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E911-ADEB-4B67-83E7-5B9BC2EC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FE349-E4E1-41DD-A33E-9C0D3F78A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2832D-1E69-42C3-9F10-83458DA2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4A321-0D68-4265-B2B4-38F3B46F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12BBC-625F-4D5B-AA00-6DF634C6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FFB7C-23F4-4FEF-BB33-644663E5700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93959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29A1-F688-4EE7-8500-360ACDE6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0ADFA-7079-4919-A5F8-16B1DBB98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949EC-0237-4163-9608-9764EA94D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FF7D3-37E5-4B7C-A0C8-39C69B3F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3E4B2-5DEB-4949-9887-433F270A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F2144-38D1-4B50-B987-24D7A6A5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6D846-CADB-4F4B-9A4B-CDEE4C623E4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85625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AC6F-1E56-4316-A8DE-A9BFD094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DFC55-4773-4216-A105-12D87AA6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35862-A4E1-4BF9-9E70-37609197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0E917-EDCE-4DEF-80B2-08E4D06B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0988-8C8F-4F20-851F-8185B62C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052CA-1EDA-4ED4-8A57-FD928084A84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33319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6DF70B-A1A4-4C69-B7BB-98D14213B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F60E0-3FA9-4B68-AC5D-14149D1D9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01CE1-01C1-4A46-B6A6-CF66D203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E1280-3244-4141-BAE5-1442AB12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30580-FA3F-4798-BDDC-B5E3349A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5352F-5092-40BC-B2B7-A9A75E2B847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8563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E8E2-6CBD-4310-B439-8123CEED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C9257-B019-4D72-99B8-308EC2DC691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B1EA0-1DCF-40E8-89F7-AE9E8C4BC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E1DED-86C3-4F8A-A36A-7925EB7A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F631-D65C-40C7-8BD2-68C8170C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EA539-279F-424C-BE73-5845B1FD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98EFDC5-CF9F-44CB-8EFC-442583D4D3F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568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2ACA92-49CE-418B-B0CC-3E50F2243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E913F9-869B-4F66-A8D1-E18D36B13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26606F4-A9E4-452D-A093-954F64A33D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D89D58-F80F-4CCC-875D-EE41406A33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F91B20-0299-4A7F-9B0E-FD9D58F4DA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C46EEB0-0253-46A5-9474-749C88A31B61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3835012-5511-4AAF-ADE3-06ACBE8367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Characters and Strings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70845D-0EC8-4FD8-BC95-7E408BB9C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9538"/>
            <a:ext cx="8229600" cy="777875"/>
          </a:xfrm>
        </p:spPr>
        <p:txBody>
          <a:bodyPr/>
          <a:lstStyle/>
          <a:p>
            <a:r>
              <a:rPr lang="lv-LV" altLang="en-US" dirty="0" err="1"/>
              <a:t>Character</a:t>
            </a:r>
            <a:r>
              <a:rPr lang="lv-LV" altLang="en-US" dirty="0"/>
              <a:t> </a:t>
            </a:r>
            <a:r>
              <a:rPr lang="lv-LV" altLang="en-US" dirty="0" err="1"/>
              <a:t>type</a:t>
            </a:r>
            <a:r>
              <a:rPr lang="lv-LV" altLang="en-US" dirty="0"/>
              <a:t> </a:t>
            </a:r>
            <a:r>
              <a:rPr lang="en-US" altLang="en-US" b="1" i="1" dirty="0"/>
              <a:t>c</a:t>
            </a:r>
            <a:r>
              <a:rPr lang="lv-LV" altLang="en-US" b="1" i="1" dirty="0" err="1"/>
              <a:t>har</a:t>
            </a:r>
            <a:endParaRPr lang="lv-LV" altLang="en-US" b="1" i="1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61CA661-A938-4D09-856B-D267A51729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08050"/>
            <a:ext cx="8218488" cy="594995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da-DK" altLang="en-US" sz="2400" dirty="0"/>
              <a:t>For storing a single symbol.</a:t>
            </a:r>
          </a:p>
          <a:p>
            <a:pPr>
              <a:lnSpc>
                <a:spcPct val="80000"/>
              </a:lnSpc>
            </a:pPr>
            <a:r>
              <a:rPr lang="lv-LV" altLang="en-US" sz="2400" dirty="0" err="1"/>
              <a:t>Defining</a:t>
            </a:r>
            <a:r>
              <a:rPr lang="lv-LV" altLang="en-US" sz="2400" dirty="0"/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s;</a:t>
            </a:r>
          </a:p>
          <a:p>
            <a:pPr>
              <a:lnSpc>
                <a:spcPct val="80000"/>
              </a:lnSpc>
            </a:pPr>
            <a:r>
              <a:rPr lang="lv-LV" altLang="en-US" sz="2400" dirty="0" err="1"/>
              <a:t>Defining</a:t>
            </a:r>
            <a:r>
              <a:rPr lang="lv-LV" altLang="en-US" sz="2400" dirty="0"/>
              <a:t> </a:t>
            </a:r>
            <a:r>
              <a:rPr lang="lv-LV" altLang="en-US" sz="2400" dirty="0" err="1"/>
              <a:t>with</a:t>
            </a:r>
            <a:r>
              <a:rPr lang="lv-LV" altLang="en-US" sz="2400" dirty="0"/>
              <a:t> </a:t>
            </a:r>
            <a:r>
              <a:rPr lang="lv-LV" altLang="en-US" sz="2400" dirty="0" err="1"/>
              <a:t>initializing</a:t>
            </a:r>
            <a:r>
              <a:rPr lang="lv-LV" altLang="en-US" sz="2400" dirty="0"/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c = ’A’;</a:t>
            </a:r>
          </a:p>
          <a:p>
            <a:pPr>
              <a:lnSpc>
                <a:spcPct val="80000"/>
              </a:lnSpc>
            </a:pPr>
            <a:r>
              <a:rPr lang="lv-LV" altLang="en-US" sz="2400" dirty="0" err="1"/>
              <a:t>Defining</a:t>
            </a:r>
            <a:r>
              <a:rPr lang="lv-LV" altLang="en-US" sz="2400" dirty="0"/>
              <a:t> </a:t>
            </a:r>
            <a:r>
              <a:rPr lang="lv-LV" altLang="en-US" sz="2400" dirty="0" err="1"/>
              <a:t>an</a:t>
            </a:r>
            <a:r>
              <a:rPr lang="lv-LV" altLang="en-US" sz="2400" dirty="0"/>
              <a:t> </a:t>
            </a:r>
            <a:r>
              <a:rPr lang="lv-LV" altLang="en-US" sz="2400" dirty="0" err="1"/>
              <a:t>array</a:t>
            </a:r>
            <a:r>
              <a:rPr lang="lv-LV" altLang="en-US" sz="2400" dirty="0"/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text</a:t>
            </a:r>
            <a:r>
              <a:rPr lang="lv-LV" altLang="en-US" sz="2400" dirty="0">
                <a:latin typeface="Courier New" panose="02070309020205020404" pitchFamily="49" charset="0"/>
              </a:rPr>
              <a:t>[25];</a:t>
            </a:r>
          </a:p>
          <a:p>
            <a:pPr>
              <a:lnSpc>
                <a:spcPct val="80000"/>
              </a:lnSpc>
            </a:pPr>
            <a:r>
              <a:rPr lang="lv-LV" altLang="en-US" sz="2400" dirty="0" err="1"/>
              <a:t>Defining</a:t>
            </a:r>
            <a:r>
              <a:rPr lang="en-US" altLang="en-US" sz="2400" dirty="0"/>
              <a:t> an array with initializing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str</a:t>
            </a:r>
            <a:r>
              <a:rPr lang="lv-LV" altLang="en-US" sz="2400" dirty="0">
                <a:latin typeface="Courier New" panose="02070309020205020404" pitchFamily="49" charset="0"/>
              </a:rPr>
              <a:t>[25] = "</a:t>
            </a:r>
            <a:r>
              <a:rPr lang="lv-LV" altLang="en-US" sz="2400" dirty="0" err="1">
                <a:latin typeface="Courier New" panose="02070309020205020404" pitchFamily="49" charset="0"/>
              </a:rPr>
              <a:t>Hello</a:t>
            </a:r>
            <a:r>
              <a:rPr lang="lv-LV" altLang="en-US" sz="2400" dirty="0">
                <a:latin typeface="Courier New" panose="02070309020205020404" pitchFamily="49" charset="0"/>
              </a:rPr>
              <a:t>, </a:t>
            </a:r>
            <a:r>
              <a:rPr lang="lv-LV" altLang="en-US" sz="2400" dirty="0" err="1">
                <a:latin typeface="Courier New" panose="02070309020205020404" pitchFamily="49" charset="0"/>
              </a:rPr>
              <a:t>world</a:t>
            </a:r>
            <a:r>
              <a:rPr lang="lv-LV" altLang="en-US" sz="2400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>
                <a:latin typeface="Courier New" panose="02070309020205020404" pitchFamily="49" charset="0"/>
              </a:rPr>
              <a:t>	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str</a:t>
            </a:r>
            <a:r>
              <a:rPr lang="lv-LV" altLang="en-US" sz="2400" dirty="0">
                <a:latin typeface="Courier New" panose="02070309020205020404" pitchFamily="49" charset="0"/>
              </a:rPr>
              <a:t>[] = "</a:t>
            </a:r>
            <a:r>
              <a:rPr lang="lv-LV" altLang="en-US" sz="2400" dirty="0" err="1">
                <a:latin typeface="Courier New" panose="02070309020205020404" pitchFamily="49" charset="0"/>
              </a:rPr>
              <a:t>Hello</a:t>
            </a:r>
            <a:r>
              <a:rPr lang="lv-LV" altLang="en-US" sz="2400" dirty="0">
                <a:latin typeface="Courier New" panose="02070309020205020404" pitchFamily="49" charset="0"/>
              </a:rPr>
              <a:t>, </a:t>
            </a:r>
            <a:r>
              <a:rPr lang="lv-LV" altLang="en-US" sz="2400" dirty="0" err="1">
                <a:latin typeface="Courier New" panose="02070309020205020404" pitchFamily="49" charset="0"/>
              </a:rPr>
              <a:t>world</a:t>
            </a:r>
            <a:r>
              <a:rPr lang="lv-LV" altLang="en-US" sz="2400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/>
              <a:t>	</a:t>
            </a:r>
            <a:r>
              <a:rPr lang="en-US" altLang="en-US" sz="2400" dirty="0"/>
              <a:t>Array length is optional.
Array of characters ends with zero-byte </a:t>
            </a:r>
            <a:r>
              <a:rPr lang="lv-LV" altLang="en-US" sz="2400" dirty="0"/>
              <a:t>‘\0’, </a:t>
            </a:r>
            <a:r>
              <a:rPr lang="en-US" altLang="en-US" sz="2400" dirty="0"/>
              <a:t>for example</a:t>
            </a:r>
            <a:r>
              <a:rPr lang="lv-LV" altLang="en-US" sz="2400" dirty="0"/>
              <a:t>:</a:t>
            </a:r>
          </a:p>
          <a:p>
            <a:pPr>
              <a:lnSpc>
                <a:spcPct val="80000"/>
              </a:lnSpc>
            </a:pPr>
            <a:endParaRPr lang="lv-LV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Usage of</a:t>
            </a:r>
            <a:r>
              <a:rPr lang="lv-LV" altLang="en-US" sz="2400" dirty="0"/>
              <a:t> </a:t>
            </a:r>
            <a:r>
              <a:rPr lang="lv-LV" altLang="en-US" sz="2400" dirty="0" err="1"/>
              <a:t>individual</a:t>
            </a:r>
            <a:r>
              <a:rPr lang="lv-LV" altLang="en-US" sz="2400" dirty="0"/>
              <a:t> </a:t>
            </a:r>
            <a:r>
              <a:rPr lang="lv-LV" altLang="en-US" sz="2400" dirty="0" err="1"/>
              <a:t>symbol</a:t>
            </a:r>
            <a:r>
              <a:rPr lang="lv-LV" altLang="en-US" sz="2400" dirty="0"/>
              <a:t>: </a:t>
            </a:r>
            <a:r>
              <a:rPr lang="lv-LV" altLang="en-US" sz="2400" i="1" dirty="0" err="1">
                <a:latin typeface="Courier New" panose="02070309020205020404" pitchFamily="49" charset="0"/>
              </a:rPr>
              <a:t>String</a:t>
            </a:r>
            <a:r>
              <a:rPr lang="lv-LV" altLang="en-US" sz="2400" i="1" dirty="0">
                <a:latin typeface="Courier New" panose="02070309020205020404" pitchFamily="49" charset="0"/>
              </a:rPr>
              <a:t>_</a:t>
            </a:r>
            <a:r>
              <a:rPr lang="en-US" altLang="en-US" sz="2400" i="1" dirty="0">
                <a:latin typeface="Courier New" panose="02070309020205020404" pitchFamily="49" charset="0"/>
              </a:rPr>
              <a:t>name</a:t>
            </a:r>
            <a:r>
              <a:rPr lang="lv-LV" altLang="en-US" sz="2400" dirty="0">
                <a:latin typeface="Courier New" panose="02070309020205020404" pitchFamily="49" charset="0"/>
              </a:rPr>
              <a:t>[</a:t>
            </a:r>
            <a:r>
              <a:rPr lang="lv-LV" altLang="en-US" sz="2400" i="1" dirty="0" err="1">
                <a:latin typeface="Courier New" panose="02070309020205020404" pitchFamily="49" charset="0"/>
              </a:rPr>
              <a:t>Symbol</a:t>
            </a:r>
            <a:r>
              <a:rPr lang="lv-LV" altLang="en-US" sz="2400" i="1" dirty="0">
                <a:latin typeface="Courier New" panose="02070309020205020404" pitchFamily="49" charset="0"/>
              </a:rPr>
              <a:t>_</a:t>
            </a:r>
            <a:r>
              <a:rPr lang="en-US" altLang="en-US" sz="2400" i="1" dirty="0">
                <a:latin typeface="Courier New" panose="02070309020205020404" pitchFamily="49" charset="0"/>
              </a:rPr>
              <a:t>number</a:t>
            </a:r>
            <a:r>
              <a:rPr lang="lv-LV" altLang="en-US" sz="2400" dirty="0">
                <a:latin typeface="Courier New" panose="02070309020205020404" pitchFamily="49" charset="0"/>
              </a:rPr>
              <a:t>]</a:t>
            </a:r>
            <a:r>
              <a:rPr lang="en-US" altLang="en-US" sz="2400" dirty="0"/>
              <a:t> </a:t>
            </a:r>
            <a:endParaRPr lang="lv-LV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Specifying the length of an array should always provide a space for zero-byte</a:t>
            </a:r>
            <a:r>
              <a:rPr lang="lv-LV" altLang="en-US" sz="2400" dirty="0"/>
              <a:t>, </a:t>
            </a:r>
            <a:r>
              <a:rPr lang="en-US" altLang="en-US" sz="2400" dirty="0"/>
              <a:t>like</a:t>
            </a:r>
            <a:r>
              <a:rPr lang="lv-LV" altLang="en-US" sz="2400" dirty="0"/>
              <a:t>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/>
              <a:t>	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str</a:t>
            </a:r>
            <a:r>
              <a:rPr lang="lv-LV" altLang="en-US" sz="2400" dirty="0">
                <a:latin typeface="Courier New" panose="02070309020205020404" pitchFamily="49" charset="0"/>
              </a:rPr>
              <a:t>[12] = "</a:t>
            </a:r>
            <a:r>
              <a:rPr lang="lv-LV" altLang="en-US" sz="2400" dirty="0" err="1">
                <a:latin typeface="Courier New" panose="02070309020205020404" pitchFamily="49" charset="0"/>
              </a:rPr>
              <a:t>Hello</a:t>
            </a:r>
            <a:r>
              <a:rPr lang="lv-LV" altLang="en-US" sz="2400" dirty="0">
                <a:latin typeface="Courier New" panose="02070309020205020404" pitchFamily="49" charset="0"/>
              </a:rPr>
              <a:t>, </a:t>
            </a:r>
            <a:r>
              <a:rPr lang="lv-LV" altLang="en-US" sz="2400" dirty="0" err="1">
                <a:latin typeface="Courier New" panose="02070309020205020404" pitchFamily="49" charset="0"/>
              </a:rPr>
              <a:t>world</a:t>
            </a:r>
            <a:r>
              <a:rPr lang="lv-LV" altLang="en-US" sz="2400" dirty="0">
                <a:latin typeface="Courier New" panose="02070309020205020404" pitchFamily="49" charset="0"/>
              </a:rPr>
              <a:t>";//</a:t>
            </a:r>
            <a:r>
              <a:rPr lang="en-US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ERROR</a:t>
            </a:r>
            <a:endParaRPr lang="lv-LV" altLang="en-US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>
                <a:latin typeface="Courier New" panose="02070309020205020404" pitchFamily="49" charset="0"/>
              </a:rPr>
              <a:t>	</a:t>
            </a:r>
            <a:r>
              <a:rPr lang="lv-LV" altLang="en-US" sz="2400" dirty="0" err="1">
                <a:latin typeface="Courier New" panose="02070309020205020404" pitchFamily="49" charset="0"/>
              </a:rPr>
              <a:t>char</a:t>
            </a:r>
            <a:r>
              <a:rPr lang="lv-LV" altLang="en-US" sz="2400" dirty="0">
                <a:latin typeface="Courier New" panose="02070309020205020404" pitchFamily="49" charset="0"/>
              </a:rPr>
              <a:t> </a:t>
            </a:r>
            <a:r>
              <a:rPr lang="lv-LV" altLang="en-US" sz="2400" dirty="0" err="1">
                <a:latin typeface="Courier New" panose="02070309020205020404" pitchFamily="49" charset="0"/>
              </a:rPr>
              <a:t>str</a:t>
            </a:r>
            <a:r>
              <a:rPr lang="lv-LV" altLang="en-US" sz="2400" dirty="0">
                <a:latin typeface="Courier New" panose="02070309020205020404" pitchFamily="49" charset="0"/>
              </a:rPr>
              <a:t>[13] = "</a:t>
            </a:r>
            <a:r>
              <a:rPr lang="lv-LV" altLang="en-US" sz="2400" dirty="0" err="1">
                <a:latin typeface="Courier New" panose="02070309020205020404" pitchFamily="49" charset="0"/>
              </a:rPr>
              <a:t>Hello</a:t>
            </a:r>
            <a:r>
              <a:rPr lang="lv-LV" altLang="en-US" sz="2400" dirty="0">
                <a:latin typeface="Courier New" panose="02070309020205020404" pitchFamily="49" charset="0"/>
              </a:rPr>
              <a:t>, </a:t>
            </a:r>
            <a:r>
              <a:rPr lang="lv-LV" altLang="en-US" sz="2400" dirty="0" err="1">
                <a:latin typeface="Courier New" panose="02070309020205020404" pitchFamily="49" charset="0"/>
              </a:rPr>
              <a:t>world</a:t>
            </a:r>
            <a:r>
              <a:rPr lang="lv-LV" altLang="en-US" sz="2400" dirty="0">
                <a:latin typeface="Courier New" panose="02070309020205020404" pitchFamily="49" charset="0"/>
              </a:rPr>
              <a:t>";//</a:t>
            </a:r>
            <a:r>
              <a:rPr lang="en-US" altLang="en-US" sz="2400" dirty="0">
                <a:latin typeface="Courier New" panose="02070309020205020404" pitchFamily="49" charset="0"/>
              </a:rPr>
              <a:t>Correctly</a:t>
            </a:r>
            <a:endParaRPr lang="lv-LV" altLang="en-US" sz="2400" dirty="0"/>
          </a:p>
          <a:p>
            <a:pPr>
              <a:lnSpc>
                <a:spcPct val="80000"/>
              </a:lnSpc>
            </a:pPr>
            <a:endParaRPr lang="lv-LV" altLang="en-US" sz="2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lv-LV" altLang="en-US" sz="2400" dirty="0">
              <a:latin typeface="Courier New" panose="02070309020205020404" pitchFamily="49" charset="0"/>
            </a:endParaRPr>
          </a:p>
        </p:txBody>
      </p:sp>
      <p:graphicFrame>
        <p:nvGraphicFramePr>
          <p:cNvPr id="3115" name="Group 43">
            <a:extLst>
              <a:ext uri="{FF2B5EF4-FFF2-40B4-BE49-F238E27FC236}">
                <a16:creationId xmlns:a16="http://schemas.microsoft.com/office/drawing/2014/main" id="{8CFEF38E-DADF-43DD-8BD6-EDAF9B818DA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00113" y="4221163"/>
          <a:ext cx="5688012" cy="335280"/>
        </p:xfrm>
        <a:graphic>
          <a:graphicData uri="http://schemas.openxmlformats.org/drawingml/2006/table">
            <a:tbl>
              <a:tblPr/>
              <a:tblGrid>
                <a:gridCol w="436562">
                  <a:extLst>
                    <a:ext uri="{9D8B030D-6E8A-4147-A177-3AD203B41FA5}">
                      <a16:colId xmlns:a16="http://schemas.microsoft.com/office/drawing/2014/main" val="3101573292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3833573944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267912747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460924638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381867723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878144095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1055541989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3095871897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51216918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676416086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765744770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4010548612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3370437216"/>
                    </a:ext>
                  </a:extLst>
                </a:gridCol>
              </a:tblGrid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v-LV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9658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E929E8-2B87-4C47-972F-0E6815038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6838"/>
            <a:ext cx="8229600" cy="922337"/>
          </a:xfrm>
        </p:spPr>
        <p:txBody>
          <a:bodyPr/>
          <a:lstStyle/>
          <a:p>
            <a:r>
              <a:rPr lang="lv-LV" altLang="en-US" dirty="0" err="1"/>
              <a:t>Character</a:t>
            </a:r>
            <a:r>
              <a:rPr lang="lv-LV" altLang="en-US" dirty="0"/>
              <a:t> </a:t>
            </a:r>
            <a:r>
              <a:rPr lang="lv-LV" altLang="en-US" dirty="0" err="1"/>
              <a:t>type</a:t>
            </a:r>
            <a:r>
              <a:rPr lang="lv-LV" altLang="en-US" dirty="0"/>
              <a:t> </a:t>
            </a:r>
            <a:r>
              <a:rPr lang="en-US" altLang="en-US" b="1" i="1" dirty="0"/>
              <a:t>c</a:t>
            </a:r>
            <a:r>
              <a:rPr lang="lv-LV" altLang="en-US" b="1" i="1" dirty="0" err="1"/>
              <a:t>har</a:t>
            </a:r>
            <a:r>
              <a:rPr lang="lv-LV" altLang="en-US" b="1" i="1" dirty="0"/>
              <a:t> </a:t>
            </a:r>
            <a:r>
              <a:rPr lang="en-US" altLang="en-US" dirty="0"/>
              <a:t>example</a:t>
            </a:r>
            <a:endParaRPr lang="lv-LV" altLang="en-US" dirty="0"/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A1060B3D-090E-45FD-8D55-DACD95CF6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5"/>
            <a:ext cx="8208962" cy="4371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12788" indent="-712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350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7573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796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019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2591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163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1735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307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int main(){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char c='A';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cout &lt;&lt; c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cout &lt;&lt; "Input symbol: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cin &gt;&gt; c;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cout &lt;&lt; c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280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5129" name="Picture 9">
            <a:extLst>
              <a:ext uri="{FF2B5EF4-FFF2-40B4-BE49-F238E27FC236}">
                <a16:creationId xmlns:a16="http://schemas.microsoft.com/office/drawing/2014/main" id="{80D647D6-EF76-40D0-B4CB-72017E2E3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805488"/>
            <a:ext cx="3724275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C134AB4-992F-4C13-A5D5-1EACDE486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6838"/>
            <a:ext cx="8229600" cy="922337"/>
          </a:xfrm>
        </p:spPr>
        <p:txBody>
          <a:bodyPr/>
          <a:lstStyle/>
          <a:p>
            <a:r>
              <a:rPr lang="lv-LV" altLang="en-US" dirty="0" err="1"/>
              <a:t>Character</a:t>
            </a:r>
            <a:r>
              <a:rPr lang="lv-LV" altLang="en-US" dirty="0"/>
              <a:t> </a:t>
            </a:r>
            <a:r>
              <a:rPr lang="lv-LV" altLang="en-US" dirty="0" err="1"/>
              <a:t>type</a:t>
            </a:r>
            <a:r>
              <a:rPr lang="lv-LV" altLang="en-US" dirty="0"/>
              <a:t> </a:t>
            </a:r>
            <a:r>
              <a:rPr lang="en-US" altLang="en-US" b="1" i="1" dirty="0"/>
              <a:t>c</a:t>
            </a:r>
            <a:r>
              <a:rPr lang="lv-LV" altLang="en-US" b="1" i="1" dirty="0" err="1"/>
              <a:t>har</a:t>
            </a:r>
            <a:r>
              <a:rPr lang="lv-LV" altLang="en-US" b="1" i="1" dirty="0"/>
              <a:t> </a:t>
            </a:r>
            <a:r>
              <a:rPr lang="en-US" altLang="en-US" dirty="0"/>
              <a:t>array example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406CDE8-679E-4BDE-998D-29BB20E8A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6119812" cy="280828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int main(){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char str[] = "Hello, world";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str &lt;&lt; endl;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for(int i=0; str[i] != '\0'; i++)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    cout &lt;&lt; str[i];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endl;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system("pause");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BA59737-A7D8-459B-AF79-44F8AECD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60800"/>
            <a:ext cx="6119812" cy="2808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int main(){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char str[13] = "Hello, world";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cout &lt;&lt; str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for(int i=0; i&lt;12; i++)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    cout &lt;&lt; str[i];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cout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system("pause");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  <a:endParaRPr lang="lv-LV" altLang="en-US" sz="1800">
              <a:latin typeface="Courier New" panose="02070309020205020404" pitchFamily="49" charset="0"/>
            </a:endParaRP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90B0DCD0-A946-49EE-8365-2491C7AE1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154363"/>
            <a:ext cx="37338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0962A9E-FFA1-4075-8E76-6B6DF4139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13" y="6059488"/>
            <a:ext cx="371475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3E4FBA1-DBCA-4812-A6A7-4B04A5D0C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С </a:t>
            </a:r>
            <a:r>
              <a:rPr lang="en-US" altLang="en-US" dirty="0"/>
              <a:t>language strings</a:t>
            </a:r>
            <a:r>
              <a:rPr lang="lv-LV" altLang="en-US" dirty="0"/>
              <a:t> </a:t>
            </a:r>
            <a:r>
              <a:rPr lang="lv-LV" altLang="en-US" b="1" i="1" dirty="0" err="1"/>
              <a:t>char</a:t>
            </a:r>
            <a:r>
              <a:rPr lang="lv-LV" altLang="en-US" b="1" i="1" dirty="0"/>
              <a:t>*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21C7DA94-BFC8-4129-8B0C-F4B526BCD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968875"/>
          </a:xfrm>
          <a:noFill/>
          <a:ln/>
        </p:spPr>
        <p:txBody>
          <a:bodyPr/>
          <a:lstStyle/>
          <a:p>
            <a:r>
              <a:rPr lang="en-US" altLang="en-US" sz="4000" dirty="0"/>
              <a:t>Although we use C++, however, there are widely used also the C language construction</a:t>
            </a:r>
            <a:r>
              <a:rPr lang="lv-LV" altLang="en-US" sz="4000" dirty="0"/>
              <a:t>. </a:t>
            </a:r>
          </a:p>
          <a:p>
            <a:r>
              <a:rPr lang="lv-LV" altLang="en-US" sz="4000" dirty="0" err="1"/>
              <a:t>Defining</a:t>
            </a:r>
            <a:r>
              <a:rPr lang="lv-LV" altLang="en-US" sz="4000" dirty="0"/>
              <a:t>:</a:t>
            </a:r>
          </a:p>
          <a:p>
            <a:pPr lvl="1"/>
            <a:r>
              <a:rPr lang="lv-LV" altLang="en-US" sz="3600" dirty="0" err="1"/>
              <a:t>char</a:t>
            </a:r>
            <a:r>
              <a:rPr lang="lv-LV" altLang="en-US" sz="3600" dirty="0"/>
              <a:t> *</a:t>
            </a:r>
            <a:r>
              <a:rPr lang="en-US" altLang="en-US" sz="3600" i="1" dirty="0"/>
              <a:t>variable</a:t>
            </a:r>
            <a:r>
              <a:rPr lang="lv-LV" altLang="en-US" sz="3600" i="1" dirty="0"/>
              <a:t>_</a:t>
            </a:r>
            <a:r>
              <a:rPr lang="en-US" altLang="en-US" sz="3600" i="1" dirty="0"/>
              <a:t>name</a:t>
            </a:r>
            <a:r>
              <a:rPr lang="lv-LV" altLang="en-US" sz="3600" dirty="0"/>
              <a:t>;</a:t>
            </a:r>
          </a:p>
          <a:p>
            <a:pPr lvl="1"/>
            <a:r>
              <a:rPr lang="lv-LV" altLang="en-US" sz="3600" dirty="0" err="1"/>
              <a:t>char</a:t>
            </a:r>
            <a:r>
              <a:rPr lang="lv-LV" altLang="en-US" sz="3600" dirty="0"/>
              <a:t> *</a:t>
            </a:r>
            <a:r>
              <a:rPr lang="en-US" altLang="en-US" sz="3600" i="1" dirty="0"/>
              <a:t>variable</a:t>
            </a:r>
            <a:r>
              <a:rPr lang="lv-LV" altLang="en-US" sz="3600" i="1" dirty="0"/>
              <a:t>_</a:t>
            </a:r>
            <a:r>
              <a:rPr lang="en-US" altLang="en-US" sz="3600" i="1" dirty="0"/>
              <a:t>name  </a:t>
            </a:r>
            <a:r>
              <a:rPr lang="lv-LV" altLang="en-US" sz="3600" dirty="0"/>
              <a:t>=</a:t>
            </a:r>
            <a:r>
              <a:rPr lang="en-US" altLang="en-US" sz="3600" dirty="0"/>
              <a:t> </a:t>
            </a:r>
            <a:r>
              <a:rPr lang="lv-LV" altLang="en-US" sz="3600" dirty="0"/>
              <a:t>“</a:t>
            </a:r>
            <a:r>
              <a:rPr lang="en-US" altLang="en-US" sz="3600" dirty="0"/>
              <a:t>initial value</a:t>
            </a:r>
            <a:r>
              <a:rPr lang="lv-LV" altLang="en-US" sz="3600" dirty="0"/>
              <a:t>";</a:t>
            </a:r>
          </a:p>
          <a:p>
            <a:r>
              <a:rPr lang="en-US" altLang="en-US" sz="4000" dirty="0"/>
              <a:t>Ends with a zero byte </a:t>
            </a:r>
            <a:r>
              <a:rPr lang="lv-LV" altLang="en-US" sz="4000" dirty="0"/>
              <a:t>‘\0’;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C70D062-30A7-41F9-8DA4-28C073F63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4138"/>
            <a:ext cx="9144000" cy="1143000"/>
          </a:xfrm>
        </p:spPr>
        <p:txBody>
          <a:bodyPr/>
          <a:lstStyle/>
          <a:p>
            <a:r>
              <a:rPr lang="en-US" altLang="en-US" sz="3900" dirty="0"/>
              <a:t>Functions for work with character strings</a:t>
            </a:r>
            <a:endParaRPr lang="lv-LV" altLang="en-US" sz="3900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F03E3E4-7631-46D6-B3E9-6B52070AD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2562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lv-LV" altLang="en-US" sz="2800" b="1" dirty="0" err="1"/>
              <a:t>strlen</a:t>
            </a:r>
            <a:r>
              <a:rPr lang="lv-LV" altLang="en-US" sz="2800" dirty="0"/>
              <a:t>(s) - </a:t>
            </a:r>
            <a:r>
              <a:rPr lang="en-US" altLang="en-US" sz="2800" dirty="0"/>
              <a:t>The length of the string </a:t>
            </a:r>
            <a:r>
              <a:rPr lang="lv-LV" altLang="en-US" sz="2800" dirty="0"/>
              <a:t> (</a:t>
            </a:r>
            <a:r>
              <a:rPr lang="en-US" altLang="en-US" sz="2800" dirty="0"/>
              <a:t>Number of characters, excluding last byte</a:t>
            </a:r>
            <a:r>
              <a:rPr lang="lv-LV" altLang="en-US" sz="2800" dirty="0"/>
              <a:t> '\0').</a:t>
            </a:r>
            <a:endParaRPr lang="lv-LV" altLang="en-US" sz="2800" b="1" dirty="0"/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strcpy</a:t>
            </a:r>
            <a:r>
              <a:rPr lang="lv-LV" altLang="en-US" sz="2800" dirty="0"/>
              <a:t>(s1,s2) - </a:t>
            </a:r>
            <a:r>
              <a:rPr lang="en-US" altLang="en-US" sz="2800" dirty="0"/>
              <a:t>The string s2 coping to s1 </a:t>
            </a:r>
            <a:r>
              <a:rPr lang="lv-LV" altLang="en-US" sz="2800" dirty="0"/>
              <a:t>(</a:t>
            </a:r>
            <a:r>
              <a:rPr lang="en-US" altLang="en-US" sz="2800" dirty="0"/>
              <a:t>if s2 is longer than s1, may occur errors related to the incorrect use of memory</a:t>
            </a:r>
            <a:r>
              <a:rPr lang="lv-LV" altLang="en-US" sz="2800" dirty="0"/>
              <a:t>; </a:t>
            </a:r>
            <a:r>
              <a:rPr lang="en-US" altLang="en-US" sz="2800" dirty="0"/>
              <a:t>s</a:t>
            </a:r>
            <a:r>
              <a:rPr lang="lv-LV" altLang="en-US" sz="2800" dirty="0" err="1"/>
              <a:t>imple</a:t>
            </a:r>
            <a:r>
              <a:rPr lang="lv-LV" altLang="en-US" sz="2800" dirty="0"/>
              <a:t> </a:t>
            </a:r>
            <a:r>
              <a:rPr lang="lv-LV" altLang="en-US" sz="2800" dirty="0" err="1"/>
              <a:t>assignment</a:t>
            </a:r>
            <a:r>
              <a:rPr lang="lv-LV" altLang="en-US" sz="2800" dirty="0"/>
              <a:t> s1=s2 </a:t>
            </a:r>
            <a:r>
              <a:rPr lang="en-US" altLang="en-US" sz="2800" dirty="0"/>
              <a:t>a</a:t>
            </a:r>
            <a:r>
              <a:rPr lang="lv-LV" altLang="en-US" sz="2800" dirty="0" err="1"/>
              <a:t>lso</a:t>
            </a:r>
            <a:r>
              <a:rPr lang="lv-LV" altLang="en-US" sz="2800" dirty="0"/>
              <a:t> </a:t>
            </a:r>
            <a:r>
              <a:rPr lang="en-US" altLang="en-US" sz="2800" dirty="0"/>
              <a:t>will call</a:t>
            </a:r>
            <a:r>
              <a:rPr lang="lv-LV" altLang="en-US" sz="2800" dirty="0"/>
              <a:t> </a:t>
            </a:r>
            <a:r>
              <a:rPr lang="lv-LV" altLang="en-US" sz="2800" dirty="0" err="1"/>
              <a:t>an</a:t>
            </a:r>
            <a:r>
              <a:rPr lang="lv-LV" altLang="en-US" sz="2800" dirty="0"/>
              <a:t> </a:t>
            </a:r>
            <a:r>
              <a:rPr lang="lv-LV" altLang="en-US" sz="2800" dirty="0" err="1"/>
              <a:t>error</a:t>
            </a:r>
            <a:r>
              <a:rPr lang="lv-LV" altLang="en-US" sz="2800" dirty="0"/>
              <a:t>);</a:t>
            </a:r>
            <a:endParaRPr lang="lv-LV" altLang="en-US" sz="2800" b="1" dirty="0"/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strcat</a:t>
            </a:r>
            <a:r>
              <a:rPr lang="lv-LV" altLang="en-US" sz="2800" dirty="0"/>
              <a:t>(s1,s2) - </a:t>
            </a:r>
            <a:r>
              <a:rPr lang="en-US" altLang="en-US" sz="2800" dirty="0"/>
              <a:t>Add a string s2 to s1</a:t>
            </a:r>
            <a:r>
              <a:rPr lang="lv-LV" altLang="en-US" sz="2800" dirty="0"/>
              <a:t>;</a:t>
            </a:r>
            <a:endParaRPr lang="lv-LV" altLang="en-US" sz="2800" b="1" dirty="0"/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strcmp</a:t>
            </a:r>
            <a:r>
              <a:rPr lang="lv-LV" altLang="en-US" sz="2800" dirty="0"/>
              <a:t> (s1,s2) - </a:t>
            </a:r>
            <a:r>
              <a:rPr lang="lv-LV" altLang="en-US" sz="2800" dirty="0" err="1"/>
              <a:t>string</a:t>
            </a:r>
            <a:r>
              <a:rPr lang="lv-LV" altLang="en-US" sz="2800" dirty="0"/>
              <a:t> </a:t>
            </a:r>
            <a:r>
              <a:rPr lang="lv-LV" altLang="en-US" sz="2800" dirty="0" err="1"/>
              <a:t>comparison</a:t>
            </a:r>
            <a:r>
              <a:rPr lang="lv-LV" altLang="en-US" sz="2800" dirty="0"/>
              <a:t> (</a:t>
            </a:r>
            <a:r>
              <a:rPr lang="lv-LV" altLang="en-US" sz="2800" dirty="0" err="1"/>
              <a:t>Lexicographic-Alphabetical</a:t>
            </a:r>
            <a:r>
              <a:rPr lang="lv-LV" altLang="en-US" sz="2800" dirty="0"/>
              <a:t>). </a:t>
            </a:r>
            <a:r>
              <a:rPr lang="lv-LV" altLang="en-US" sz="2800" dirty="0" err="1"/>
              <a:t>Result</a:t>
            </a:r>
            <a:r>
              <a:rPr lang="lv-LV" altLang="en-US" sz="2800" dirty="0"/>
              <a:t>:</a:t>
            </a:r>
          </a:p>
          <a:p>
            <a:pPr lvl="1">
              <a:lnSpc>
                <a:spcPct val="90000"/>
              </a:lnSpc>
            </a:pPr>
            <a:r>
              <a:rPr lang="lv-LV" altLang="en-US" sz="2400" dirty="0"/>
              <a:t>0 - </a:t>
            </a:r>
            <a:r>
              <a:rPr lang="en-US" altLang="en-US" sz="2400" dirty="0"/>
              <a:t>if</a:t>
            </a:r>
            <a:r>
              <a:rPr lang="lv-LV" altLang="en-US" sz="2400" dirty="0"/>
              <a:t> s1=s2,	</a:t>
            </a:r>
          </a:p>
          <a:p>
            <a:pPr lvl="1">
              <a:lnSpc>
                <a:spcPct val="90000"/>
              </a:lnSpc>
            </a:pPr>
            <a:r>
              <a:rPr lang="lv-LV" altLang="en-US" sz="2400" dirty="0"/>
              <a:t>&gt;0 - </a:t>
            </a:r>
            <a:r>
              <a:rPr lang="en-US" altLang="en-US" sz="2400" dirty="0"/>
              <a:t>if</a:t>
            </a:r>
            <a:r>
              <a:rPr lang="lv-LV" altLang="en-US" sz="2400" dirty="0"/>
              <a:t> s1&gt;s2,   	 </a:t>
            </a:r>
          </a:p>
          <a:p>
            <a:pPr lvl="1">
              <a:lnSpc>
                <a:spcPct val="90000"/>
              </a:lnSpc>
            </a:pPr>
            <a:r>
              <a:rPr lang="lv-LV" altLang="en-US" sz="2400" dirty="0"/>
              <a:t>&lt;0 - </a:t>
            </a:r>
            <a:r>
              <a:rPr lang="en-US" altLang="en-US" sz="2400" dirty="0"/>
              <a:t>if</a:t>
            </a:r>
            <a:r>
              <a:rPr lang="lv-LV" altLang="en-US" sz="2400" dirty="0"/>
              <a:t> s1&lt;s2;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CFD5197-0655-4BAF-9EDC-2700EFE8B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1143000"/>
          </a:xfrm>
        </p:spPr>
        <p:txBody>
          <a:bodyPr/>
          <a:lstStyle/>
          <a:p>
            <a:r>
              <a:rPr lang="en-US" altLang="en-US" sz="4000" dirty="0"/>
              <a:t>Functions for work with character strings</a:t>
            </a:r>
            <a:endParaRPr lang="lv-LV" alt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84DD607-C949-4A5D-8138-A0A8E94E7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260475"/>
            <a:ext cx="8642350" cy="5319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lv-LV" altLang="en-US" sz="2800" b="1" dirty="0" err="1"/>
              <a:t>strncpy</a:t>
            </a:r>
            <a:r>
              <a:rPr lang="lv-LV" altLang="en-US" sz="2800" dirty="0"/>
              <a:t>(s1,s2,n) – </a:t>
            </a:r>
            <a:r>
              <a:rPr lang="en-US" altLang="en-US" sz="2800" dirty="0"/>
              <a:t>write first </a:t>
            </a:r>
            <a:r>
              <a:rPr lang="en-US" altLang="en-US" sz="2800" b="1" dirty="0"/>
              <a:t>n</a:t>
            </a:r>
            <a:r>
              <a:rPr lang="en-US" altLang="en-US" sz="2800" dirty="0"/>
              <a:t> symbols of</a:t>
            </a:r>
            <a:r>
              <a:rPr lang="lv-LV" altLang="en-US" sz="2800" dirty="0"/>
              <a:t> s2 </a:t>
            </a:r>
            <a:r>
              <a:rPr lang="en-US" altLang="en-US" sz="2800" dirty="0"/>
              <a:t>to</a:t>
            </a:r>
            <a:r>
              <a:rPr lang="lv-LV" altLang="en-US" sz="2800" dirty="0"/>
              <a:t> s1; </a:t>
            </a:r>
            <a:r>
              <a:rPr lang="en-US" altLang="en-US" sz="2800" dirty="0"/>
              <a:t>using this function, the programmer must take care of the zero byte </a:t>
            </a:r>
            <a:r>
              <a:rPr lang="lv-LV" altLang="en-US" sz="2800" dirty="0"/>
              <a:t>'\0':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strncpy</a:t>
            </a:r>
            <a:r>
              <a:rPr lang="lv-LV" altLang="en-US" sz="2800" dirty="0">
                <a:latin typeface="Courier New" panose="02070309020205020404" pitchFamily="49" charset="0"/>
              </a:rPr>
              <a:t>(s1,s2,n);</a:t>
            </a:r>
            <a:r>
              <a:rPr lang="lv-LV" altLang="en-US" sz="28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s1[n]='\0';</a:t>
            </a:r>
            <a:endParaRPr lang="lv-LV" altLang="en-US" sz="28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strncpy</a:t>
            </a:r>
            <a:r>
              <a:rPr lang="lv-LV" altLang="en-US" sz="2800" dirty="0"/>
              <a:t>(s1,s2+m,n) – </a:t>
            </a:r>
            <a:r>
              <a:rPr lang="en-US" altLang="en-US" sz="2800" dirty="0"/>
              <a:t>starting from </a:t>
            </a:r>
            <a:r>
              <a:rPr lang="en-US" altLang="en-US" sz="2800" b="1" dirty="0"/>
              <a:t>m-</a:t>
            </a:r>
            <a:r>
              <a:rPr lang="en-US" altLang="en-US" sz="2800" dirty="0" err="1"/>
              <a:t>th</a:t>
            </a:r>
            <a:r>
              <a:rPr lang="en-US" altLang="en-US" sz="2800" dirty="0"/>
              <a:t> symbol write </a:t>
            </a:r>
            <a:r>
              <a:rPr lang="en-US" altLang="en-US" sz="2800" b="1" dirty="0"/>
              <a:t>n</a:t>
            </a:r>
            <a:r>
              <a:rPr lang="en-US" altLang="en-US" sz="2800" dirty="0"/>
              <a:t> symbols of</a:t>
            </a:r>
            <a:r>
              <a:rPr lang="lv-LV" altLang="en-US" sz="2800" dirty="0"/>
              <a:t> s2 </a:t>
            </a:r>
            <a:r>
              <a:rPr lang="en-US" altLang="en-US" sz="2800" dirty="0"/>
              <a:t>to</a:t>
            </a:r>
            <a:r>
              <a:rPr lang="lv-LV" altLang="en-US" sz="2800" dirty="0"/>
              <a:t> s1; </a:t>
            </a:r>
            <a:r>
              <a:rPr lang="en-US" altLang="en-US" sz="2800" dirty="0"/>
              <a:t>also need to care about the zero byte </a:t>
            </a:r>
            <a:r>
              <a:rPr lang="lv-LV" altLang="en-US" sz="2800" dirty="0"/>
              <a:t>'\0':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strncpy</a:t>
            </a:r>
            <a:r>
              <a:rPr lang="lv-LV" altLang="en-US" sz="2800" dirty="0">
                <a:latin typeface="Courier New" panose="02070309020205020404" pitchFamily="49" charset="0"/>
              </a:rPr>
              <a:t>(s1,s2+m,n);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s1[n]='\0';</a:t>
            </a:r>
            <a:endParaRPr lang="lv-LV" altLang="en-US" sz="28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strncat</a:t>
            </a:r>
            <a:r>
              <a:rPr lang="lv-LV" altLang="en-US" sz="2800" dirty="0"/>
              <a:t>(s1,s2,n) - </a:t>
            </a:r>
            <a:r>
              <a:rPr lang="en-US" altLang="en-US" sz="2800" dirty="0"/>
              <a:t>Add first </a:t>
            </a:r>
            <a:r>
              <a:rPr lang="en-US" altLang="en-US" sz="2800" b="1" dirty="0"/>
              <a:t>n</a:t>
            </a:r>
            <a:r>
              <a:rPr lang="en-US" altLang="en-US" sz="2800" dirty="0"/>
              <a:t> symbols of string s2 to s1</a:t>
            </a:r>
            <a:r>
              <a:rPr lang="lv-LV" altLang="en-US" sz="2800" dirty="0"/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B156AFE-C516-4ABD-9F5A-EACCBC3A0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1143000"/>
          </a:xfrm>
        </p:spPr>
        <p:txBody>
          <a:bodyPr/>
          <a:lstStyle/>
          <a:p>
            <a:r>
              <a:rPr lang="en-US" altLang="en-US" sz="4000" dirty="0"/>
              <a:t>Functions for work with character strings</a:t>
            </a:r>
            <a:endParaRPr lang="lv-LV" altLang="en-US" sz="4000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EBDA38E-604D-4FC4-87D9-F46F2C58E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525" y="1260475"/>
            <a:ext cx="8893175" cy="5597525"/>
          </a:xfrm>
        </p:spPr>
        <p:txBody>
          <a:bodyPr/>
          <a:lstStyle/>
          <a:p>
            <a:r>
              <a:rPr lang="lv-LV" altLang="en-US" sz="2800" b="1" dirty="0" err="1"/>
              <a:t>strncmp</a:t>
            </a:r>
            <a:r>
              <a:rPr lang="lv-LV" altLang="en-US" sz="2800" dirty="0"/>
              <a:t> (s1,s2,n) – </a:t>
            </a:r>
            <a:r>
              <a:rPr lang="en-US" altLang="en-US" sz="2800" dirty="0"/>
              <a:t>first </a:t>
            </a:r>
            <a:r>
              <a:rPr lang="en-US" altLang="en-US" sz="2800" b="1" dirty="0"/>
              <a:t>n </a:t>
            </a:r>
            <a:r>
              <a:rPr lang="en-US" altLang="en-US" sz="2800" dirty="0"/>
              <a:t>symbols </a:t>
            </a:r>
            <a:r>
              <a:rPr lang="lv-LV" altLang="en-US" sz="2800" dirty="0" err="1"/>
              <a:t>string</a:t>
            </a:r>
            <a:r>
              <a:rPr lang="lv-LV" altLang="en-US" sz="2800" dirty="0"/>
              <a:t> </a:t>
            </a:r>
            <a:r>
              <a:rPr lang="lv-LV" altLang="en-US" sz="2800" dirty="0" err="1"/>
              <a:t>comparison</a:t>
            </a:r>
            <a:r>
              <a:rPr lang="lv-LV" altLang="en-US" sz="2800" dirty="0"/>
              <a:t>;</a:t>
            </a:r>
          </a:p>
          <a:p>
            <a:r>
              <a:rPr lang="lv-LV" altLang="en-US" sz="2800" b="1" dirty="0" err="1"/>
              <a:t>char</a:t>
            </a:r>
            <a:r>
              <a:rPr lang="lv-LV" altLang="en-US" sz="2800" b="1" dirty="0"/>
              <a:t> *</a:t>
            </a:r>
            <a:r>
              <a:rPr lang="lv-LV" altLang="en-US" sz="2800" b="1" dirty="0" err="1"/>
              <a:t>strstr</a:t>
            </a:r>
            <a:r>
              <a:rPr lang="lv-LV" altLang="en-US" sz="2800" dirty="0"/>
              <a:t>(s1,s2) - </a:t>
            </a:r>
            <a:r>
              <a:rPr lang="lv-LV" altLang="en-US" sz="2800" dirty="0" err="1"/>
              <a:t>Position</a:t>
            </a:r>
            <a:r>
              <a:rPr lang="lv-LV" altLang="en-US" sz="2800" dirty="0"/>
              <a:t> (</a:t>
            </a:r>
            <a:r>
              <a:rPr lang="lv-LV" altLang="en-US" sz="2800" dirty="0" err="1"/>
              <a:t>address</a:t>
            </a:r>
            <a:r>
              <a:rPr lang="lv-LV" altLang="en-US" sz="2800" dirty="0"/>
              <a:t>),</a:t>
            </a:r>
            <a:r>
              <a:rPr lang="en-US" altLang="en-US" sz="2800" dirty="0"/>
              <a:t> of s2 in a string s1, if it is inside</a:t>
            </a:r>
            <a:r>
              <a:rPr lang="lv-LV" altLang="en-US" sz="2800" dirty="0"/>
              <a:t>;</a:t>
            </a:r>
            <a:r>
              <a:rPr lang="en-US" altLang="en-US" sz="2800" dirty="0"/>
              <a:t> </a:t>
            </a:r>
            <a:endParaRPr lang="lv-LV" altLang="en-US" sz="2800" dirty="0"/>
          </a:p>
          <a:p>
            <a:r>
              <a:rPr lang="lv-LV" altLang="en-US" sz="2800" b="1" dirty="0" err="1"/>
              <a:t>gets</a:t>
            </a:r>
            <a:r>
              <a:rPr lang="lv-LV" altLang="en-US" sz="2800" dirty="0"/>
              <a:t>(s) – </a:t>
            </a:r>
            <a:r>
              <a:rPr lang="en-US" altLang="en-US" sz="2800" dirty="0"/>
              <a:t>string input function</a:t>
            </a:r>
            <a:r>
              <a:rPr lang="lv-LV" altLang="en-US" sz="2800" dirty="0"/>
              <a:t>; </a:t>
            </a:r>
            <a:r>
              <a:rPr lang="en-US" altLang="en-US" sz="2800" dirty="0"/>
              <a:t>by using this function, you can read also strings with spaces</a:t>
            </a:r>
            <a:r>
              <a:rPr lang="lv-LV" altLang="en-US" sz="2800" dirty="0"/>
              <a:t> </a:t>
            </a:r>
            <a:r>
              <a:rPr lang="en-US" altLang="en-US" sz="2800" dirty="0"/>
              <a:t> </a:t>
            </a:r>
            <a:r>
              <a:rPr lang="lv-LV" altLang="en-US" sz="2800" dirty="0"/>
              <a:t>(</a:t>
            </a:r>
            <a:r>
              <a:rPr lang="en-US" altLang="en-US" sz="2800" dirty="0"/>
              <a:t>until</a:t>
            </a:r>
            <a:r>
              <a:rPr lang="lv-LV" altLang="en-US" sz="2800" dirty="0"/>
              <a:t> '\n'</a:t>
            </a:r>
            <a:r>
              <a:rPr lang="en-US" altLang="en-US" sz="2800" dirty="0"/>
              <a:t> – end of line</a:t>
            </a:r>
            <a:r>
              <a:rPr lang="lv-LV" altLang="en-US" sz="2800" dirty="0"/>
              <a:t>);</a:t>
            </a:r>
          </a:p>
          <a:p>
            <a:r>
              <a:rPr lang="lv-LV" altLang="en-US" sz="2800" b="1" dirty="0" err="1"/>
              <a:t>puts</a:t>
            </a:r>
            <a:r>
              <a:rPr lang="lv-LV" altLang="en-US" sz="2800" dirty="0"/>
              <a:t>(s) – </a:t>
            </a:r>
            <a:r>
              <a:rPr lang="en-US" altLang="en-US" sz="2800" dirty="0"/>
              <a:t>string output</a:t>
            </a:r>
            <a:r>
              <a:rPr lang="lv-LV" altLang="en-US" sz="2800" dirty="0"/>
              <a:t>;</a:t>
            </a:r>
            <a:endParaRPr lang="lv-LV" altLang="en-US" sz="2800" b="1" dirty="0"/>
          </a:p>
          <a:p>
            <a:r>
              <a:rPr lang="lv-LV" altLang="en-US" sz="2800" b="1" dirty="0" err="1"/>
              <a:t>char</a:t>
            </a:r>
            <a:r>
              <a:rPr lang="lv-LV" altLang="en-US" sz="2800" b="1" dirty="0"/>
              <a:t> </a:t>
            </a:r>
            <a:r>
              <a:rPr lang="lv-LV" altLang="en-US" sz="2800" b="1" dirty="0" err="1"/>
              <a:t>getch</a:t>
            </a:r>
            <a:r>
              <a:rPr lang="lv-LV" altLang="en-US" sz="2800" dirty="0"/>
              <a:t>() - </a:t>
            </a:r>
            <a:r>
              <a:rPr lang="en-US" altLang="en-US" sz="2800" dirty="0"/>
              <a:t>Reading a symbol from a keyboard </a:t>
            </a:r>
            <a:r>
              <a:rPr lang="lv-LV" altLang="en-US" sz="2800" dirty="0"/>
              <a:t>(</a:t>
            </a:r>
            <a:r>
              <a:rPr lang="en-US" altLang="en-US" sz="2800" dirty="0"/>
              <a:t>without</a:t>
            </a:r>
            <a:r>
              <a:rPr lang="lv-LV" altLang="en-US" sz="2800" dirty="0"/>
              <a:t> &lt;</a:t>
            </a:r>
            <a:r>
              <a:rPr lang="lv-LV" altLang="en-US" sz="2800" dirty="0" err="1"/>
              <a:t>Enter</a:t>
            </a:r>
            <a:r>
              <a:rPr lang="lv-LV" altLang="en-US" sz="2800" dirty="0"/>
              <a:t>&gt;);</a:t>
            </a:r>
          </a:p>
          <a:p>
            <a:r>
              <a:rPr lang="lv-LV" altLang="en-US" sz="2800" b="1" dirty="0" err="1"/>
              <a:t>int</a:t>
            </a:r>
            <a:r>
              <a:rPr lang="lv-LV" altLang="en-US" sz="2800" b="1" dirty="0"/>
              <a:t> </a:t>
            </a:r>
            <a:r>
              <a:rPr lang="lv-LV" altLang="en-US" sz="2800" b="1" dirty="0" err="1"/>
              <a:t>atoi</a:t>
            </a:r>
            <a:r>
              <a:rPr lang="lv-LV" altLang="en-US" sz="2800" dirty="0"/>
              <a:t>(s) – </a:t>
            </a:r>
            <a:r>
              <a:rPr lang="en-US" altLang="en-US" sz="2800" b="1" dirty="0"/>
              <a:t>s</a:t>
            </a:r>
            <a:r>
              <a:rPr lang="en-US" altLang="en-US" sz="2800" dirty="0"/>
              <a:t> string conversion to int</a:t>
            </a:r>
            <a:r>
              <a:rPr lang="lv-LV" altLang="en-US" sz="2800" dirty="0"/>
              <a:t>;</a:t>
            </a:r>
            <a:endParaRPr lang="lv-LV" altLang="en-US" sz="2800" b="1" dirty="0"/>
          </a:p>
          <a:p>
            <a:r>
              <a:rPr lang="lv-LV" altLang="en-US" sz="2800" b="1" dirty="0" err="1"/>
              <a:t>float</a:t>
            </a:r>
            <a:r>
              <a:rPr lang="lv-LV" altLang="en-US" sz="2800" b="1" dirty="0"/>
              <a:t> </a:t>
            </a:r>
            <a:r>
              <a:rPr lang="lv-LV" altLang="en-US" sz="2800" b="1" dirty="0" err="1"/>
              <a:t>atof</a:t>
            </a:r>
            <a:r>
              <a:rPr lang="lv-LV" altLang="en-US" sz="2800" dirty="0"/>
              <a:t>(s) - </a:t>
            </a:r>
            <a:r>
              <a:rPr lang="en-US" altLang="en-US" sz="2800" b="1" dirty="0"/>
              <a:t>s</a:t>
            </a:r>
            <a:r>
              <a:rPr lang="en-US" altLang="en-US" sz="2800" dirty="0"/>
              <a:t> string conversion to float</a:t>
            </a:r>
            <a:r>
              <a:rPr lang="lv-LV" altLang="en-US" sz="2800" dirty="0"/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1A92243-39D7-482F-95B3-05BC2370E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4775"/>
            <a:ext cx="8229600" cy="868363"/>
          </a:xfrm>
        </p:spPr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7FC90FB-EFDA-4F86-A8DC-E4409D440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713788" cy="5876925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two strings. Answer if its are equal</a:t>
            </a:r>
            <a:r>
              <a:rPr lang="lv-LV" altLang="en-US" sz="2800" dirty="0"/>
              <a:t>.</a:t>
            </a:r>
            <a:endParaRPr lang="lv-LV" altLang="en-US" sz="2800" dirty="0">
              <a:latin typeface="Courier New" panose="02070309020205020404" pitchFamily="49" charset="0"/>
            </a:endParaRPr>
          </a:p>
          <a:p>
            <a:pPr marL="609600" indent="-609600">
              <a:buFont typeface="+mj-lt"/>
              <a:buAutoNum type="arabicPeriod" startAt="3"/>
            </a:pPr>
            <a:r>
              <a:rPr lang="en-US" altLang="en-US" sz="2800" dirty="0"/>
              <a:t>There is a</a:t>
            </a:r>
            <a:r>
              <a:rPr lang="lv-LV" altLang="en-US" sz="2800" dirty="0"/>
              <a:t> </a:t>
            </a:r>
            <a:r>
              <a:rPr lang="en-US" altLang="en-US" sz="2800" dirty="0"/>
              <a:t>sentence</a:t>
            </a:r>
            <a:r>
              <a:rPr lang="lv-LV" altLang="en-US" sz="2800" dirty="0"/>
              <a:t>. </a:t>
            </a:r>
            <a:r>
              <a:rPr lang="en-US" altLang="en-US" sz="2800" dirty="0"/>
              <a:t>Count how many words it contains</a:t>
            </a:r>
            <a:r>
              <a:rPr lang="lv-LV" altLang="en-US" sz="2800" dirty="0"/>
              <a:t>. </a:t>
            </a:r>
            <a:r>
              <a:rPr lang="en-US" altLang="en-US" sz="2800" dirty="0"/>
              <a:t>The word is a sequence of symbols without spaces, all words separated by space, the first and last symbols are not spaces</a:t>
            </a:r>
            <a:r>
              <a:rPr lang="lv-LV" altLang="en-US" sz="2800" dirty="0"/>
              <a:t>.</a:t>
            </a:r>
          </a:p>
          <a:p>
            <a:pPr marL="609600" indent="-609600">
              <a:buFontTx/>
              <a:buAutoNum type="arabicPeriod" startAt="3"/>
            </a:pPr>
            <a:r>
              <a:rPr lang="en-US" altLang="en-US" sz="2800" dirty="0"/>
              <a:t>There is a</a:t>
            </a:r>
            <a:r>
              <a:rPr lang="lv-LV" altLang="en-US" sz="2800" dirty="0"/>
              <a:t> </a:t>
            </a:r>
            <a:r>
              <a:rPr lang="en-US" altLang="en-US" sz="2800" dirty="0"/>
              <a:t>sentence</a:t>
            </a:r>
            <a:r>
              <a:rPr lang="lv-LV" altLang="en-US" sz="2800" dirty="0"/>
              <a:t>. </a:t>
            </a:r>
            <a:r>
              <a:rPr lang="en-US" altLang="en-US" sz="2800" dirty="0"/>
              <a:t>Find the longest word and its length</a:t>
            </a:r>
            <a:r>
              <a:rPr lang="lv-LV" altLang="en-US" sz="2800" dirty="0"/>
              <a:t>. </a:t>
            </a:r>
            <a:r>
              <a:rPr lang="en-US" altLang="en-US" sz="2800" dirty="0"/>
              <a:t>The word is a sequence of symbols without spaces, all words separated by space, the first and last symbols are not spaces</a:t>
            </a:r>
            <a:r>
              <a:rPr lang="lv-LV" altLang="en-US" sz="28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7937BF0-0DCE-4A29-8FAE-083C107AB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4775"/>
            <a:ext cx="8229600" cy="868363"/>
          </a:xfrm>
        </p:spPr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34B82C3-B63B-4F11-ADD1-4CFA84FC5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81075"/>
            <a:ext cx="9144000" cy="5688013"/>
          </a:xfrm>
        </p:spPr>
        <p:txBody>
          <a:bodyPr/>
          <a:lstStyle/>
          <a:p>
            <a:pPr marL="609600" indent="-609600">
              <a:buFont typeface="+mj-lt"/>
              <a:buAutoNum type="arabicPeriod" startAt="5"/>
            </a:pPr>
            <a:r>
              <a:rPr lang="en-US" altLang="en-US" sz="2400" dirty="0"/>
              <a:t>Input two strings. Determine if the first string contain a second string.
There is a</a:t>
            </a:r>
            <a:r>
              <a:rPr lang="lv-LV" altLang="en-US" sz="2400" dirty="0"/>
              <a:t> </a:t>
            </a:r>
            <a:r>
              <a:rPr lang="en-US" altLang="en-US" sz="2400" dirty="0"/>
              <a:t>sentence</a:t>
            </a:r>
            <a:r>
              <a:rPr lang="lv-LV" altLang="en-US" sz="2400" dirty="0"/>
              <a:t>. </a:t>
            </a:r>
            <a:r>
              <a:rPr lang="en-US" altLang="en-US" sz="2400" dirty="0"/>
              <a:t>All words can be separated by several spaces, the first and last symbols can also be spaces</a:t>
            </a:r>
            <a:r>
              <a:rPr lang="lv-LV" altLang="en-US" sz="2400" dirty="0"/>
              <a:t>. </a:t>
            </a:r>
            <a:r>
              <a:rPr lang="en-US" altLang="en-US" sz="2400" dirty="0"/>
              <a:t>You must delete the extra spaces from the sentence so that: all words are separated by only one space, the first and last sentence symbols are not spaces.</a:t>
            </a:r>
            <a:endParaRPr lang="lv-LV" altLang="en-US" sz="2400" dirty="0"/>
          </a:p>
          <a:p>
            <a:pPr marL="609600" indent="-609600">
              <a:buFontTx/>
              <a:buAutoNum type="arabicPeriod" startAt="5"/>
            </a:pPr>
            <a:r>
              <a:rPr lang="en-US" altLang="en-US" sz="2400" dirty="0"/>
              <a:t>Input a string</a:t>
            </a:r>
            <a:r>
              <a:rPr lang="lv-LV" altLang="en-US" sz="2400" dirty="0"/>
              <a:t>. </a:t>
            </a:r>
            <a:r>
              <a:rPr lang="en-US" altLang="en-US" sz="2400" dirty="0"/>
              <a:t>Count how many times each of the string symbols appear.</a:t>
            </a:r>
            <a:endParaRPr lang="lv-LV" altLang="en-US" sz="2400" dirty="0"/>
          </a:p>
          <a:p>
            <a:pPr marL="609600" indent="-609600">
              <a:buFontTx/>
              <a:buAutoNum type="arabicPeriod" startAt="8"/>
            </a:pPr>
            <a:r>
              <a:rPr lang="en-US" altLang="en-US" sz="2400" dirty="0"/>
              <a:t>Application requires a string in the format </a:t>
            </a:r>
            <a:r>
              <a:rPr lang="lv-LV" altLang="en-US" sz="2400" dirty="0"/>
              <a:t>(</a:t>
            </a:r>
            <a:r>
              <a:rPr lang="en-US" altLang="en-US" sz="2400" dirty="0"/>
              <a:t>where X is a digit</a:t>
            </a:r>
            <a:r>
              <a:rPr lang="lv-LV" altLang="en-US" sz="2400" dirty="0"/>
              <a:t>):</a:t>
            </a:r>
            <a:endParaRPr lang="lv-LV" altLang="en-US" sz="2400" b="1" dirty="0"/>
          </a:p>
          <a:p>
            <a:pPr marL="1371600" lvl="2" indent="-457200">
              <a:buFontTx/>
              <a:buChar char="–"/>
            </a:pPr>
            <a:r>
              <a:rPr lang="lv-LV" altLang="en-US" dirty="0">
                <a:latin typeface="Times New Roman" panose="02020603050405020304" pitchFamily="18" charset="0"/>
              </a:rPr>
              <a:t>XX+XX,</a:t>
            </a:r>
          </a:p>
          <a:p>
            <a:pPr marL="1371600" lvl="2" indent="-457200">
              <a:buFontTx/>
              <a:buChar char="–"/>
            </a:pPr>
            <a:r>
              <a:rPr lang="lv-LV" altLang="en-US" dirty="0">
                <a:latin typeface="Times New Roman" panose="02020603050405020304" pitchFamily="18" charset="0"/>
              </a:rPr>
              <a:t>XXX-XX,</a:t>
            </a:r>
          </a:p>
          <a:p>
            <a:pPr marL="609600" indent="-609600">
              <a:buFontTx/>
              <a:buNone/>
            </a:pPr>
            <a:r>
              <a:rPr lang="lv-LV" altLang="en-US" sz="2400" dirty="0"/>
              <a:t>	</a:t>
            </a:r>
            <a:r>
              <a:rPr lang="en-US" altLang="en-US" sz="2400" dirty="0"/>
              <a:t>and calculates the value of the expression. In case the string content does not match the format, a corresponding notification appear </a:t>
            </a:r>
            <a:r>
              <a:rPr lang="lv-LV" altLang="en-US" sz="2400" dirty="0"/>
              <a:t>(</a:t>
            </a:r>
            <a:r>
              <a:rPr lang="en-US" altLang="en-US" sz="2400" dirty="0"/>
              <a:t>for instance</a:t>
            </a:r>
            <a:r>
              <a:rPr lang="lv-LV" altLang="en-US" sz="2400" dirty="0"/>
              <a:t>: 23+12=35; 123+24 - </a:t>
            </a:r>
            <a:r>
              <a:rPr lang="en-US" altLang="en-US" sz="2400" dirty="0"/>
              <a:t>w</a:t>
            </a:r>
            <a:r>
              <a:rPr lang="lv-LV" altLang="en-US" sz="2400" dirty="0" err="1"/>
              <a:t>rong</a:t>
            </a:r>
            <a:r>
              <a:rPr lang="lv-LV" altLang="en-US" sz="2400" dirty="0"/>
              <a:t> </a:t>
            </a:r>
            <a:r>
              <a:rPr lang="lv-LV" altLang="en-US" sz="2400" dirty="0" err="1"/>
              <a:t>format</a:t>
            </a:r>
            <a:r>
              <a:rPr lang="lv-LV" altLang="en-US" sz="2400" dirty="0"/>
              <a:t>).</a:t>
            </a:r>
            <a:r>
              <a:rPr lang="en-US" altLang="en-US" sz="2400" dirty="0"/>
              <a:t> 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FC3C4B-E99D-4FCD-8674-7706D6D5A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C++ </a:t>
            </a:r>
            <a:r>
              <a:rPr lang="en-US" altLang="en-US" dirty="0"/>
              <a:t>string of characters </a:t>
            </a:r>
            <a:r>
              <a:rPr lang="lv-LV" altLang="en-US" b="1" i="1" dirty="0" err="1"/>
              <a:t>string</a:t>
            </a:r>
            <a:endParaRPr lang="lv-LV" altLang="en-US" b="1" i="1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3745B87-DBB1-4BDD-ADDC-54937F1FD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640763" cy="5069160"/>
          </a:xfrm>
        </p:spPr>
        <p:txBody>
          <a:bodyPr/>
          <a:lstStyle/>
          <a:p>
            <a:r>
              <a:rPr lang="en-US" altLang="en-US" sz="2800" dirty="0"/>
              <a:t>I</a:t>
            </a:r>
            <a:r>
              <a:rPr lang="lv-LV" altLang="en-US" sz="2800" dirty="0" err="1"/>
              <a:t>nclude</a:t>
            </a:r>
            <a:r>
              <a:rPr lang="ru-RU" altLang="en-US" sz="2800" dirty="0"/>
              <a:t> </a:t>
            </a:r>
            <a:r>
              <a:rPr lang="lv-LV" altLang="en-US" sz="2800" dirty="0" err="1"/>
              <a:t>file</a:t>
            </a:r>
            <a:r>
              <a:rPr lang="lv-LV" altLang="en-US" sz="2800" dirty="0"/>
              <a:t> </a:t>
            </a:r>
            <a:r>
              <a:rPr lang="en-US" altLang="en-US" sz="2800" b="1" i="1" dirty="0" err="1"/>
              <a:t>cst</a:t>
            </a:r>
            <a:r>
              <a:rPr lang="lv-LV" altLang="en-US" sz="2800" b="1" i="1" dirty="0"/>
              <a:t>ring</a:t>
            </a:r>
            <a:r>
              <a:rPr lang="en-US" altLang="en-US" sz="2800" dirty="0"/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#include&lt;</a:t>
            </a:r>
            <a:r>
              <a:rPr lang="en-US" altLang="en-US" sz="2000" dirty="0" err="1">
                <a:latin typeface="Courier New" panose="02070309020205020404" pitchFamily="49" charset="0"/>
              </a:rPr>
              <a:t>cstring</a:t>
            </a:r>
            <a:r>
              <a:rPr lang="en-US" altLang="en-US" sz="2000" dirty="0">
                <a:latin typeface="Courier New" panose="02070309020205020404" pitchFamily="49" charset="0"/>
              </a:rPr>
              <a:t>&gt;</a:t>
            </a:r>
            <a:endParaRPr lang="lv-LV" altLang="en-US" sz="2000" dirty="0"/>
          </a:p>
          <a:p>
            <a:r>
              <a:rPr lang="en-US" altLang="en-US" sz="2800" dirty="0"/>
              <a:t>To ensure that you can work with strings data type </a:t>
            </a:r>
            <a:r>
              <a:rPr lang="lv-LV" altLang="en-US" sz="2800" b="1" i="1" dirty="0" err="1"/>
              <a:t>string</a:t>
            </a:r>
            <a:r>
              <a:rPr lang="lv-LV" altLang="en-US" sz="2800" dirty="0"/>
              <a:t>, </a:t>
            </a:r>
            <a:r>
              <a:rPr lang="en-US" altLang="en-US" sz="2800" dirty="0"/>
              <a:t>you must also specify a namespace </a:t>
            </a:r>
            <a:r>
              <a:rPr lang="lv-LV" altLang="en-US" sz="2800" b="1" i="1" dirty="0" err="1"/>
              <a:t>std</a:t>
            </a:r>
            <a:r>
              <a:rPr lang="lv-LV" altLang="en-US" sz="2800" dirty="0"/>
              <a:t>:  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  </a:t>
            </a:r>
            <a:r>
              <a:rPr lang="lv-LV" altLang="en-US" sz="2000" dirty="0" err="1">
                <a:latin typeface="Courier New" panose="02070309020205020404" pitchFamily="49" charset="0"/>
              </a:rPr>
              <a:t>using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namespace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std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r>
              <a:rPr lang="lv-LV" altLang="en-US" sz="2800" dirty="0" err="1"/>
              <a:t>Defining</a:t>
            </a:r>
            <a:r>
              <a:rPr lang="lv-LV" altLang="en-US" sz="2800" dirty="0"/>
              <a:t>:</a:t>
            </a:r>
          </a:p>
          <a:p>
            <a:pPr lvl="1"/>
            <a:r>
              <a:rPr lang="lv-LV" altLang="en-US" sz="2000" dirty="0" err="1">
                <a:latin typeface="Courier New" panose="02070309020205020404" pitchFamily="49" charset="0"/>
              </a:rPr>
              <a:t>string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variable_name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lv-LV" altLang="en-US" sz="2000" dirty="0" err="1">
                <a:latin typeface="Courier New" panose="02070309020205020404" pitchFamily="49" charset="0"/>
              </a:rPr>
              <a:t>string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variable_name</a:t>
            </a:r>
            <a:r>
              <a:rPr lang="en-US" altLang="en-US" sz="2000" i="1" dirty="0">
                <a:latin typeface="Courier New" panose="02070309020205020404" pitchFamily="49" charset="0"/>
              </a:rPr>
              <a:t> </a:t>
            </a:r>
            <a:r>
              <a:rPr lang="lv-LV" altLang="en-US" sz="2000" dirty="0">
                <a:latin typeface="Courier New" panose="02070309020205020404" pitchFamily="49" charset="0"/>
              </a:rPr>
              <a:t>=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>
                <a:latin typeface="Courier New" panose="02070309020205020404" pitchFamily="49" charset="0"/>
              </a:rPr>
              <a:t>"</a:t>
            </a:r>
            <a:r>
              <a:rPr lang="en-US" altLang="en-US" sz="2000" i="1" dirty="0">
                <a:latin typeface="Courier New" panose="02070309020205020404" pitchFamily="49" charset="0"/>
              </a:rPr>
              <a:t>initial value</a:t>
            </a:r>
            <a:r>
              <a:rPr lang="lv-LV" altLang="en-US" sz="2000" dirty="0">
                <a:latin typeface="Courier New" panose="02070309020205020404" pitchFamily="49" charset="0"/>
              </a:rPr>
              <a:t>";</a:t>
            </a:r>
          </a:p>
          <a:p>
            <a:r>
              <a:rPr lang="en-US" altLang="en-US" sz="2800" dirty="0"/>
              <a:t>Using string characters</a:t>
            </a:r>
            <a:r>
              <a:rPr lang="lv-LV" altLang="en-US" sz="2800" dirty="0"/>
              <a:t>: </a:t>
            </a:r>
          </a:p>
          <a:p>
            <a:pPr lvl="1"/>
            <a:r>
              <a:rPr lang="en-US" altLang="en-US" sz="2000" i="1" dirty="0" err="1">
                <a:latin typeface="Courier New" panose="02070309020205020404" pitchFamily="49" charset="0"/>
              </a:rPr>
              <a:t>variable_name</a:t>
            </a:r>
            <a:r>
              <a:rPr lang="lv-LV" altLang="en-US" sz="2000" b="1" dirty="0">
                <a:latin typeface="Courier New" panose="02070309020205020404" pitchFamily="49" charset="0"/>
              </a:rPr>
              <a:t>[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character_number</a:t>
            </a:r>
            <a:r>
              <a:rPr lang="lv-LV" altLang="en-US" sz="2000" b="1" dirty="0">
                <a:latin typeface="Courier New" panose="02070309020205020404" pitchFamily="49" charset="0"/>
              </a:rPr>
              <a:t>]</a:t>
            </a:r>
          </a:p>
          <a:p>
            <a:pPr lvl="1"/>
            <a:r>
              <a:rPr lang="en-US" altLang="en-US" sz="2000" i="1" dirty="0" err="1">
                <a:latin typeface="Courier New" panose="02070309020205020404" pitchFamily="49" charset="0"/>
              </a:rPr>
              <a:t>variable_name</a:t>
            </a:r>
            <a:r>
              <a:rPr lang="lv-LV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character_number</a:t>
            </a:r>
            <a:r>
              <a:rPr lang="lv-LV" altLang="en-US" sz="2000" b="1" dirty="0"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dirty="0"/>
              <a:t>Character numbering starts from zero</a:t>
            </a:r>
            <a:r>
              <a:rPr lang="lv-LV" altLang="en-US" sz="28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DA70BC-2BBC-4E66-85C6-906458CEA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en-US" dirty="0"/>
              <a:t>Functions for working with</a:t>
            </a:r>
            <a:r>
              <a:rPr lang="lv-LV" altLang="en-US" dirty="0"/>
              <a:t> </a:t>
            </a:r>
            <a:r>
              <a:rPr lang="lv-LV" altLang="en-US" b="1" i="1" dirty="0" err="1"/>
              <a:t>string</a:t>
            </a:r>
            <a:endParaRPr lang="lv-LV" altLang="en-US" b="1" i="1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E22DA1B-0F95-4B1A-8A1A-9109BD699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55165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lv-LV" altLang="en-US" sz="2800" b="1" dirty="0" err="1"/>
              <a:t>length</a:t>
            </a:r>
            <a:r>
              <a:rPr lang="lv-LV" altLang="en-US" sz="2800" dirty="0"/>
              <a:t>() – </a:t>
            </a:r>
            <a:r>
              <a:rPr lang="en-US" altLang="en-US" sz="2800" dirty="0"/>
              <a:t>string length </a:t>
            </a:r>
            <a:r>
              <a:rPr lang="lv-LV" altLang="en-US" sz="2800" dirty="0"/>
              <a:t>(</a:t>
            </a:r>
            <a:r>
              <a:rPr lang="en-US" altLang="en-US" sz="2800" dirty="0"/>
              <a:t>number of characters</a:t>
            </a:r>
            <a:r>
              <a:rPr lang="lv-LV" altLang="en-US" sz="2800" dirty="0"/>
              <a:t>), </a:t>
            </a:r>
            <a:r>
              <a:rPr lang="en-US" altLang="en-US" sz="2800" dirty="0"/>
              <a:t>for example</a:t>
            </a:r>
            <a:r>
              <a:rPr lang="lv-LV" altLang="en-US" sz="2800" dirty="0"/>
              <a:t>: </a:t>
            </a:r>
            <a:r>
              <a:rPr lang="lv-LV" altLang="en-US" sz="2800" dirty="0" err="1">
                <a:latin typeface="Courier New" panose="02070309020205020404" pitchFamily="49" charset="0"/>
              </a:rPr>
              <a:t>s.length</a:t>
            </a:r>
            <a:r>
              <a:rPr lang="lv-LV" altLang="en-US" sz="2800" dirty="0">
                <a:latin typeface="Courier New" panose="02070309020205020404" pitchFamily="49" charset="0"/>
              </a:rPr>
              <a:t>()</a:t>
            </a:r>
            <a:r>
              <a:rPr lang="lv-LV" altLang="en-US" sz="2800" dirty="0"/>
              <a:t> - </a:t>
            </a:r>
            <a:r>
              <a:rPr lang="en-US" altLang="en-US" sz="2800" dirty="0"/>
              <a:t>Number of characters in a string </a:t>
            </a:r>
            <a:r>
              <a:rPr lang="lv-LV" altLang="en-US" sz="2800" b="1" dirty="0"/>
              <a:t>s</a:t>
            </a:r>
            <a:endParaRPr lang="lv-LV" altLang="en-US" sz="2800" dirty="0"/>
          </a:p>
          <a:p>
            <a:pPr>
              <a:lnSpc>
                <a:spcPct val="90000"/>
              </a:lnSpc>
            </a:pPr>
            <a:r>
              <a:rPr lang="lv-LV" altLang="en-US" sz="2800" b="1" dirty="0"/>
              <a:t>&lt;&lt;, &gt;&gt;</a:t>
            </a:r>
            <a:r>
              <a:rPr lang="en-US" altLang="en-US" sz="2800" dirty="0"/>
              <a:t> </a:t>
            </a:r>
            <a:r>
              <a:rPr lang="lv-LV" altLang="en-US" sz="2800" dirty="0"/>
              <a:t>- </a:t>
            </a:r>
            <a:r>
              <a:rPr lang="lv-LV" altLang="en-US" sz="2800" dirty="0" err="1"/>
              <a:t>Input-Output</a:t>
            </a:r>
            <a:endParaRPr lang="lv-LV" altLang="en-US" sz="2800" dirty="0"/>
          </a:p>
          <a:p>
            <a:pPr>
              <a:lnSpc>
                <a:spcPct val="90000"/>
              </a:lnSpc>
            </a:pPr>
            <a:r>
              <a:rPr lang="lv-LV" altLang="en-US" sz="2800" b="1" dirty="0" err="1"/>
              <a:t>getline</a:t>
            </a:r>
            <a:r>
              <a:rPr lang="lv-LV" altLang="en-US" sz="2800" dirty="0"/>
              <a:t>(</a:t>
            </a:r>
            <a:r>
              <a:rPr lang="lv-LV" altLang="en-US" sz="2800" dirty="0" err="1"/>
              <a:t>cin</a:t>
            </a:r>
            <a:r>
              <a:rPr lang="lv-LV" altLang="en-US" sz="2800" dirty="0"/>
              <a:t>, </a:t>
            </a:r>
            <a:r>
              <a:rPr lang="en-US" altLang="en-US" sz="2800" i="1" dirty="0"/>
              <a:t>string</a:t>
            </a:r>
            <a:r>
              <a:rPr lang="lv-LV" altLang="en-US" sz="2800" i="1" dirty="0"/>
              <a:t>_</a:t>
            </a:r>
            <a:r>
              <a:rPr lang="en-US" altLang="en-US" sz="2800" i="1" dirty="0"/>
              <a:t>name</a:t>
            </a:r>
            <a:r>
              <a:rPr lang="lv-LV" altLang="en-US" sz="2800" dirty="0"/>
              <a:t>)</a:t>
            </a:r>
            <a:r>
              <a:rPr lang="en-US" altLang="en-US" sz="2800" dirty="0"/>
              <a:t> </a:t>
            </a:r>
            <a:r>
              <a:rPr lang="lv-LV" altLang="en-US" sz="2800" dirty="0"/>
              <a:t>– </a:t>
            </a:r>
            <a:r>
              <a:rPr lang="en-US" altLang="en-US" sz="2800" dirty="0"/>
              <a:t>string input with spaces</a:t>
            </a:r>
            <a:r>
              <a:rPr lang="lv-LV" altLang="en-US" sz="2800" dirty="0"/>
              <a:t>, </a:t>
            </a:r>
            <a:r>
              <a:rPr lang="en-US" altLang="en-US" sz="2800" dirty="0"/>
              <a:t>for instance</a:t>
            </a:r>
            <a:r>
              <a:rPr lang="lv-LV" altLang="en-US" sz="2800" dirty="0"/>
              <a:t> </a:t>
            </a:r>
            <a:r>
              <a:rPr lang="lv-LV" altLang="en-US" sz="2800" dirty="0" err="1">
                <a:latin typeface="Courier New" panose="02070309020205020404" pitchFamily="49" charset="0"/>
              </a:rPr>
              <a:t>getline</a:t>
            </a:r>
            <a:r>
              <a:rPr lang="lv-LV" altLang="en-US" sz="2800" dirty="0">
                <a:latin typeface="Courier New" panose="02070309020205020404" pitchFamily="49" charset="0"/>
              </a:rPr>
              <a:t>(</a:t>
            </a:r>
            <a:r>
              <a:rPr lang="lv-LV" altLang="en-US" sz="2800" dirty="0" err="1">
                <a:latin typeface="Courier New" panose="02070309020205020404" pitchFamily="49" charset="0"/>
              </a:rPr>
              <a:t>cin</a:t>
            </a:r>
            <a:r>
              <a:rPr lang="lv-LV" altLang="en-US" sz="2800" dirty="0">
                <a:latin typeface="Courier New" panose="02070309020205020404" pitchFamily="49" charset="0"/>
              </a:rPr>
              <a:t>, s1);</a:t>
            </a:r>
          </a:p>
          <a:p>
            <a:pPr>
              <a:lnSpc>
                <a:spcPct val="90000"/>
              </a:lnSpc>
            </a:pPr>
            <a:r>
              <a:rPr lang="lv-LV" altLang="en-US" sz="2800" b="1" dirty="0"/>
              <a:t>=</a:t>
            </a:r>
            <a:r>
              <a:rPr lang="en-US" altLang="en-US" sz="2800" dirty="0"/>
              <a:t> </a:t>
            </a:r>
            <a:r>
              <a:rPr lang="lv-LV" altLang="en-US" sz="2800" dirty="0"/>
              <a:t> </a:t>
            </a:r>
            <a:r>
              <a:rPr lang="lv-LV" altLang="en-US" sz="2800" dirty="0" err="1"/>
              <a:t>Assign</a:t>
            </a:r>
            <a:r>
              <a:rPr lang="en-US" altLang="en-US" sz="2800" dirty="0" err="1"/>
              <a:t>ing</a:t>
            </a:r>
            <a:endParaRPr lang="lv-LV" altLang="en-US" sz="2800" dirty="0"/>
          </a:p>
          <a:p>
            <a:pPr>
              <a:lnSpc>
                <a:spcPct val="90000"/>
              </a:lnSpc>
            </a:pPr>
            <a:r>
              <a:rPr lang="lv-LV" altLang="en-US" sz="2800" b="1" dirty="0"/>
              <a:t>==</a:t>
            </a:r>
            <a:r>
              <a:rPr lang="lv-LV" altLang="en-US" sz="2800" dirty="0"/>
              <a:t>, </a:t>
            </a:r>
            <a:r>
              <a:rPr lang="lv-LV" altLang="en-US" sz="2800" b="1" dirty="0"/>
              <a:t>!=</a:t>
            </a:r>
            <a:r>
              <a:rPr lang="lv-LV" altLang="en-US" sz="2800" dirty="0"/>
              <a:t>, </a:t>
            </a:r>
            <a:r>
              <a:rPr lang="lv-LV" altLang="en-US" sz="2800" b="1" dirty="0"/>
              <a:t>&gt;</a:t>
            </a:r>
            <a:r>
              <a:rPr lang="lv-LV" altLang="en-US" sz="2800" dirty="0"/>
              <a:t>, </a:t>
            </a:r>
            <a:r>
              <a:rPr lang="lv-LV" altLang="en-US" sz="2800" b="1" dirty="0"/>
              <a:t>&lt;</a:t>
            </a:r>
            <a:r>
              <a:rPr lang="lv-LV" altLang="en-US" sz="2800" dirty="0"/>
              <a:t>, </a:t>
            </a:r>
            <a:r>
              <a:rPr lang="lv-LV" altLang="en-US" sz="2800" b="1" dirty="0"/>
              <a:t>&gt;=</a:t>
            </a:r>
            <a:r>
              <a:rPr lang="lv-LV" altLang="en-US" sz="2800" dirty="0"/>
              <a:t>, </a:t>
            </a:r>
            <a:r>
              <a:rPr lang="lv-LV" altLang="en-US" sz="2800" b="1" dirty="0"/>
              <a:t>&lt;=</a:t>
            </a:r>
            <a:r>
              <a:rPr lang="en-US" altLang="en-US" sz="2800" dirty="0"/>
              <a:t> </a:t>
            </a:r>
            <a:r>
              <a:rPr lang="lv-LV" altLang="en-US" sz="2800" dirty="0"/>
              <a:t> </a:t>
            </a:r>
            <a:r>
              <a:rPr lang="en-US" altLang="en-US" sz="2800" dirty="0"/>
              <a:t>c</a:t>
            </a:r>
            <a:r>
              <a:rPr lang="lv-LV" altLang="en-US" sz="2800" dirty="0" err="1"/>
              <a:t>ompar</a:t>
            </a:r>
            <a:r>
              <a:rPr lang="en-US" altLang="en-US" sz="2800" dirty="0" err="1"/>
              <a:t>ison</a:t>
            </a:r>
            <a:endParaRPr lang="lv-LV" altLang="en-US" sz="2800" dirty="0"/>
          </a:p>
          <a:p>
            <a:pPr>
              <a:lnSpc>
                <a:spcPct val="90000"/>
              </a:lnSpc>
            </a:pPr>
            <a:r>
              <a:rPr lang="lv-LV" altLang="en-US" sz="2800" b="1" dirty="0"/>
              <a:t>+, +=,</a:t>
            </a:r>
            <a:r>
              <a:rPr lang="lv-LV" altLang="en-US" sz="2800" dirty="0"/>
              <a:t> </a:t>
            </a:r>
            <a:r>
              <a:rPr lang="lv-LV" altLang="en-US" sz="2800" b="1" dirty="0" err="1"/>
              <a:t>append</a:t>
            </a:r>
            <a:r>
              <a:rPr lang="lv-LV" altLang="en-US" sz="2800" dirty="0"/>
              <a:t>(</a:t>
            </a:r>
            <a:r>
              <a:rPr lang="en-US" altLang="en-US" sz="2800" i="1" dirty="0" err="1"/>
              <a:t>string_to</a:t>
            </a:r>
            <a:r>
              <a:rPr lang="lv-LV" altLang="en-US" sz="2800" i="1" dirty="0"/>
              <a:t>_</a:t>
            </a:r>
            <a:r>
              <a:rPr lang="en-US" altLang="en-US" sz="2800" i="1" dirty="0"/>
              <a:t>append</a:t>
            </a:r>
            <a:r>
              <a:rPr lang="lv-LV" altLang="en-US" sz="2800" dirty="0"/>
              <a:t>)</a:t>
            </a:r>
            <a:r>
              <a:rPr lang="en-US" altLang="en-US" sz="2800" dirty="0"/>
              <a:t> </a:t>
            </a:r>
            <a:r>
              <a:rPr lang="lv-LV" altLang="en-US" sz="2800" dirty="0"/>
              <a:t>– </a:t>
            </a:r>
            <a:r>
              <a:rPr lang="en-US" altLang="en-US" sz="2800" dirty="0"/>
              <a:t>c</a:t>
            </a:r>
            <a:r>
              <a:rPr lang="lv-LV" altLang="en-US" sz="2800" dirty="0" err="1"/>
              <a:t>oncatenation</a:t>
            </a:r>
            <a:r>
              <a:rPr lang="lv-LV" altLang="en-US" sz="2800" dirty="0"/>
              <a:t>, </a:t>
            </a:r>
            <a:r>
              <a:rPr lang="en-US" altLang="en-US" sz="2800" dirty="0"/>
              <a:t>for example</a:t>
            </a:r>
            <a:r>
              <a:rPr lang="lv-LV" altLang="en-US" sz="2800" dirty="0"/>
              <a:t>, </a:t>
            </a:r>
            <a:r>
              <a:rPr lang="en-US" altLang="en-US" sz="2800" dirty="0"/>
              <a:t>add to a string </a:t>
            </a:r>
            <a:r>
              <a:rPr lang="en-US" altLang="en-US" sz="2800" b="1" dirty="0"/>
              <a:t>s1</a:t>
            </a:r>
            <a:r>
              <a:rPr lang="en-US" altLang="en-US" sz="2800" dirty="0"/>
              <a:t> exclamation mark</a:t>
            </a:r>
            <a:r>
              <a:rPr lang="lv-LV" altLang="en-US" sz="2800" dirty="0"/>
              <a:t>: </a:t>
            </a:r>
          </a:p>
          <a:p>
            <a:pPr lvl="1">
              <a:lnSpc>
                <a:spcPct val="90000"/>
              </a:lnSpc>
            </a:pPr>
            <a:r>
              <a:rPr lang="lv-LV" altLang="en-US" dirty="0">
                <a:latin typeface="Courier New" panose="02070309020205020404" pitchFamily="49" charset="0"/>
              </a:rPr>
              <a:t>s1.append("!");</a:t>
            </a:r>
          </a:p>
          <a:p>
            <a:pPr lvl="1">
              <a:lnSpc>
                <a:spcPct val="90000"/>
              </a:lnSpc>
            </a:pPr>
            <a:r>
              <a:rPr lang="lv-LV" altLang="en-US" dirty="0">
                <a:latin typeface="Courier New" panose="02070309020205020404" pitchFamily="49" charset="0"/>
              </a:rPr>
              <a:t>s1=s1+'!';</a:t>
            </a:r>
          </a:p>
          <a:p>
            <a:pPr lvl="1">
              <a:lnSpc>
                <a:spcPct val="90000"/>
              </a:lnSpc>
            </a:pPr>
            <a:r>
              <a:rPr lang="lv-LV" altLang="en-US" dirty="0">
                <a:latin typeface="Courier New" panose="02070309020205020404" pitchFamily="49" charset="0"/>
              </a:rPr>
              <a:t>s1+="!";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9B776F2-C522-4498-BC8A-B754C8850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Functions for working with</a:t>
            </a:r>
            <a:r>
              <a:rPr lang="lv-LV" altLang="en-US" dirty="0"/>
              <a:t> </a:t>
            </a:r>
            <a:r>
              <a:rPr lang="lv-LV" altLang="en-US" b="1" i="1" dirty="0" err="1"/>
              <a:t>string</a:t>
            </a:r>
            <a:endParaRPr lang="lv-LV" altLang="en-US" b="1" i="1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89AC67-A99E-475C-9445-5C7FB9538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642350" cy="5373687"/>
          </a:xfrm>
        </p:spPr>
        <p:txBody>
          <a:bodyPr/>
          <a:lstStyle/>
          <a:p>
            <a:r>
              <a:rPr lang="lv-LV" altLang="en-US" b="1" dirty="0"/>
              <a:t>insert</a:t>
            </a:r>
            <a:r>
              <a:rPr lang="lv-LV" altLang="en-US" dirty="0"/>
              <a:t>(</a:t>
            </a:r>
            <a:r>
              <a:rPr lang="en-US" altLang="en-US" i="1" dirty="0"/>
              <a:t>s</a:t>
            </a:r>
            <a:r>
              <a:rPr lang="lv-LV" altLang="en-US" i="1" dirty="0" err="1"/>
              <a:t>tarting</a:t>
            </a:r>
            <a:r>
              <a:rPr lang="en-US" altLang="en-US" i="1" dirty="0"/>
              <a:t>_</a:t>
            </a:r>
            <a:r>
              <a:rPr lang="lv-LV" altLang="en-US" i="1" dirty="0" err="1"/>
              <a:t>position</a:t>
            </a:r>
            <a:r>
              <a:rPr lang="lv-LV" altLang="en-US" dirty="0"/>
              <a:t>, </a:t>
            </a:r>
            <a:r>
              <a:rPr lang="en-US" altLang="en-US" i="1" dirty="0"/>
              <a:t>string</a:t>
            </a:r>
            <a:r>
              <a:rPr lang="lv-LV" altLang="en-US" i="1" dirty="0"/>
              <a:t>_</a:t>
            </a:r>
            <a:r>
              <a:rPr lang="en-US" altLang="en-US" i="1" dirty="0" err="1"/>
              <a:t>to_insert</a:t>
            </a:r>
            <a:r>
              <a:rPr lang="lv-LV" altLang="en-US" dirty="0"/>
              <a:t>)</a:t>
            </a:r>
            <a:r>
              <a:rPr lang="en-US" altLang="en-US" dirty="0"/>
              <a:t> </a:t>
            </a:r>
            <a:r>
              <a:rPr lang="lv-LV" altLang="en-US" dirty="0"/>
              <a:t>– </a:t>
            </a:r>
            <a:r>
              <a:rPr lang="en-US" altLang="en-US" dirty="0"/>
              <a:t>insert a string</a:t>
            </a:r>
            <a:r>
              <a:rPr lang="lv-LV" altLang="en-US" dirty="0"/>
              <a:t>, </a:t>
            </a:r>
            <a:r>
              <a:rPr lang="en-US" altLang="en-US" dirty="0"/>
              <a:t>for example</a:t>
            </a:r>
            <a:r>
              <a:rPr lang="lv-LV" altLang="en-US" dirty="0"/>
              <a:t>: </a:t>
            </a:r>
            <a:r>
              <a:rPr lang="lv-LV" altLang="en-US" dirty="0">
                <a:latin typeface="Courier New" panose="02070309020205020404" pitchFamily="49" charset="0"/>
              </a:rPr>
              <a:t>s1.insert(8,”World!”)</a:t>
            </a:r>
            <a:r>
              <a:rPr lang="lv-LV" altLang="en-US" dirty="0"/>
              <a:t> - </a:t>
            </a:r>
            <a:r>
              <a:rPr lang="en-US" altLang="en-US" dirty="0"/>
              <a:t>insert</a:t>
            </a:r>
            <a:r>
              <a:rPr lang="lv-LV" altLang="en-US" dirty="0"/>
              <a:t> “</a:t>
            </a:r>
            <a:r>
              <a:rPr lang="lv-LV" altLang="en-US" dirty="0" err="1"/>
              <a:t>World</a:t>
            </a:r>
            <a:r>
              <a:rPr lang="lv-LV" altLang="en-US" dirty="0"/>
              <a:t>" </a:t>
            </a:r>
            <a:r>
              <a:rPr lang="en-US" altLang="en-US" dirty="0"/>
              <a:t>to string</a:t>
            </a:r>
            <a:r>
              <a:rPr lang="lv-LV" altLang="en-US" dirty="0"/>
              <a:t> </a:t>
            </a:r>
            <a:r>
              <a:rPr lang="lv-LV" altLang="en-US" b="1" dirty="0"/>
              <a:t>s1</a:t>
            </a:r>
            <a:r>
              <a:rPr lang="lv-LV" altLang="en-US" dirty="0"/>
              <a:t> </a:t>
            </a:r>
            <a:r>
              <a:rPr lang="en-US" altLang="en-US" dirty="0"/>
              <a:t>starting from </a:t>
            </a:r>
            <a:r>
              <a:rPr lang="lv-LV" altLang="en-US" dirty="0"/>
              <a:t>8</a:t>
            </a:r>
            <a:r>
              <a:rPr lang="en-US" altLang="en-US" dirty="0" err="1"/>
              <a:t>th</a:t>
            </a:r>
            <a:r>
              <a:rPr lang="lv-LV" altLang="en-US" dirty="0"/>
              <a:t> </a:t>
            </a:r>
            <a:r>
              <a:rPr lang="en-US" altLang="en-US" dirty="0"/>
              <a:t>position</a:t>
            </a:r>
            <a:endParaRPr lang="lv-LV" altLang="en-US" dirty="0"/>
          </a:p>
          <a:p>
            <a:r>
              <a:rPr lang="lv-LV" altLang="en-US" b="1" dirty="0" err="1"/>
              <a:t>find</a:t>
            </a:r>
            <a:r>
              <a:rPr lang="lv-LV" altLang="en-US" dirty="0"/>
              <a:t>(</a:t>
            </a:r>
            <a:r>
              <a:rPr lang="en-US" altLang="en-US" i="1" dirty="0"/>
              <a:t>string</a:t>
            </a:r>
            <a:r>
              <a:rPr lang="lv-LV" altLang="en-US" dirty="0"/>
              <a:t>, </a:t>
            </a:r>
            <a:r>
              <a:rPr lang="en-US" altLang="en-US" i="1" dirty="0"/>
              <a:t>s</a:t>
            </a:r>
            <a:r>
              <a:rPr lang="lv-LV" altLang="en-US" i="1" dirty="0" err="1"/>
              <a:t>earch</a:t>
            </a:r>
            <a:r>
              <a:rPr lang="lv-LV" altLang="en-US" i="1" dirty="0"/>
              <a:t>_</a:t>
            </a:r>
            <a:r>
              <a:rPr lang="en-US" altLang="en-US" i="1" dirty="0"/>
              <a:t>s</a:t>
            </a:r>
            <a:r>
              <a:rPr lang="lv-LV" altLang="en-US" i="1" dirty="0" err="1"/>
              <a:t>tarting</a:t>
            </a:r>
            <a:r>
              <a:rPr lang="en-US" altLang="en-US" i="1" dirty="0"/>
              <a:t>_</a:t>
            </a:r>
            <a:r>
              <a:rPr lang="lv-LV" altLang="en-US" i="1" dirty="0" err="1"/>
              <a:t>position</a:t>
            </a:r>
            <a:r>
              <a:rPr lang="lv-LV" altLang="en-US" dirty="0"/>
              <a:t>) – </a:t>
            </a:r>
            <a:r>
              <a:rPr lang="en-US" altLang="en-US" dirty="0"/>
              <a:t>find a string</a:t>
            </a:r>
            <a:r>
              <a:rPr lang="lv-LV" altLang="en-US" dirty="0"/>
              <a:t>,</a:t>
            </a:r>
            <a:r>
              <a:rPr lang="en-US" altLang="en-US" dirty="0"/>
              <a:t> for example </a:t>
            </a:r>
            <a:r>
              <a:rPr lang="lv-LV" altLang="en-US" dirty="0"/>
              <a:t>: </a:t>
            </a:r>
          </a:p>
          <a:p>
            <a:pPr>
              <a:buFontTx/>
              <a:buNone/>
            </a:pPr>
            <a:r>
              <a:rPr lang="lv-LV" altLang="en-US" dirty="0">
                <a:latin typeface="Courier New" panose="02070309020205020404" pitchFamily="49" charset="0"/>
              </a:rPr>
              <a:t>	p=s1.find(s2, 0)</a:t>
            </a:r>
            <a:endParaRPr lang="lv-LV" altLang="en-US" dirty="0"/>
          </a:p>
          <a:p>
            <a:pPr>
              <a:buFontTx/>
              <a:buNone/>
            </a:pPr>
            <a:r>
              <a:rPr lang="lv-LV" altLang="en-US" dirty="0"/>
              <a:t>	</a:t>
            </a:r>
            <a:r>
              <a:rPr lang="en-US" altLang="en-US" dirty="0"/>
              <a:t>if string </a:t>
            </a:r>
            <a:r>
              <a:rPr lang="en-US" altLang="en-US" b="1" dirty="0"/>
              <a:t>s2</a:t>
            </a:r>
            <a:r>
              <a:rPr lang="en-US" altLang="en-US" dirty="0"/>
              <a:t> is missing in string </a:t>
            </a:r>
            <a:r>
              <a:rPr lang="en-US" altLang="en-US" b="1" dirty="0"/>
              <a:t>s1</a:t>
            </a:r>
            <a:r>
              <a:rPr lang="en-US" altLang="en-US" dirty="0"/>
              <a:t>, then 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  <a:r>
              <a:rPr lang="lv-LV" altLang="en-US" dirty="0"/>
              <a:t>p==</a:t>
            </a:r>
            <a:r>
              <a:rPr lang="lv-LV" altLang="en-US" dirty="0" err="1"/>
              <a:t>string</a:t>
            </a:r>
            <a:r>
              <a:rPr lang="lv-LV" altLang="en-US" dirty="0"/>
              <a:t>::</a:t>
            </a:r>
            <a:r>
              <a:rPr lang="lv-LV" altLang="en-US" dirty="0" err="1"/>
              <a:t>npos</a:t>
            </a:r>
            <a:r>
              <a:rPr lang="lv-LV" altLang="en-US" dirty="0"/>
              <a:t>.</a:t>
            </a:r>
            <a:r>
              <a:rPr lang="en-US" altLang="en-US" dirty="0"/>
              <a:t> </a:t>
            </a:r>
            <a:endParaRPr lang="lv-LV" altLang="en-US" dirty="0"/>
          </a:p>
          <a:p>
            <a:endParaRPr lang="lv-LV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2A5AA7F-E530-45AB-906F-EAA7F402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Functions for working with</a:t>
            </a:r>
            <a:r>
              <a:rPr lang="lv-LV" altLang="en-US" dirty="0"/>
              <a:t> </a:t>
            </a:r>
            <a:r>
              <a:rPr lang="lv-LV" altLang="en-US" b="1" i="1" dirty="0" err="1"/>
              <a:t>string</a:t>
            </a:r>
            <a:endParaRPr lang="lv-LV" altLang="en-US" b="1" i="1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3B1522A-01B3-4AAA-844A-6294A9C9A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642350" cy="5373687"/>
          </a:xfrm>
        </p:spPr>
        <p:txBody>
          <a:bodyPr/>
          <a:lstStyle/>
          <a:p>
            <a:r>
              <a:rPr lang="lv-LV" altLang="en-US" b="1" dirty="0" err="1"/>
              <a:t>substr</a:t>
            </a:r>
            <a:r>
              <a:rPr lang="lv-LV" altLang="en-US" dirty="0"/>
              <a:t>(</a:t>
            </a:r>
            <a:r>
              <a:rPr lang="en-US" altLang="en-US" i="1" dirty="0" err="1"/>
              <a:t>starting_position</a:t>
            </a:r>
            <a:r>
              <a:rPr lang="lv-LV" altLang="en-US" dirty="0"/>
              <a:t>, </a:t>
            </a:r>
            <a:r>
              <a:rPr lang="en-US" altLang="en-US" i="1" dirty="0" err="1"/>
              <a:t>number_of_symbols</a:t>
            </a:r>
            <a:r>
              <a:rPr lang="lv-LV" altLang="en-US" dirty="0"/>
              <a:t>)</a:t>
            </a:r>
            <a:r>
              <a:rPr lang="en-US" altLang="en-US" dirty="0"/>
              <a:t> </a:t>
            </a:r>
            <a:r>
              <a:rPr lang="lv-LV" altLang="en-US" dirty="0"/>
              <a:t>– </a:t>
            </a:r>
            <a:r>
              <a:rPr lang="en-US" altLang="en-US" dirty="0"/>
              <a:t>copies</a:t>
            </a:r>
            <a:r>
              <a:rPr lang="lv-LV" altLang="en-US" dirty="0"/>
              <a:t> a fragment</a:t>
            </a:r>
            <a:r>
              <a:rPr lang="en-US" altLang="en-US" dirty="0"/>
              <a:t> of a string</a:t>
            </a:r>
            <a:r>
              <a:rPr lang="lv-LV" altLang="en-US" dirty="0"/>
              <a:t>, </a:t>
            </a:r>
            <a:r>
              <a:rPr lang="en-US" altLang="en-US" dirty="0"/>
              <a:t>for example:</a:t>
            </a:r>
            <a:r>
              <a:rPr lang="lv-LV" altLang="en-US" dirty="0"/>
              <a:t> </a:t>
            </a:r>
            <a:r>
              <a:rPr lang="lv-LV" altLang="en-US" dirty="0">
                <a:latin typeface="Courier New" panose="02070309020205020404" pitchFamily="49" charset="0"/>
              </a:rPr>
              <a:t>s2=s1.substr(3,5);</a:t>
            </a:r>
            <a:r>
              <a:rPr lang="lv-LV" altLang="en-US" dirty="0"/>
              <a:t> -</a:t>
            </a:r>
            <a:r>
              <a:rPr lang="en-US" altLang="en-US" dirty="0"/>
              <a:t> a</a:t>
            </a:r>
            <a:r>
              <a:rPr lang="lv-LV" altLang="en-US" dirty="0" err="1"/>
              <a:t>ssign</a:t>
            </a:r>
            <a:r>
              <a:rPr lang="lv-LV" altLang="en-US" dirty="0"/>
              <a:t> </a:t>
            </a:r>
            <a:r>
              <a:rPr lang="en-US" altLang="en-US" dirty="0"/>
              <a:t>to </a:t>
            </a:r>
            <a:r>
              <a:rPr lang="lv-LV" altLang="en-US" dirty="0"/>
              <a:t>a </a:t>
            </a:r>
            <a:r>
              <a:rPr lang="lv-LV" altLang="en-US" dirty="0" err="1"/>
              <a:t>variable</a:t>
            </a:r>
            <a:r>
              <a:rPr lang="lv-LV" altLang="en-US" dirty="0"/>
              <a:t> </a:t>
            </a:r>
            <a:r>
              <a:rPr lang="lv-LV" altLang="en-US" b="1" dirty="0"/>
              <a:t>s2</a:t>
            </a:r>
            <a:r>
              <a:rPr lang="lv-LV" altLang="en-US" dirty="0"/>
              <a:t> - </a:t>
            </a:r>
            <a:r>
              <a:rPr lang="lv-LV" altLang="en-US" b="1" dirty="0"/>
              <a:t>s1</a:t>
            </a:r>
            <a:r>
              <a:rPr lang="lv-LV" altLang="en-US" dirty="0"/>
              <a:t> </a:t>
            </a:r>
            <a:r>
              <a:rPr lang="en-US" altLang="en-US" dirty="0"/>
              <a:t>string fragment starting from the 3rd symbol with a length of 5 characters</a:t>
            </a:r>
            <a:r>
              <a:rPr lang="lv-LV" altLang="en-US" dirty="0"/>
              <a:t>.</a:t>
            </a:r>
          </a:p>
          <a:p>
            <a:r>
              <a:rPr lang="lv-LV" altLang="en-US" b="1" dirty="0" err="1"/>
              <a:t>replace</a:t>
            </a:r>
            <a:r>
              <a:rPr lang="lv-LV" altLang="en-US" dirty="0"/>
              <a:t>(</a:t>
            </a:r>
            <a:r>
              <a:rPr lang="en-US" altLang="en-US" i="1" dirty="0" err="1"/>
              <a:t>starting_position</a:t>
            </a:r>
            <a:r>
              <a:rPr lang="lv-LV" altLang="en-US" dirty="0"/>
              <a:t>, </a:t>
            </a:r>
            <a:r>
              <a:rPr lang="en-US" altLang="en-US" i="1" dirty="0" err="1"/>
              <a:t>number_of_symbols</a:t>
            </a:r>
            <a:r>
              <a:rPr lang="lv-LV" altLang="en-US" dirty="0"/>
              <a:t>, </a:t>
            </a:r>
            <a:r>
              <a:rPr lang="en-US" altLang="en-US" i="1" dirty="0" err="1"/>
              <a:t>new_string</a:t>
            </a:r>
            <a:r>
              <a:rPr lang="lv-LV" altLang="en-US" dirty="0"/>
              <a:t>)</a:t>
            </a:r>
            <a:r>
              <a:rPr lang="en-US" altLang="en-US" dirty="0"/>
              <a:t> </a:t>
            </a:r>
            <a:r>
              <a:rPr lang="lv-LV" altLang="en-US" dirty="0"/>
              <a:t>- </a:t>
            </a:r>
            <a:r>
              <a:rPr lang="en-US" altLang="en-US" dirty="0"/>
              <a:t>r</a:t>
            </a:r>
            <a:r>
              <a:rPr lang="lv-LV" altLang="en-US" dirty="0" err="1"/>
              <a:t>eplace</a:t>
            </a:r>
            <a:r>
              <a:rPr lang="lv-LV" altLang="en-US" dirty="0"/>
              <a:t> </a:t>
            </a:r>
            <a:r>
              <a:rPr lang="en-US" altLang="en-US" dirty="0"/>
              <a:t>string </a:t>
            </a:r>
            <a:r>
              <a:rPr lang="lv-LV" altLang="en-US" dirty="0"/>
              <a:t>fragment: </a:t>
            </a:r>
            <a:r>
              <a:rPr lang="lv-LV" altLang="en-US" dirty="0">
                <a:latin typeface="Courier New" panose="02070309020205020404" pitchFamily="49" charset="0"/>
              </a:rPr>
              <a:t>s1.replace(5, 3, s2)</a:t>
            </a:r>
            <a:r>
              <a:rPr lang="lv-LV" altLang="en-US" dirty="0"/>
              <a:t> – </a:t>
            </a:r>
            <a:r>
              <a:rPr lang="en-US" altLang="en-US" dirty="0"/>
              <a:t>replace 3 symbols of </a:t>
            </a:r>
            <a:r>
              <a:rPr lang="lv-LV" altLang="en-US" b="1" dirty="0"/>
              <a:t>s1</a:t>
            </a:r>
            <a:r>
              <a:rPr lang="lv-LV" altLang="en-US" dirty="0"/>
              <a:t> </a:t>
            </a:r>
            <a:r>
              <a:rPr lang="en-US" altLang="en-US" dirty="0"/>
              <a:t>with </a:t>
            </a:r>
            <a:r>
              <a:rPr lang="en-US" altLang="en-US" b="1" dirty="0"/>
              <a:t>s2</a:t>
            </a:r>
            <a:r>
              <a:rPr lang="lv-LV" altLang="en-US" dirty="0"/>
              <a:t>, </a:t>
            </a:r>
            <a:r>
              <a:rPr lang="en-US" altLang="en-US" dirty="0"/>
              <a:t>starting from the 5th position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31B0795-0A92-4011-9C91-9559E4A20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Functions for working with</a:t>
            </a:r>
            <a:r>
              <a:rPr lang="lv-LV" altLang="en-US" dirty="0"/>
              <a:t> </a:t>
            </a:r>
            <a:r>
              <a:rPr lang="lv-LV" altLang="en-US" b="1" i="1" dirty="0" err="1"/>
              <a:t>string</a:t>
            </a:r>
            <a:endParaRPr lang="lv-LV" altLang="en-US" b="1" i="1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137F77C-AACB-448C-8313-83594E21A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52425" indent="-352425">
              <a:lnSpc>
                <a:spcPct val="80000"/>
              </a:lnSpc>
            </a:pPr>
            <a:r>
              <a:rPr lang="en-US" altLang="en-US" sz="2800" dirty="0"/>
              <a:t>Sometimes it is necessary to use char-type symbol strings if the functions require this type of argument</a:t>
            </a:r>
            <a:r>
              <a:rPr lang="lv-LV" altLang="en-US" sz="2800" dirty="0"/>
              <a:t>. </a:t>
            </a:r>
          </a:p>
          <a:p>
            <a:pPr marL="352425" indent="-352425">
              <a:lnSpc>
                <a:spcPct val="80000"/>
              </a:lnSpc>
            </a:pPr>
            <a:r>
              <a:rPr lang="en-US" altLang="en-US" sz="2800" dirty="0"/>
              <a:t>For this purposes function </a:t>
            </a:r>
            <a:r>
              <a:rPr lang="lv-LV" altLang="en-US" sz="2800" b="1" i="1" dirty="0" err="1"/>
              <a:t>c_str</a:t>
            </a:r>
            <a:r>
              <a:rPr lang="lv-LV" altLang="en-US" sz="2800" b="1" i="1" dirty="0"/>
              <a:t>()</a:t>
            </a:r>
            <a:r>
              <a:rPr lang="en-US" altLang="en-US" sz="2800" b="1" i="1" dirty="0"/>
              <a:t> </a:t>
            </a:r>
            <a:r>
              <a:rPr lang="en-US" altLang="en-US" sz="2800" dirty="0"/>
              <a:t>of the </a:t>
            </a:r>
            <a:r>
              <a:rPr lang="en-US" altLang="en-US" sz="2800" b="1" dirty="0"/>
              <a:t>string</a:t>
            </a:r>
            <a:r>
              <a:rPr lang="en-US" altLang="en-US" sz="2800" dirty="0"/>
              <a:t> class can be used, that returns a reference to the char string, for example</a:t>
            </a:r>
            <a:r>
              <a:rPr lang="lv-LV" altLang="en-US" sz="2800" dirty="0"/>
              <a:t>:</a:t>
            </a:r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/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string</a:t>
            </a:r>
            <a:r>
              <a:rPr lang="lv-LV" altLang="en-US" sz="2800" dirty="0">
                <a:latin typeface="Courier New" panose="02070309020205020404" pitchFamily="49" charset="0"/>
              </a:rPr>
              <a:t> s="123";</a:t>
            </a:r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int</a:t>
            </a:r>
            <a:r>
              <a:rPr lang="lv-LV" altLang="en-US" sz="2800" dirty="0">
                <a:latin typeface="Courier New" panose="02070309020205020404" pitchFamily="49" charset="0"/>
              </a:rPr>
              <a:t> x=</a:t>
            </a:r>
            <a:r>
              <a:rPr lang="lv-LV" altLang="en-US" sz="2800" dirty="0" err="1">
                <a:latin typeface="Courier New" panose="02070309020205020404" pitchFamily="49" charset="0"/>
              </a:rPr>
              <a:t>atoi</a:t>
            </a:r>
            <a:r>
              <a:rPr lang="lv-LV" altLang="en-US" sz="2800" dirty="0">
                <a:latin typeface="Courier New" panose="02070309020205020404" pitchFamily="49" charset="0"/>
              </a:rPr>
              <a:t>(</a:t>
            </a:r>
            <a:r>
              <a:rPr lang="lv-LV" altLang="en-US" sz="2800" dirty="0" err="1">
                <a:latin typeface="Courier New" panose="02070309020205020404" pitchFamily="49" charset="0"/>
              </a:rPr>
              <a:t>s.c_str</a:t>
            </a:r>
            <a:r>
              <a:rPr lang="lv-LV" altLang="en-US" sz="2800" dirty="0">
                <a:latin typeface="Courier New" panose="02070309020205020404" pitchFamily="49" charset="0"/>
              </a:rPr>
              <a:t>()); </a:t>
            </a:r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en-US" altLang="en-US" sz="2800" dirty="0">
                <a:latin typeface="Courier New" panose="02070309020205020404" pitchFamily="49" charset="0"/>
              </a:rPr>
              <a:t>or</a:t>
            </a:r>
            <a:endParaRPr lang="lv-LV" altLang="en-US" sz="2800" dirty="0"/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string</a:t>
            </a:r>
            <a:r>
              <a:rPr lang="lv-LV" altLang="en-US" sz="2800" dirty="0">
                <a:latin typeface="Courier New" panose="02070309020205020404" pitchFamily="49" charset="0"/>
              </a:rPr>
              <a:t> s = "</a:t>
            </a:r>
            <a:r>
              <a:rPr lang="lv-LV" altLang="en-US" sz="2800" dirty="0" err="1">
                <a:latin typeface="Courier New" panose="02070309020205020404" pitchFamily="49" charset="0"/>
              </a:rPr>
              <a:t>Hello</a:t>
            </a:r>
            <a:r>
              <a:rPr lang="lv-LV" altLang="en-US" sz="2800" dirty="0">
                <a:latin typeface="Courier New" panose="02070309020205020404" pitchFamily="49" charset="0"/>
              </a:rPr>
              <a:t>, </a:t>
            </a:r>
            <a:r>
              <a:rPr lang="lv-LV" altLang="en-US" sz="2800" dirty="0" err="1">
                <a:latin typeface="Courier New" panose="02070309020205020404" pitchFamily="49" charset="0"/>
              </a:rPr>
              <a:t>World</a:t>
            </a:r>
            <a:r>
              <a:rPr lang="lv-LV" altLang="en-US" sz="2800" dirty="0">
                <a:latin typeface="Courier New" panose="02070309020205020404" pitchFamily="49" charset="0"/>
              </a:rPr>
              <a:t>!";</a:t>
            </a:r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strcpy</a:t>
            </a:r>
            <a:r>
              <a:rPr lang="lv-LV" altLang="en-US" sz="2800" dirty="0">
                <a:latin typeface="Courier New" panose="02070309020205020404" pitchFamily="49" charset="0"/>
              </a:rPr>
              <a:t> (a, </a:t>
            </a:r>
            <a:r>
              <a:rPr lang="lv-LV" altLang="en-US" sz="2800" dirty="0" err="1">
                <a:latin typeface="Courier New" panose="02070309020205020404" pitchFamily="49" charset="0"/>
              </a:rPr>
              <a:t>s.c_str</a:t>
            </a:r>
            <a:r>
              <a:rPr lang="lv-LV" altLang="en-US" sz="2800" dirty="0">
                <a:latin typeface="Courier New" panose="02070309020205020404" pitchFamily="49" charset="0"/>
              </a:rPr>
              <a:t>());</a:t>
            </a:r>
          </a:p>
          <a:p>
            <a:pPr marL="352425" indent="-352425">
              <a:lnSpc>
                <a:spcPct val="80000"/>
              </a:lnSpc>
              <a:buFontTx/>
              <a:buNone/>
            </a:pPr>
            <a:r>
              <a:rPr lang="lv-LV" altLang="en-US" sz="2800" dirty="0">
                <a:latin typeface="Courier New" panose="02070309020205020404" pitchFamily="49" charset="0"/>
              </a:rPr>
              <a:t>	</a:t>
            </a:r>
            <a:r>
              <a:rPr lang="lv-LV" altLang="en-US" sz="2800" dirty="0" err="1">
                <a:latin typeface="Courier New" panose="02070309020205020404" pitchFamily="49" charset="0"/>
              </a:rPr>
              <a:t>cout</a:t>
            </a:r>
            <a:r>
              <a:rPr lang="lv-LV" altLang="en-US" sz="2800" dirty="0">
                <a:latin typeface="Courier New" panose="02070309020205020404" pitchFamily="49" charset="0"/>
              </a:rPr>
              <a:t> &lt;&lt; 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023454B-1F83-4372-A9D9-85C032E5E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b="1" i="1" dirty="0" err="1"/>
              <a:t>string</a:t>
            </a:r>
            <a:r>
              <a:rPr lang="lv-LV" altLang="en-US" dirty="0"/>
              <a:t> </a:t>
            </a:r>
            <a:r>
              <a:rPr lang="en-US" altLang="en-US" dirty="0"/>
              <a:t>examples</a:t>
            </a:r>
            <a:endParaRPr lang="lv-LV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5DF7F12-041D-42C3-83A3-943553209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3276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#include &lt;iostream&gt;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#include &lt;string&gt;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using namespace std;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>
                <a:latin typeface="Courier New" panose="02070309020205020404" pitchFamily="49" charset="0"/>
              </a:rPr>
              <a:t> </a:t>
            </a:r>
            <a:endParaRPr lang="en-US" altLang="en-US" sz="2000">
              <a:latin typeface="Courier New" panose="02070309020205020404" pitchFamily="49" charset="0"/>
            </a:endParaRP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int main()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string s1 = "Hello";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string s2 = "World";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string s = s1 + "," + s2 + "!";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cout &lt;&lt; s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for(int i=0; i &lt; s.length(); i++)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    cout &lt;&lt; s[i];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cout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system("pause");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return 0;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  <a:endParaRPr lang="lv-LV" altLang="en-US" sz="2000">
              <a:latin typeface="Courier New" panose="02070309020205020404" pitchFamily="49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84A518B1-89A1-46DD-89D0-091982CD6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876925"/>
            <a:ext cx="375285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D8845FD-2921-45E7-BFFA-BD2F4BAC0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b="1" i="1" dirty="0" err="1"/>
              <a:t>string</a:t>
            </a:r>
            <a:r>
              <a:rPr lang="lv-LV" altLang="en-US" dirty="0"/>
              <a:t> </a:t>
            </a:r>
            <a:r>
              <a:rPr lang="en-US" altLang="en-US" dirty="0"/>
              <a:t>examples</a:t>
            </a:r>
            <a:endParaRPr lang="lv-LV" altLang="en-US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50A6F9C-798D-42A1-BC2B-6EBA0CFE4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25209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int main()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string s1;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cin &gt;&gt; s1;</a:t>
            </a:r>
            <a:r>
              <a:rPr lang="lv-LV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solidFill>
                  <a:schemeClr val="bg2"/>
                </a:solidFill>
                <a:latin typeface="Courier New" panose="02070309020205020404" pitchFamily="49" charset="0"/>
              </a:rPr>
              <a:t>//Hello, World!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cout &lt;&lt;s1 &lt;&lt; endl;</a:t>
            </a:r>
            <a:r>
              <a:rPr lang="lv-LV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solidFill>
                  <a:schemeClr val="bg2"/>
                </a:solidFill>
                <a:latin typeface="Courier New" panose="02070309020205020404" pitchFamily="49" charset="0"/>
              </a:rPr>
              <a:t>//Hello,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system("pause");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  <a:endParaRPr lang="lv-LV" altLang="en-US" sz="1800">
              <a:latin typeface="Courier New" panose="02070309020205020404" pitchFamily="49" charset="0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26BBCADE-4A6A-4FCA-85C4-8AF047B5F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068638"/>
            <a:ext cx="374332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3" name="Text Box 5">
            <a:extLst>
              <a:ext uri="{FF2B5EF4-FFF2-40B4-BE49-F238E27FC236}">
                <a16:creationId xmlns:a16="http://schemas.microsoft.com/office/drawing/2014/main" id="{8EBBCB3E-C75C-4A27-9262-0522302DD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54463"/>
            <a:ext cx="8207375" cy="2573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string s1;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getline(cin,s1);</a:t>
            </a:r>
            <a:r>
              <a:rPr lang="lv-LV" altLang="en-US"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chemeClr val="bg2"/>
                </a:solidFill>
                <a:latin typeface="Courier New" panose="02070309020205020404" pitchFamily="49" charset="0"/>
              </a:rPr>
              <a:t>//Hello, World!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cout &lt;&lt; s1 &lt;&lt; endl;</a:t>
            </a:r>
            <a:r>
              <a:rPr lang="lv-LV" altLang="en-US"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chemeClr val="bg2"/>
                </a:solidFill>
                <a:latin typeface="Courier New" panose="02070309020205020404" pitchFamily="49" charset="0"/>
              </a:rPr>
              <a:t>//Hello, World!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  <a:endParaRPr lang="lv-LV" altLang="en-US">
              <a:latin typeface="Courier New" panose="02070309020205020404" pitchFamily="49" charset="0"/>
            </a:endParaRP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6A77D6CF-A631-4863-B090-604D0454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5805488"/>
            <a:ext cx="371475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E69D4B1-6FD4-4A2B-9C21-295E49EB5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b="1" i="1" dirty="0" err="1"/>
              <a:t>string</a:t>
            </a:r>
            <a:r>
              <a:rPr lang="lv-LV" altLang="en-US" dirty="0"/>
              <a:t> </a:t>
            </a:r>
            <a:r>
              <a:rPr lang="en-US" altLang="en-US" dirty="0"/>
              <a:t>string array</a:t>
            </a:r>
            <a:endParaRPr lang="lv-LV" alt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50700C2-5A21-4875-B8B4-E37D16C35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8964613" cy="22606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int main()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{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string words[3] = {"first", "second", "third"}; 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for(int </a:t>
            </a:r>
            <a:r>
              <a:rPr lang="en-US" altLang="en-US" sz="1300" dirty="0" err="1">
                <a:latin typeface="Courier New" panose="02070309020205020404" pitchFamily="49" charset="0"/>
              </a:rPr>
              <a:t>i</a:t>
            </a:r>
            <a:r>
              <a:rPr lang="en-US" altLang="en-US" sz="1300" dirty="0">
                <a:latin typeface="Courier New" panose="02070309020205020404" pitchFamily="49" charset="0"/>
              </a:rPr>
              <a:t>=0; </a:t>
            </a:r>
            <a:r>
              <a:rPr lang="en-US" altLang="en-US" sz="1300" dirty="0" err="1">
                <a:latin typeface="Courier New" panose="02070309020205020404" pitchFamily="49" charset="0"/>
              </a:rPr>
              <a:t>i</a:t>
            </a:r>
            <a:r>
              <a:rPr lang="en-US" altLang="en-US" sz="1300" dirty="0">
                <a:latin typeface="Courier New" panose="02070309020205020404" pitchFamily="49" charset="0"/>
              </a:rPr>
              <a:t> &lt; 3; </a:t>
            </a:r>
            <a:r>
              <a:rPr lang="en-US" altLang="en-US" sz="1300" dirty="0" err="1">
                <a:latin typeface="Courier New" panose="02070309020205020404" pitchFamily="49" charset="0"/>
              </a:rPr>
              <a:t>i</a:t>
            </a:r>
            <a:r>
              <a:rPr lang="en-US" altLang="en-US" sz="1300" dirty="0">
                <a:latin typeface="Courier New" panose="02070309020205020404" pitchFamily="49" charset="0"/>
              </a:rPr>
              <a:t>++)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    </a:t>
            </a:r>
            <a:r>
              <a:rPr lang="en-US" altLang="en-US" sz="1300" dirty="0" err="1">
                <a:latin typeface="Courier New" panose="02070309020205020404" pitchFamily="49" charset="0"/>
              </a:rPr>
              <a:t>cout</a:t>
            </a:r>
            <a:r>
              <a:rPr lang="en-US" altLang="en-US" sz="1300" dirty="0">
                <a:latin typeface="Courier New" panose="02070309020205020404" pitchFamily="49" charset="0"/>
              </a:rPr>
              <a:t> &lt;&lt; words[</a:t>
            </a:r>
            <a:r>
              <a:rPr lang="en-US" altLang="en-US" sz="1300" dirty="0" err="1">
                <a:latin typeface="Courier New" panose="02070309020205020404" pitchFamily="49" charset="0"/>
              </a:rPr>
              <a:t>i</a:t>
            </a:r>
            <a:r>
              <a:rPr lang="en-US" altLang="en-US" sz="1300" dirty="0">
                <a:latin typeface="Courier New" panose="02070309020205020404" pitchFamily="49" charset="0"/>
              </a:rPr>
              <a:t>] &lt;&lt; </a:t>
            </a:r>
            <a:r>
              <a:rPr lang="en-US" altLang="en-US" sz="1300" dirty="0" err="1">
                <a:latin typeface="Courier New" panose="02070309020205020404" pitchFamily="49" charset="0"/>
              </a:rPr>
              <a:t>endl</a:t>
            </a:r>
            <a:r>
              <a:rPr lang="en-US" altLang="en-US" sz="1300" dirty="0">
                <a:latin typeface="Courier New" panose="02070309020205020404" pitchFamily="49" charset="0"/>
              </a:rPr>
              <a:t>;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</a:t>
            </a:r>
            <a:r>
              <a:rPr lang="en-US" altLang="en-US" sz="1300" dirty="0" err="1">
                <a:latin typeface="Courier New" panose="02070309020205020404" pitchFamily="49" charset="0"/>
              </a:rPr>
              <a:t>cout</a:t>
            </a:r>
            <a:r>
              <a:rPr lang="en-US" altLang="en-US" sz="1300" dirty="0">
                <a:latin typeface="Courier New" panose="02070309020205020404" pitchFamily="49" charset="0"/>
              </a:rPr>
              <a:t> &lt;&lt; </a:t>
            </a:r>
            <a:r>
              <a:rPr lang="en-US" altLang="en-US" sz="1300" dirty="0" err="1">
                <a:latin typeface="Courier New" panose="02070309020205020404" pitchFamily="49" charset="0"/>
              </a:rPr>
              <a:t>endl</a:t>
            </a:r>
            <a:r>
              <a:rPr lang="en-US" altLang="en-US" sz="1300" dirty="0">
                <a:latin typeface="Courier New" panose="02070309020205020404" pitchFamily="49" charset="0"/>
              </a:rPr>
              <a:t>;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</a:t>
            </a:r>
            <a:r>
              <a:rPr lang="en-US" altLang="en-US" sz="1300" dirty="0" err="1">
                <a:latin typeface="Courier New" panose="02070309020205020404" pitchFamily="49" charset="0"/>
              </a:rPr>
              <a:t>cout</a:t>
            </a:r>
            <a:r>
              <a:rPr lang="en-US" altLang="en-US" sz="1300" dirty="0">
                <a:latin typeface="Courier New" panose="02070309020205020404" pitchFamily="49" charset="0"/>
              </a:rPr>
              <a:t> &lt;&lt; "First letters: " &lt;&lt; words[0][0] &lt;&lt; words[1][0] &lt;&lt; words[2][0] &lt;&lt; </a:t>
            </a:r>
            <a:r>
              <a:rPr lang="en-US" altLang="en-US" sz="1300" dirty="0" err="1">
                <a:latin typeface="Courier New" panose="02070309020205020404" pitchFamily="49" charset="0"/>
              </a:rPr>
              <a:t>endl</a:t>
            </a:r>
            <a:r>
              <a:rPr lang="en-US" altLang="en-US" sz="1300" dirty="0">
                <a:latin typeface="Courier New" panose="02070309020205020404" pitchFamily="49" charset="0"/>
              </a:rPr>
              <a:t>;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system("pause");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    return 0;</a:t>
            </a:r>
          </a:p>
          <a:p>
            <a:pPr marL="352425" indent="-352425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300" dirty="0">
                <a:latin typeface="Courier New" panose="02070309020205020404" pitchFamily="49" charset="0"/>
              </a:rPr>
              <a:t>}</a:t>
            </a:r>
            <a:endParaRPr lang="lv-LV" altLang="en-US" sz="1300" dirty="0">
              <a:latin typeface="Courier New" panose="02070309020205020404" pitchFamily="49" charset="0"/>
            </a:endParaRP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AD0FB4E0-3BA1-4B7D-A8B4-9F2E7044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437063"/>
            <a:ext cx="8351838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 startAt="3"/>
            </a:pPr>
            <a:r>
              <a:rPr lang="lv-LV" altLang="en-US" sz="2800" dirty="0" err="1">
                <a:latin typeface="Times New Roman" panose="02020603050405020304" pitchFamily="18" charset="0"/>
              </a:rPr>
              <a:t>The</a:t>
            </a:r>
            <a:r>
              <a:rPr lang="lv-LV" altLang="en-US" sz="2800" dirty="0">
                <a:latin typeface="Times New Roman" panose="02020603050405020304" pitchFamily="18" charset="0"/>
              </a:rPr>
              <a:t> </a:t>
            </a:r>
            <a:r>
              <a:rPr lang="lv-LV" altLang="en-US" sz="2800" dirty="0" err="1">
                <a:latin typeface="Times New Roman" panose="02020603050405020304" pitchFamily="18" charset="0"/>
              </a:rPr>
              <a:t>array</a:t>
            </a:r>
            <a:r>
              <a:rPr lang="lv-LV" altLang="en-US" sz="2800" dirty="0">
                <a:latin typeface="Times New Roman" panose="02020603050405020304" pitchFamily="18" charset="0"/>
              </a:rPr>
              <a:t> </a:t>
            </a:r>
            <a:r>
              <a:rPr lang="lv-LV" altLang="en-US" sz="2800" dirty="0" err="1">
                <a:latin typeface="Times New Roman" panose="02020603050405020304" pitchFamily="18" charset="0"/>
              </a:rPr>
              <a:t>of</a:t>
            </a:r>
            <a:r>
              <a:rPr lang="lv-LV" altLang="en-US" sz="2800" dirty="0">
                <a:latin typeface="Times New Roman" panose="02020603050405020304" pitchFamily="18" charset="0"/>
              </a:rPr>
              <a:t> </a:t>
            </a:r>
            <a:r>
              <a:rPr lang="lv-LV" altLang="en-US" sz="2800" dirty="0" err="1">
                <a:latin typeface="Times New Roman" panose="02020603050405020304" pitchFamily="18" charset="0"/>
              </a:rPr>
              <a:t>words</a:t>
            </a:r>
            <a:r>
              <a:rPr lang="lv-LV" altLang="en-US" sz="2800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 startAt="7"/>
            </a:pPr>
            <a:r>
              <a:rPr lang="en-US" altLang="en-US" sz="2800" dirty="0">
                <a:latin typeface="Times New Roman" panose="02020603050405020304" pitchFamily="18" charset="0"/>
              </a:rPr>
              <a:t>The individual symbols of the array elements</a:t>
            </a:r>
            <a:r>
              <a:rPr lang="lv-LV" altLang="en-US" sz="28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1F7124-D892-4872-A092-DA7EF54F7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1262" b="74788"/>
          <a:stretch/>
        </p:blipFill>
        <p:spPr>
          <a:xfrm>
            <a:off x="6182021" y="3860800"/>
            <a:ext cx="2627784" cy="12450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1A92243-39D7-482F-95B3-05BC2370E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4775"/>
            <a:ext cx="8229600" cy="868363"/>
          </a:xfrm>
        </p:spPr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7FC90FB-EFDA-4F86-A8DC-E4409D440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713788" cy="5876925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two strings. Answer if its are equal</a:t>
            </a:r>
            <a:r>
              <a:rPr lang="lv-LV" altLang="en-US" sz="2800" dirty="0"/>
              <a:t>.</a:t>
            </a:r>
            <a:endParaRPr lang="lv-LV" altLang="en-US" sz="2800" dirty="0">
              <a:latin typeface="Courier New" panose="02070309020205020404" pitchFamily="49" charset="0"/>
            </a:endParaRPr>
          </a:p>
          <a:p>
            <a:pPr marL="609600" indent="-609600">
              <a:buFont typeface="+mj-lt"/>
              <a:buAutoNum type="arabicPeriod" startAt="3"/>
            </a:pPr>
            <a:r>
              <a:rPr lang="en-US" altLang="en-US" sz="2800" dirty="0"/>
              <a:t>There is a</a:t>
            </a:r>
            <a:r>
              <a:rPr lang="lv-LV" altLang="en-US" sz="2800" dirty="0"/>
              <a:t> </a:t>
            </a:r>
            <a:r>
              <a:rPr lang="en-US" altLang="en-US" sz="2800" dirty="0"/>
              <a:t>sentence</a:t>
            </a:r>
            <a:r>
              <a:rPr lang="lv-LV" altLang="en-US" sz="2800" dirty="0"/>
              <a:t>. </a:t>
            </a:r>
            <a:r>
              <a:rPr lang="en-US" altLang="en-US" sz="2800" dirty="0"/>
              <a:t>Count how many words it contains</a:t>
            </a:r>
            <a:r>
              <a:rPr lang="lv-LV" altLang="en-US" sz="2800" dirty="0"/>
              <a:t>. </a:t>
            </a:r>
            <a:r>
              <a:rPr lang="en-US" altLang="en-US" sz="2800" dirty="0"/>
              <a:t>The word is a sequence of symbols without spaces, all words separated by space, the first and last symbols are not spaces</a:t>
            </a:r>
            <a:r>
              <a:rPr lang="lv-LV" altLang="en-US" sz="2800" dirty="0"/>
              <a:t>.</a:t>
            </a:r>
          </a:p>
          <a:p>
            <a:pPr marL="609600" indent="-609600">
              <a:buFontTx/>
              <a:buAutoNum type="arabicPeriod" startAt="3"/>
            </a:pPr>
            <a:r>
              <a:rPr lang="en-US" altLang="en-US" sz="2800" dirty="0"/>
              <a:t>There is a</a:t>
            </a:r>
            <a:r>
              <a:rPr lang="lv-LV" altLang="en-US" sz="2800" dirty="0"/>
              <a:t> </a:t>
            </a:r>
            <a:r>
              <a:rPr lang="en-US" altLang="en-US" sz="2800" dirty="0"/>
              <a:t>sentence</a:t>
            </a:r>
            <a:r>
              <a:rPr lang="lv-LV" altLang="en-US" sz="2800" dirty="0"/>
              <a:t>. </a:t>
            </a:r>
            <a:r>
              <a:rPr lang="en-US" altLang="en-US" sz="2800" dirty="0"/>
              <a:t>Find the longest word and its length</a:t>
            </a:r>
            <a:r>
              <a:rPr lang="lv-LV" altLang="en-US" sz="2800" dirty="0"/>
              <a:t>. </a:t>
            </a:r>
            <a:r>
              <a:rPr lang="en-US" altLang="en-US" sz="2800" dirty="0"/>
              <a:t>The word is a sequence of symbols without spaces, all words separated by space, the first and last symbols are not spaces</a:t>
            </a:r>
            <a:r>
              <a:rPr lang="lv-LV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9362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7937BF0-0DCE-4A29-8FAE-083C107AB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4775"/>
            <a:ext cx="8229600" cy="868363"/>
          </a:xfrm>
        </p:spPr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34B82C3-B63B-4F11-ADD1-4CFA84FC5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81075"/>
            <a:ext cx="9144000" cy="5688013"/>
          </a:xfrm>
        </p:spPr>
        <p:txBody>
          <a:bodyPr/>
          <a:lstStyle/>
          <a:p>
            <a:pPr marL="609600" indent="-609600">
              <a:buFont typeface="+mj-lt"/>
              <a:buAutoNum type="arabicPeriod" startAt="5"/>
            </a:pPr>
            <a:r>
              <a:rPr lang="en-US" altLang="en-US" sz="2400" dirty="0"/>
              <a:t>Input two strings. Determine if the first string contain a second string.
There is a</a:t>
            </a:r>
            <a:r>
              <a:rPr lang="lv-LV" altLang="en-US" sz="2400" dirty="0"/>
              <a:t> </a:t>
            </a:r>
            <a:r>
              <a:rPr lang="en-US" altLang="en-US" sz="2400" dirty="0"/>
              <a:t>sentence</a:t>
            </a:r>
            <a:r>
              <a:rPr lang="lv-LV" altLang="en-US" sz="2400" dirty="0"/>
              <a:t>. </a:t>
            </a:r>
            <a:r>
              <a:rPr lang="en-US" altLang="en-US" sz="2400" dirty="0"/>
              <a:t>All words can be separated by several spaces, the first and last symbols can also be spaces</a:t>
            </a:r>
            <a:r>
              <a:rPr lang="lv-LV" altLang="en-US" sz="2400" dirty="0"/>
              <a:t>. </a:t>
            </a:r>
            <a:r>
              <a:rPr lang="en-US" altLang="en-US" sz="2400" dirty="0"/>
              <a:t>You must delete the extra spaces from the sentence so that: all words are separated by only one space, the first and last sentence symbols are not spaces.</a:t>
            </a:r>
            <a:endParaRPr lang="lv-LV" altLang="en-US" sz="2400" dirty="0"/>
          </a:p>
          <a:p>
            <a:pPr marL="609600" indent="-609600">
              <a:buFontTx/>
              <a:buAutoNum type="arabicPeriod" startAt="5"/>
            </a:pPr>
            <a:r>
              <a:rPr lang="en-US" altLang="en-US" sz="2400" dirty="0"/>
              <a:t>Input a string</a:t>
            </a:r>
            <a:r>
              <a:rPr lang="lv-LV" altLang="en-US" sz="2400" dirty="0"/>
              <a:t>. </a:t>
            </a:r>
            <a:r>
              <a:rPr lang="en-US" altLang="en-US" sz="2400" dirty="0"/>
              <a:t>Count how many times each of the string symbols appear.</a:t>
            </a:r>
            <a:endParaRPr lang="lv-LV" altLang="en-US" sz="2400" dirty="0"/>
          </a:p>
          <a:p>
            <a:pPr marL="609600" indent="-609600">
              <a:buFontTx/>
              <a:buAutoNum type="arabicPeriod" startAt="8"/>
            </a:pPr>
            <a:r>
              <a:rPr lang="en-US" altLang="en-US" sz="2400" dirty="0"/>
              <a:t>Application requires a string in the format </a:t>
            </a:r>
            <a:r>
              <a:rPr lang="lv-LV" altLang="en-US" sz="2400" dirty="0"/>
              <a:t>(</a:t>
            </a:r>
            <a:r>
              <a:rPr lang="en-US" altLang="en-US" sz="2400" dirty="0"/>
              <a:t>where X is a digit</a:t>
            </a:r>
            <a:r>
              <a:rPr lang="lv-LV" altLang="en-US" sz="2400" dirty="0"/>
              <a:t>):</a:t>
            </a:r>
            <a:endParaRPr lang="lv-LV" altLang="en-US" sz="2400" b="1" dirty="0"/>
          </a:p>
          <a:p>
            <a:pPr marL="1371600" lvl="2" indent="-457200">
              <a:buFontTx/>
              <a:buChar char="–"/>
            </a:pPr>
            <a:r>
              <a:rPr lang="lv-LV" altLang="en-US" dirty="0">
                <a:latin typeface="Times New Roman" panose="02020603050405020304" pitchFamily="18" charset="0"/>
              </a:rPr>
              <a:t>XX+XX,</a:t>
            </a:r>
          </a:p>
          <a:p>
            <a:pPr marL="1371600" lvl="2" indent="-457200">
              <a:buFontTx/>
              <a:buChar char="–"/>
            </a:pPr>
            <a:r>
              <a:rPr lang="lv-LV" altLang="en-US" dirty="0">
                <a:latin typeface="Times New Roman" panose="02020603050405020304" pitchFamily="18" charset="0"/>
              </a:rPr>
              <a:t>XXX-XX,</a:t>
            </a:r>
          </a:p>
          <a:p>
            <a:pPr marL="609600" indent="-609600">
              <a:buFontTx/>
              <a:buNone/>
            </a:pPr>
            <a:r>
              <a:rPr lang="lv-LV" altLang="en-US" sz="2400" dirty="0"/>
              <a:t>	</a:t>
            </a:r>
            <a:r>
              <a:rPr lang="en-US" altLang="en-US" sz="2400" dirty="0"/>
              <a:t>and calculates the value of the expression. In case the string content does not match the format, a corresponding notification appear </a:t>
            </a:r>
            <a:r>
              <a:rPr lang="lv-LV" altLang="en-US" sz="2400" dirty="0"/>
              <a:t>(</a:t>
            </a:r>
            <a:r>
              <a:rPr lang="en-US" altLang="en-US" sz="2400" dirty="0"/>
              <a:t>for instance</a:t>
            </a:r>
            <a:r>
              <a:rPr lang="lv-LV" altLang="en-US" sz="2400" dirty="0"/>
              <a:t>: 23+12=35; 123+24 - </a:t>
            </a:r>
            <a:r>
              <a:rPr lang="en-US" altLang="en-US" sz="2400" dirty="0"/>
              <a:t>w</a:t>
            </a:r>
            <a:r>
              <a:rPr lang="lv-LV" altLang="en-US" sz="2400" dirty="0" err="1"/>
              <a:t>rong</a:t>
            </a:r>
            <a:r>
              <a:rPr lang="lv-LV" altLang="en-US" sz="2400" dirty="0"/>
              <a:t> </a:t>
            </a:r>
            <a:r>
              <a:rPr lang="lv-LV" altLang="en-US" sz="2400" dirty="0" err="1"/>
              <a:t>format</a:t>
            </a:r>
            <a:r>
              <a:rPr lang="lv-LV" altLang="en-US" sz="2400" dirty="0"/>
              <a:t>).</a:t>
            </a:r>
            <a:r>
              <a:rPr lang="en-US" altLang="en-US" sz="2400" dirty="0"/>
              <a:t> </a:t>
            </a:r>
            <a:endParaRPr lang="lv-LV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57992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1456</Words>
  <Application>Microsoft Office PowerPoint</Application>
  <PresentationFormat>On-screen Show (4:3)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Times New Roman</vt:lpstr>
      <vt:lpstr>Default Design</vt:lpstr>
      <vt:lpstr>Characters and Strings</vt:lpstr>
      <vt:lpstr>Character type char</vt:lpstr>
      <vt:lpstr>Character type char example</vt:lpstr>
      <vt:lpstr>Character type char array example</vt:lpstr>
      <vt:lpstr>С language strings char*</vt:lpstr>
      <vt:lpstr>Functions for work with character strings</vt:lpstr>
      <vt:lpstr>Functions for work with character strings</vt:lpstr>
      <vt:lpstr>Functions for work with character strings</vt:lpstr>
      <vt:lpstr>Practice</vt:lpstr>
      <vt:lpstr>Practice</vt:lpstr>
      <vt:lpstr>C++ string of characters string</vt:lpstr>
      <vt:lpstr>Functions for working with string</vt:lpstr>
      <vt:lpstr>Functions for working with string</vt:lpstr>
      <vt:lpstr>Functions for working with string</vt:lpstr>
      <vt:lpstr>Functions for working with string</vt:lpstr>
      <vt:lpstr>string examples</vt:lpstr>
      <vt:lpstr>string examples</vt:lpstr>
      <vt:lpstr>string string array</vt:lpstr>
      <vt:lpstr>Practice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Simbolu virknes</dc:title>
  <dc:creator>Home</dc:creator>
  <cp:lastModifiedBy>Andrej Liepiņš</cp:lastModifiedBy>
  <cp:revision>29</cp:revision>
  <dcterms:created xsi:type="dcterms:W3CDTF">2011-07-16T15:24:38Z</dcterms:created>
  <dcterms:modified xsi:type="dcterms:W3CDTF">2019-03-04T19:17:45Z</dcterms:modified>
</cp:coreProperties>
</file>