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8" autoAdjust="0"/>
    <p:restoredTop sz="94660"/>
  </p:normalViewPr>
  <p:slideViewPr>
    <p:cSldViewPr>
      <p:cViewPr varScale="1">
        <p:scale>
          <a:sx n="129" d="100"/>
          <a:sy n="129" d="100"/>
        </p:scale>
        <p:origin x="127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972A9-174F-4588-8D5B-2A60CBCA13F5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AD987-5699-4D4B-A35C-5BB61530B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46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AD987-5699-4D4B-A35C-5BB61530B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34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AD987-5699-4D4B-A35C-5BB61530B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52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60CA-534B-4739-BA26-48F6271A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BA9C-34B5-4717-B99E-6D5263A49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399B8-6A54-4B4E-B8AB-469143DD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1D32C-0349-453B-A012-DA3B10F2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AA930-F341-44D1-A2F6-0CD33840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BBA62E-ED8F-4D77-8FDB-7F41E6074C3B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8287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CFF0-0A29-42D5-B2EF-B24BB225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8C94-0209-484F-9DA9-B34D6FA1D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ADE80-1DCC-426F-A0EF-BE89F75D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E946D-5470-4291-9C8F-FC590FB6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1FBDB-00D0-48F9-B7CA-B2DEDBC5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241BA-F333-48FF-AEE5-D18A3F5510F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73193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8CC6-08EF-4266-AC53-E6622C09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6FE7E-1EE7-416D-9BAE-D4F2307A5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2EC6-9DB9-46AE-93F2-622A555E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214A-0623-4ACE-84F5-FC7168A6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698A2-3367-4409-9BEE-18B6F21A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58CF3E-E51E-44D7-852D-879F026FF2BD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79576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B9B3-00D8-4C9A-86E9-90222E73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A5CBD-4E8B-45B9-97FE-6CCE018BD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93069-831C-4F70-A530-47CCDE7B4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8EB4B-0D68-473E-B968-4FBD7620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CA352-4494-4B1C-ABB3-58D16355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99BA-E64E-499D-9732-65123E43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AD3AA1-A6D8-4EB5-9C9C-0E1123C85AB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90318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1DFF-8146-4521-94F1-948F358D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43F1F-3408-49CA-A67C-1C2EBF10D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7BAA-6C1C-4196-9BDC-F38060430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D00D8-A295-49BC-9787-E54200B6A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808F4-D00F-4B76-B808-83A0EA8B9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2C1DB-037F-4292-8306-C6BACFAA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01981-34C5-4D73-9F44-ECEC9FFC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0B5B0-644C-4005-961D-3EEAC8A6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B09FB-C6F0-4949-A6C6-DCA18F28C0BF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74821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9A58-9F78-42D2-B1CC-46762B88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F81B3-E35D-4DD5-A8AE-262DAA05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65123-F6C0-479A-92EE-764C28CB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C84E1-62B9-41AF-BDB1-EF008E05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17899-5EB7-46C5-9E1D-38A9ED3A2B0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67111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2DA7B-D290-42B8-A178-4CE74E11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CFB3E-9AEC-4EEE-9E0C-17CC587E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C8546-6028-4CE1-8429-CDE7D469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3C753-1310-4BD5-BA56-6510F1817E1A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5716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CCE7-BB04-4286-AFC4-CEB34B6C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F829-9780-4A1D-9BC7-DBC613B05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4DC7F-B45B-4ABC-8C78-159C77B6D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CFD70-7938-41DD-84CB-EF5B06FF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8AC2B-C683-4C8F-BDCC-36A45913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11866-A1FE-4C64-8598-E31AEA1E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4127E-5F20-4AFE-81F9-782E84A5642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54848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992F-7A52-42A2-8279-8291596A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31ABC4-3480-48C7-BE9E-7967D140C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5EC4C-0E42-44F9-8179-2DC5828FF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911C7-1175-4692-B509-2FF89BFA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A19BD-3CF6-43B3-A655-3F32B1D3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8F0E0-8F69-4CEF-8F3F-9BCD9F27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58C36-872C-4418-950C-45CF142C312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86599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AA3C-66CC-4D1C-BD42-97BA6656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C19B9-743D-4BB3-BF4E-62196852D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7FDFB-24FA-41D4-8471-10D99A35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6C461-136C-42BD-8267-DC92684A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4B645-7721-403D-B8D5-22DB09D4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71740-3C8C-42BC-AFB2-7E0C28C35C16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16758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28FF4-590C-4AF4-A7CA-C362704F4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CD3B5-3B70-4E07-B4FC-C01BBF63B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36D78-26B3-47D0-B35F-A1212088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8EB3A-C675-475F-8A27-1BE0EC19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B1607-FF6C-4363-8F5C-CBFD4C03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7AE46-0F12-4243-B995-75EA3C4FB8B2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66332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957E-38DB-4477-A89B-9A3ABCDF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089E9-45A5-4B80-8FEF-437E8F05CF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80BAB-8125-4BF8-923D-1460276D6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C5B73-77C7-4371-9F20-C525C67E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263A-A565-4FC4-8703-40704280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181E7-A990-4B74-AC01-BE140BD0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8B6EA8-D02F-4C12-B827-61D2461C8F0D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20525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267B49-8CB0-4457-A56E-BD96029C6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5AA432-3FA1-4AC9-888A-7A7845BBD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A7A037-40BE-4859-AF49-C08BD2CE30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F2C2757-843E-41A7-A517-8C79FCA2AC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6F70AC-A879-4187-94D6-0E6A8D1B01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815173-600F-405F-99EB-E5BB183AAAEA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31B288-6B96-4545-904D-FB1C5AE2DC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Loops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01FF653-1322-4F06-943D-7F6EDEDCB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Pr</a:t>
            </a:r>
            <a:r>
              <a:rPr lang="en-US" altLang="en-US" dirty="0"/>
              <a:t>e</a:t>
            </a:r>
            <a:r>
              <a:rPr lang="lv-LV" altLang="en-US" dirty="0"/>
              <a:t>- </a:t>
            </a:r>
            <a:r>
              <a:rPr lang="en-US" altLang="en-US" dirty="0"/>
              <a:t>and</a:t>
            </a:r>
            <a:r>
              <a:rPr lang="lv-LV" altLang="en-US" dirty="0"/>
              <a:t> </a:t>
            </a:r>
            <a:r>
              <a:rPr lang="en-US" altLang="en-US" dirty="0"/>
              <a:t>Post</a:t>
            </a:r>
            <a:r>
              <a:rPr lang="lv-LV" altLang="en-US" dirty="0"/>
              <a:t>- </a:t>
            </a:r>
            <a:r>
              <a:rPr lang="en-US" altLang="en-US" dirty="0"/>
              <a:t>c</a:t>
            </a:r>
            <a:r>
              <a:rPr lang="lv-LV" altLang="en-US" dirty="0" err="1"/>
              <a:t>ondition</a:t>
            </a:r>
            <a:r>
              <a:rPr lang="lv-LV" altLang="en-US" dirty="0"/>
              <a:t> </a:t>
            </a:r>
            <a:r>
              <a:rPr lang="en-US" altLang="en-US" dirty="0"/>
              <a:t>loops</a:t>
            </a:r>
            <a:endParaRPr lang="lv-LV" altLang="en-US" dirty="0"/>
          </a:p>
        </p:txBody>
      </p:sp>
      <p:grpSp>
        <p:nvGrpSpPr>
          <p:cNvPr id="3108" name="Group 36">
            <a:extLst>
              <a:ext uri="{FF2B5EF4-FFF2-40B4-BE49-F238E27FC236}">
                <a16:creationId xmlns:a16="http://schemas.microsoft.com/office/drawing/2014/main" id="{9E4A43AA-FF24-405D-A151-567D7EF61DF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420938"/>
            <a:ext cx="3846512" cy="3708400"/>
            <a:chOff x="295" y="1525"/>
            <a:chExt cx="2423" cy="2336"/>
          </a:xfrm>
        </p:grpSpPr>
        <p:sp>
          <p:nvSpPr>
            <p:cNvPr id="3076" name="AutoShape 4">
              <a:extLst>
                <a:ext uri="{FF2B5EF4-FFF2-40B4-BE49-F238E27FC236}">
                  <a16:creationId xmlns:a16="http://schemas.microsoft.com/office/drawing/2014/main" id="{66EAC913-562B-4E55-9EF8-D93D0C614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1907"/>
              <a:ext cx="1401" cy="637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Condition</a:t>
              </a:r>
              <a:endParaRPr lang="lv-LV" altLang="en-US" sz="2800" dirty="0"/>
            </a:p>
          </p:txBody>
        </p:sp>
        <p:sp>
          <p:nvSpPr>
            <p:cNvPr id="3077" name="Rectangle 5">
              <a:extLst>
                <a:ext uri="{FF2B5EF4-FFF2-40B4-BE49-F238E27FC236}">
                  <a16:creationId xmlns:a16="http://schemas.microsoft.com/office/drawing/2014/main" id="{045A8E9C-7D86-4B27-B346-4711B6EAC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309"/>
              <a:ext cx="1104" cy="46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 dirty="0"/>
                <a:t>Operations</a:t>
              </a:r>
              <a:endParaRPr lang="lv-LV" altLang="en-US" sz="2800" dirty="0"/>
            </a:p>
          </p:txBody>
        </p:sp>
        <p:cxnSp>
          <p:nvCxnSpPr>
            <p:cNvPr id="3080" name="AutoShape 8">
              <a:extLst>
                <a:ext uri="{FF2B5EF4-FFF2-40B4-BE49-F238E27FC236}">
                  <a16:creationId xmlns:a16="http://schemas.microsoft.com/office/drawing/2014/main" id="{EFE2BD02-754A-4959-9179-DA83D5D9A5ED}"/>
                </a:ext>
              </a:extLst>
            </p:cNvPr>
            <p:cNvCxnSpPr>
              <a:cxnSpLocks noChangeShapeType="1"/>
              <a:endCxn id="3076" idx="0"/>
            </p:cNvCxnSpPr>
            <p:nvPr/>
          </p:nvCxnSpPr>
          <p:spPr bwMode="auto">
            <a:xfrm>
              <a:off x="1760" y="1525"/>
              <a:ext cx="1" cy="3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1" name="AutoShape 9">
              <a:extLst>
                <a:ext uri="{FF2B5EF4-FFF2-40B4-BE49-F238E27FC236}">
                  <a16:creationId xmlns:a16="http://schemas.microsoft.com/office/drawing/2014/main" id="{81C8729E-A20C-4CF7-A06B-8EA1B2015111}"/>
                </a:ext>
              </a:extLst>
            </p:cNvPr>
            <p:cNvCxnSpPr>
              <a:cxnSpLocks noChangeShapeType="1"/>
              <a:stCxn id="3076" idx="1"/>
              <a:endCxn id="3077" idx="0"/>
            </p:cNvCxnSpPr>
            <p:nvPr/>
          </p:nvCxnSpPr>
          <p:spPr bwMode="auto">
            <a:xfrm rot="10800000" flipV="1">
              <a:off x="847" y="2225"/>
              <a:ext cx="213" cy="1084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2" name="AutoShape 10">
              <a:extLst>
                <a:ext uri="{FF2B5EF4-FFF2-40B4-BE49-F238E27FC236}">
                  <a16:creationId xmlns:a16="http://schemas.microsoft.com/office/drawing/2014/main" id="{E5A078BA-5200-4217-B600-ED25DBB3119B}"/>
                </a:ext>
              </a:extLst>
            </p:cNvPr>
            <p:cNvCxnSpPr>
              <a:cxnSpLocks noChangeShapeType="1"/>
              <a:stCxn id="3077" idx="1"/>
            </p:cNvCxnSpPr>
            <p:nvPr/>
          </p:nvCxnSpPr>
          <p:spPr bwMode="auto">
            <a:xfrm rot="10800000" flipH="1">
              <a:off x="295" y="1694"/>
              <a:ext cx="1444" cy="1849"/>
            </a:xfrm>
            <a:prstGeom prst="bentConnector4">
              <a:avLst>
                <a:gd name="adj1" fmla="val -9338"/>
                <a:gd name="adj2" fmla="val 9799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83" name="AutoShape 11">
              <a:extLst>
                <a:ext uri="{FF2B5EF4-FFF2-40B4-BE49-F238E27FC236}">
                  <a16:creationId xmlns:a16="http://schemas.microsoft.com/office/drawing/2014/main" id="{6C915D6C-5B4D-4E93-8A99-D72916FF1A32}"/>
                </a:ext>
              </a:extLst>
            </p:cNvPr>
            <p:cNvCxnSpPr>
              <a:cxnSpLocks noChangeShapeType="1"/>
              <a:stCxn id="3076" idx="3"/>
            </p:cNvCxnSpPr>
            <p:nvPr/>
          </p:nvCxnSpPr>
          <p:spPr bwMode="auto">
            <a:xfrm flipH="1">
              <a:off x="1739" y="2226"/>
              <a:ext cx="722" cy="1635"/>
            </a:xfrm>
            <a:prstGeom prst="bentConnector4">
              <a:avLst>
                <a:gd name="adj1" fmla="val -32255"/>
                <a:gd name="adj2" fmla="val 5973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84" name="Text Box 12">
              <a:extLst>
                <a:ext uri="{FF2B5EF4-FFF2-40B4-BE49-F238E27FC236}">
                  <a16:creationId xmlns:a16="http://schemas.microsoft.com/office/drawing/2014/main" id="{AE0B3E82-1240-410F-A531-4D3CCEAD4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1949"/>
              <a:ext cx="3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Yes
</a:t>
              </a:r>
              <a:endParaRPr lang="lv-LV" altLang="en-US" dirty="0"/>
            </a:p>
          </p:txBody>
        </p:sp>
        <p:sp>
          <p:nvSpPr>
            <p:cNvPr id="3085" name="Text Box 13">
              <a:extLst>
                <a:ext uri="{FF2B5EF4-FFF2-40B4-BE49-F238E27FC236}">
                  <a16:creationId xmlns:a16="http://schemas.microsoft.com/office/drawing/2014/main" id="{51553E90-4C33-4C54-8638-573873602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1949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</a:t>
              </a:r>
            </a:p>
          </p:txBody>
        </p:sp>
      </p:grpSp>
      <p:grpSp>
        <p:nvGrpSpPr>
          <p:cNvPr id="3109" name="Group 37">
            <a:extLst>
              <a:ext uri="{FF2B5EF4-FFF2-40B4-BE49-F238E27FC236}">
                <a16:creationId xmlns:a16="http://schemas.microsoft.com/office/drawing/2014/main" id="{8F11E559-063E-41F9-8633-3A7A34B47F28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2133600"/>
            <a:ext cx="3140075" cy="4103688"/>
            <a:chOff x="3379" y="1344"/>
            <a:chExt cx="1978" cy="2585"/>
          </a:xfrm>
        </p:grpSpPr>
        <p:sp>
          <p:nvSpPr>
            <p:cNvPr id="3097" name="AutoShape 25">
              <a:extLst>
                <a:ext uri="{FF2B5EF4-FFF2-40B4-BE49-F238E27FC236}">
                  <a16:creationId xmlns:a16="http://schemas.microsoft.com/office/drawing/2014/main" id="{B535C985-4489-4D24-9B3E-C9A17B8EB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795"/>
              <a:ext cx="1401" cy="637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Condition</a:t>
              </a:r>
              <a:endParaRPr lang="lv-LV" altLang="en-US" sz="2800" dirty="0"/>
            </a:p>
          </p:txBody>
        </p:sp>
        <p:sp>
          <p:nvSpPr>
            <p:cNvPr id="3098" name="Rectangle 26">
              <a:extLst>
                <a:ext uri="{FF2B5EF4-FFF2-40B4-BE49-F238E27FC236}">
                  <a16:creationId xmlns:a16="http://schemas.microsoft.com/office/drawing/2014/main" id="{3960DA78-3774-4C5E-8013-B53A4AC88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1933"/>
              <a:ext cx="1104" cy="46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800" dirty="0"/>
                <a:t>Operations</a:t>
              </a:r>
              <a:endParaRPr lang="lv-LV" altLang="en-US" sz="2800" dirty="0"/>
            </a:p>
          </p:txBody>
        </p:sp>
        <p:cxnSp>
          <p:nvCxnSpPr>
            <p:cNvPr id="3099" name="AutoShape 27">
              <a:extLst>
                <a:ext uri="{FF2B5EF4-FFF2-40B4-BE49-F238E27FC236}">
                  <a16:creationId xmlns:a16="http://schemas.microsoft.com/office/drawing/2014/main" id="{E8A56FD3-E14D-440F-BA2C-93CA6F76E81B}"/>
                </a:ext>
              </a:extLst>
            </p:cNvPr>
            <p:cNvCxnSpPr>
              <a:cxnSpLocks noChangeShapeType="1"/>
              <a:endCxn id="3097" idx="0"/>
            </p:cNvCxnSpPr>
            <p:nvPr/>
          </p:nvCxnSpPr>
          <p:spPr bwMode="auto">
            <a:xfrm>
              <a:off x="4351" y="2413"/>
              <a:ext cx="1" cy="3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03" name="Text Box 31">
              <a:extLst>
                <a:ext uri="{FF2B5EF4-FFF2-40B4-BE49-F238E27FC236}">
                  <a16:creationId xmlns:a16="http://schemas.microsoft.com/office/drawing/2014/main" id="{D7522796-B0B8-40C8-9491-8D649961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840"/>
              <a:ext cx="3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Yes
</a:t>
              </a:r>
              <a:endParaRPr lang="lv-LV" altLang="en-US" dirty="0"/>
            </a:p>
          </p:txBody>
        </p:sp>
        <p:sp>
          <p:nvSpPr>
            <p:cNvPr id="3104" name="Text Box 32">
              <a:extLst>
                <a:ext uri="{FF2B5EF4-FFF2-40B4-BE49-F238E27FC236}">
                  <a16:creationId xmlns:a16="http://schemas.microsoft.com/office/drawing/2014/main" id="{A358BB74-5741-4920-B8A3-6601429BF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2840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</a:t>
              </a:r>
            </a:p>
          </p:txBody>
        </p:sp>
        <p:cxnSp>
          <p:nvCxnSpPr>
            <p:cNvPr id="3105" name="AutoShape 33">
              <a:extLst>
                <a:ext uri="{FF2B5EF4-FFF2-40B4-BE49-F238E27FC236}">
                  <a16:creationId xmlns:a16="http://schemas.microsoft.com/office/drawing/2014/main" id="{E8545E79-20A6-4EAB-B204-74ED021DC7A1}"/>
                </a:ext>
              </a:extLst>
            </p:cNvPr>
            <p:cNvCxnSpPr>
              <a:cxnSpLocks noChangeShapeType="1"/>
              <a:stCxn id="3097" idx="3"/>
            </p:cNvCxnSpPr>
            <p:nvPr/>
          </p:nvCxnSpPr>
          <p:spPr bwMode="auto">
            <a:xfrm flipH="1">
              <a:off x="4332" y="3114"/>
              <a:ext cx="720" cy="815"/>
            </a:xfrm>
            <a:prstGeom prst="bentConnector4">
              <a:avLst>
                <a:gd name="adj1" fmla="val -41528"/>
                <a:gd name="adj2" fmla="val 6944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06" name="AutoShape 34">
              <a:extLst>
                <a:ext uri="{FF2B5EF4-FFF2-40B4-BE49-F238E27FC236}">
                  <a16:creationId xmlns:a16="http://schemas.microsoft.com/office/drawing/2014/main" id="{0F42A620-01DB-41D5-9322-8A8008C959C2}"/>
                </a:ext>
              </a:extLst>
            </p:cNvPr>
            <p:cNvCxnSpPr>
              <a:cxnSpLocks noChangeShapeType="1"/>
              <a:stCxn id="3097" idx="1"/>
            </p:cNvCxnSpPr>
            <p:nvPr/>
          </p:nvCxnSpPr>
          <p:spPr bwMode="auto">
            <a:xfrm rot="10800000" flipH="1">
              <a:off x="3651" y="1616"/>
              <a:ext cx="681" cy="1498"/>
            </a:xfrm>
            <a:prstGeom prst="bentConnector4">
              <a:avLst>
                <a:gd name="adj1" fmla="val -46551"/>
                <a:gd name="adj2" fmla="val 10019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07" name="Line 35">
              <a:extLst>
                <a:ext uri="{FF2B5EF4-FFF2-40B4-BE49-F238E27FC236}">
                  <a16:creationId xmlns:a16="http://schemas.microsoft.com/office/drawing/2014/main" id="{C573FCE6-F43D-4BC1-97EC-A8F6741DB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" y="1344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10" name="Text Box 38">
            <a:extLst>
              <a:ext uri="{FF2B5EF4-FFF2-40B4-BE49-F238E27FC236}">
                <a16:creationId xmlns:a16="http://schemas.microsoft.com/office/drawing/2014/main" id="{4667F25E-6FD2-4838-8162-C491539E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627188"/>
            <a:ext cx="18982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 sz="2400" dirty="0" err="1"/>
              <a:t>Precondition</a:t>
            </a:r>
            <a:r>
              <a:rPr lang="lv-LV" altLang="en-US" sz="2400" dirty="0"/>
              <a:t>
</a:t>
            </a:r>
          </a:p>
        </p:txBody>
      </p:sp>
      <p:sp>
        <p:nvSpPr>
          <p:cNvPr id="3111" name="Text Box 39">
            <a:extLst>
              <a:ext uri="{FF2B5EF4-FFF2-40B4-BE49-F238E27FC236}">
                <a16:creationId xmlns:a16="http://schemas.microsoft.com/office/drawing/2014/main" id="{3B794231-71E0-4E1C-847C-F00C60878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627188"/>
            <a:ext cx="2034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Postcondition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FAF2959-1DA3-4191-B444-391F77D2F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C++</a:t>
            </a:r>
            <a:r>
              <a:rPr lang="en-US" altLang="en-US" dirty="0"/>
              <a:t> loop types</a:t>
            </a:r>
            <a:endParaRPr lang="lv-LV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AB99509-2C4F-4A4C-9485-301CB95BA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420938"/>
            <a:ext cx="8229600" cy="3705225"/>
          </a:xfrm>
        </p:spPr>
        <p:txBody>
          <a:bodyPr/>
          <a:lstStyle/>
          <a:p>
            <a:r>
              <a:rPr lang="lv-LV" altLang="en-US" b="1" dirty="0" err="1"/>
              <a:t>while</a:t>
            </a:r>
            <a:r>
              <a:rPr lang="lv-LV" altLang="en-US" dirty="0"/>
              <a:t> </a:t>
            </a:r>
            <a:r>
              <a:rPr lang="en-US" altLang="en-US" dirty="0"/>
              <a:t>loop with precondition</a:t>
            </a:r>
          </a:p>
          <a:p>
            <a:r>
              <a:rPr lang="lv-LV" altLang="en-US" b="1" dirty="0" err="1"/>
              <a:t>while</a:t>
            </a:r>
            <a:r>
              <a:rPr lang="lv-LV" altLang="en-US" dirty="0"/>
              <a:t> </a:t>
            </a:r>
            <a:r>
              <a:rPr lang="en-US" altLang="en-US" dirty="0"/>
              <a:t>loop with postcondition</a:t>
            </a:r>
            <a:endParaRPr lang="lv-LV" altLang="en-US" dirty="0"/>
          </a:p>
          <a:p>
            <a:r>
              <a:rPr lang="en-US" altLang="en-US" b="1" dirty="0"/>
              <a:t>f</a:t>
            </a:r>
            <a:r>
              <a:rPr lang="lv-LV" altLang="en-US" b="1" dirty="0" err="1"/>
              <a:t>or</a:t>
            </a:r>
            <a:r>
              <a:rPr lang="en-US" altLang="en-US" b="1" dirty="0"/>
              <a:t> </a:t>
            </a:r>
            <a:r>
              <a:rPr lang="en-US" altLang="en-US" dirty="0"/>
              <a:t>loop</a:t>
            </a:r>
            <a:endParaRPr lang="lv-LV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384D7A-9CD5-4359-A9CF-ECA098F88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</a:t>
            </a:r>
            <a:r>
              <a:rPr lang="lv-LV" altLang="en-US" dirty="0" err="1"/>
              <a:t>hile</a:t>
            </a:r>
            <a:r>
              <a:rPr lang="en-US" altLang="en-US" dirty="0"/>
              <a:t> loop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0A9CA6C-D94D-462C-8E22-5E61169F7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16560" cy="132397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 err="1">
                <a:latin typeface="Courier New" panose="02070309020205020404" pitchFamily="49" charset="0"/>
              </a:rPr>
              <a:t>while</a:t>
            </a:r>
            <a:r>
              <a:rPr lang="lv-LV" altLang="en-US" sz="2000" dirty="0">
                <a:latin typeface="Courier New" panose="02070309020205020404" pitchFamily="49" charset="0"/>
              </a:rPr>
              <a:t> (/* </a:t>
            </a:r>
            <a:r>
              <a:rPr lang="en-US" altLang="en-US" sz="2000" dirty="0">
                <a:latin typeface="Courier New" panose="02070309020205020404" pitchFamily="49" charset="0"/>
              </a:rPr>
              <a:t>Condition</a:t>
            </a:r>
            <a:r>
              <a:rPr lang="lv-LV" altLang="en-US" sz="2000" dirty="0">
                <a:latin typeface="Courier New" panose="02070309020205020404" pitchFamily="49" charset="0"/>
              </a:rPr>
              <a:t> */)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{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id="{E8E23E09-0CC8-4354-9194-C1BA48E49035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854325"/>
            <a:ext cx="3846513" cy="3708400"/>
            <a:chOff x="295" y="1525"/>
            <a:chExt cx="2423" cy="2336"/>
          </a:xfrm>
        </p:grpSpPr>
        <p:sp>
          <p:nvSpPr>
            <p:cNvPr id="5125" name="AutoShape 5">
              <a:extLst>
                <a:ext uri="{FF2B5EF4-FFF2-40B4-BE49-F238E27FC236}">
                  <a16:creationId xmlns:a16="http://schemas.microsoft.com/office/drawing/2014/main" id="{A98485D9-479A-4D81-8504-87C20749D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1907"/>
              <a:ext cx="1401" cy="637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Condition</a:t>
              </a:r>
              <a:endParaRPr lang="lv-LV" altLang="en-US" sz="2800" dirty="0"/>
            </a:p>
          </p:txBody>
        </p:sp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A4591A90-7D58-4BB9-97B0-C2EDA1C46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309"/>
              <a:ext cx="1104" cy="46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Operation</a:t>
              </a:r>
              <a:r>
                <a:rPr lang="lv-LV" altLang="en-US" sz="2800" dirty="0"/>
                <a:t> </a:t>
              </a:r>
            </a:p>
            <a:p>
              <a:pPr algn="ctr"/>
              <a:r>
                <a:rPr lang="lv-LV" altLang="en-US" sz="2800" dirty="0" err="1"/>
                <a:t>sequence</a:t>
              </a:r>
              <a:endParaRPr lang="lv-LV" altLang="en-US" sz="2800" dirty="0"/>
            </a:p>
          </p:txBody>
        </p:sp>
        <p:cxnSp>
          <p:nvCxnSpPr>
            <p:cNvPr id="5127" name="AutoShape 7">
              <a:extLst>
                <a:ext uri="{FF2B5EF4-FFF2-40B4-BE49-F238E27FC236}">
                  <a16:creationId xmlns:a16="http://schemas.microsoft.com/office/drawing/2014/main" id="{42024173-DD95-4F6F-A55F-4B537A6866E6}"/>
                </a:ext>
              </a:extLst>
            </p:cNvPr>
            <p:cNvCxnSpPr>
              <a:cxnSpLocks noChangeShapeType="1"/>
              <a:endCxn id="5125" idx="0"/>
            </p:cNvCxnSpPr>
            <p:nvPr/>
          </p:nvCxnSpPr>
          <p:spPr bwMode="auto">
            <a:xfrm>
              <a:off x="1760" y="1525"/>
              <a:ext cx="1" cy="3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8" name="AutoShape 8">
              <a:extLst>
                <a:ext uri="{FF2B5EF4-FFF2-40B4-BE49-F238E27FC236}">
                  <a16:creationId xmlns:a16="http://schemas.microsoft.com/office/drawing/2014/main" id="{250AA06B-9D9E-49E5-9A56-19C20EBB7763}"/>
                </a:ext>
              </a:extLst>
            </p:cNvPr>
            <p:cNvCxnSpPr>
              <a:cxnSpLocks noChangeShapeType="1"/>
              <a:stCxn id="5125" idx="1"/>
              <a:endCxn id="5126" idx="0"/>
            </p:cNvCxnSpPr>
            <p:nvPr/>
          </p:nvCxnSpPr>
          <p:spPr bwMode="auto">
            <a:xfrm rot="10800000" flipV="1">
              <a:off x="847" y="2225"/>
              <a:ext cx="213" cy="1084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29" name="AutoShape 9">
              <a:extLst>
                <a:ext uri="{FF2B5EF4-FFF2-40B4-BE49-F238E27FC236}">
                  <a16:creationId xmlns:a16="http://schemas.microsoft.com/office/drawing/2014/main" id="{727B91BD-16F0-4AFD-ABE3-E47C047FCA22}"/>
                </a:ext>
              </a:extLst>
            </p:cNvPr>
            <p:cNvCxnSpPr>
              <a:cxnSpLocks noChangeShapeType="1"/>
              <a:stCxn id="5126" idx="1"/>
            </p:cNvCxnSpPr>
            <p:nvPr/>
          </p:nvCxnSpPr>
          <p:spPr bwMode="auto">
            <a:xfrm rot="10800000" flipH="1">
              <a:off x="295" y="1694"/>
              <a:ext cx="1444" cy="1849"/>
            </a:xfrm>
            <a:prstGeom prst="bentConnector4">
              <a:avLst>
                <a:gd name="adj1" fmla="val -9338"/>
                <a:gd name="adj2" fmla="val 9799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30" name="AutoShape 10">
              <a:extLst>
                <a:ext uri="{FF2B5EF4-FFF2-40B4-BE49-F238E27FC236}">
                  <a16:creationId xmlns:a16="http://schemas.microsoft.com/office/drawing/2014/main" id="{2FB22673-E51C-4A26-90CF-4E01C1F1FE10}"/>
                </a:ext>
              </a:extLst>
            </p:cNvPr>
            <p:cNvCxnSpPr>
              <a:cxnSpLocks noChangeShapeType="1"/>
              <a:stCxn id="5125" idx="3"/>
            </p:cNvCxnSpPr>
            <p:nvPr/>
          </p:nvCxnSpPr>
          <p:spPr bwMode="auto">
            <a:xfrm flipH="1">
              <a:off x="1739" y="2226"/>
              <a:ext cx="722" cy="1635"/>
            </a:xfrm>
            <a:prstGeom prst="bentConnector4">
              <a:avLst>
                <a:gd name="adj1" fmla="val -32255"/>
                <a:gd name="adj2" fmla="val 5973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31" name="Text Box 11">
              <a:extLst>
                <a:ext uri="{FF2B5EF4-FFF2-40B4-BE49-F238E27FC236}">
                  <a16:creationId xmlns:a16="http://schemas.microsoft.com/office/drawing/2014/main" id="{D3951119-19AC-44B0-B01F-B7AC800B8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" y="1949"/>
              <a:ext cx="3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Yes
</a:t>
              </a:r>
              <a:endParaRPr lang="lv-LV" altLang="en-US" dirty="0"/>
            </a:p>
          </p:txBody>
        </p:sp>
        <p:sp>
          <p:nvSpPr>
            <p:cNvPr id="5132" name="Text Box 12">
              <a:extLst>
                <a:ext uri="{FF2B5EF4-FFF2-40B4-BE49-F238E27FC236}">
                  <a16:creationId xmlns:a16="http://schemas.microsoft.com/office/drawing/2014/main" id="{3603D53F-A3F3-412C-9338-545CA4ECD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1949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</a:t>
              </a:r>
            </a:p>
          </p:txBody>
        </p:sp>
      </p:grpSp>
      <p:sp>
        <p:nvSpPr>
          <p:cNvPr id="5133" name="Text Box 13">
            <a:extLst>
              <a:ext uri="{FF2B5EF4-FFF2-40B4-BE49-F238E27FC236}">
                <a16:creationId xmlns:a16="http://schemas.microsoft.com/office/drawing/2014/main" id="{BDF33A94-A6A5-4494-BCE9-D8FE00EB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419" y="2139453"/>
            <a:ext cx="18982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 sz="2400" dirty="0"/>
              <a:t>P</a:t>
            </a:r>
            <a:r>
              <a:rPr lang="en-US" altLang="en-US" sz="2400" dirty="0"/>
              <a:t>recondition</a:t>
            </a:r>
            <a:endParaRPr lang="lv-LV" altLang="en-US" sz="2400" dirty="0"/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2E52CE76-8BB5-4B08-AA51-592D52953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284538"/>
            <a:ext cx="40560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4638" indent="-2746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400" dirty="0"/>
              <a:t>A condition check is performed
If the condition is </a:t>
            </a:r>
            <a:r>
              <a:rPr lang="en-US" altLang="en-US" sz="2400" b="1" dirty="0"/>
              <a:t>true</a:t>
            </a:r>
            <a:r>
              <a:rPr lang="en-US" altLang="en-US" sz="2400" dirty="0"/>
              <a:t> (different from zero) the operation sequence is </a:t>
            </a:r>
            <a:r>
              <a:rPr lang="lv-LV" altLang="en-US" sz="2400" dirty="0" err="1"/>
              <a:t>performed</a:t>
            </a:r>
            <a:r>
              <a:rPr lang="en-US" altLang="en-US" sz="2400" dirty="0"/>
              <a:t>
repeat condition check</a:t>
            </a:r>
            <a:r>
              <a:rPr lang="lv-LV" altLang="en-US" sz="2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4DCEF0-AAE7-4237-AA3B-18A2A72CE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while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</a:t>
            </a:r>
            <a:r>
              <a:rPr lang="lv-LV" altLang="en-US" dirty="0" err="1"/>
              <a:t>example</a:t>
            </a:r>
            <a:endParaRPr lang="lv-LV" alt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F8122CA-EA2B-48E7-8C9D-D3C2DF6B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" y="1298575"/>
            <a:ext cx="9144000" cy="10795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lv-LV" altLang="en-US" sz="2400" dirty="0"/>
              <a:t>O</a:t>
            </a:r>
            <a:r>
              <a:rPr lang="en-US" altLang="en-US" sz="2400" dirty="0" err="1"/>
              <a:t>utput</a:t>
            </a:r>
            <a:r>
              <a:rPr lang="en-US" altLang="en-US" sz="2400" dirty="0"/>
              <a:t> all natural numbers squares</a:t>
            </a:r>
            <a:r>
              <a:rPr lang="lv-LV" altLang="en-US" sz="2400" dirty="0"/>
              <a:t> </a:t>
            </a:r>
            <a:r>
              <a:rPr lang="en-US" altLang="en-US" sz="2400" dirty="0"/>
              <a:t>that does not exceed the given n </a:t>
            </a:r>
            <a:r>
              <a:rPr lang="lv-LV" altLang="en-US" sz="2400" dirty="0"/>
              <a:t>(f</a:t>
            </a:r>
            <a:r>
              <a:rPr lang="en-US" altLang="en-US" sz="2400" dirty="0"/>
              <a:t>or example, if n = 50 </a:t>
            </a:r>
            <a:r>
              <a:rPr lang="lv-LV" altLang="en-US" sz="2400" dirty="0"/>
              <a:t>t</a:t>
            </a:r>
            <a:r>
              <a:rPr lang="en-US" altLang="en-US" sz="2400" dirty="0"/>
              <a:t>he program should output 1 4 9 16 25 36 49</a:t>
            </a:r>
            <a:r>
              <a:rPr lang="lv-LV" altLang="en-US" sz="2400" dirty="0"/>
              <a:t>).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587C35F-7C98-42D0-A704-954626523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348880"/>
            <a:ext cx="4413250" cy="4500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int main 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int n 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cout &lt;&lt; "Input n: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cin &gt;&gt; n;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int i = 1;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while(i*i &lt;= n)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    cout &lt;&lt; (i*i) &lt;&lt; "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    ++i;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cout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system 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70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6169" name="Group 25">
            <a:extLst>
              <a:ext uri="{FF2B5EF4-FFF2-40B4-BE49-F238E27FC236}">
                <a16:creationId xmlns:a16="http://schemas.microsoft.com/office/drawing/2014/main" id="{CEEC209E-F0F1-4CBB-A0BE-07D91FFDA046}"/>
              </a:ext>
            </a:extLst>
          </p:cNvPr>
          <p:cNvGrpSpPr>
            <a:grpSpLocks/>
          </p:cNvGrpSpPr>
          <p:nvPr/>
        </p:nvGrpSpPr>
        <p:grpSpPr bwMode="auto">
          <a:xfrm>
            <a:off x="4846638" y="2352675"/>
            <a:ext cx="4176712" cy="4111625"/>
            <a:chOff x="2925" y="1298"/>
            <a:chExt cx="2948" cy="2903"/>
          </a:xfrm>
        </p:grpSpPr>
        <p:sp>
          <p:nvSpPr>
            <p:cNvPr id="6149" name="AutoShape 5">
              <a:extLst>
                <a:ext uri="{FF2B5EF4-FFF2-40B4-BE49-F238E27FC236}">
                  <a16:creationId xmlns:a16="http://schemas.microsoft.com/office/drawing/2014/main" id="{AD25697D-AEA5-475C-8245-BB1FB445E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1298"/>
              <a:ext cx="1044" cy="36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/>
                <a:t>Start</a:t>
              </a:r>
            </a:p>
          </p:txBody>
        </p:sp>
        <p:sp>
          <p:nvSpPr>
            <p:cNvPr id="6150" name="AutoShape 6">
              <a:extLst>
                <a:ext uri="{FF2B5EF4-FFF2-40B4-BE49-F238E27FC236}">
                  <a16:creationId xmlns:a16="http://schemas.microsoft.com/office/drawing/2014/main" id="{92434669-DF86-43EB-96CD-2174B6CE8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933"/>
              <a:ext cx="1315" cy="318"/>
            </a:xfrm>
            <a:prstGeom prst="parallelogram">
              <a:avLst>
                <a:gd name="adj" fmla="val 1033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n</a:t>
              </a:r>
            </a:p>
          </p:txBody>
        </p:sp>
        <p:sp>
          <p:nvSpPr>
            <p:cNvPr id="6151" name="AutoShape 7">
              <a:extLst>
                <a:ext uri="{FF2B5EF4-FFF2-40B4-BE49-F238E27FC236}">
                  <a16:creationId xmlns:a16="http://schemas.microsoft.com/office/drawing/2014/main" id="{2278EB45-8175-4D86-80DC-137FCE771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2523"/>
              <a:ext cx="1271" cy="545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400"/>
                <a:t>i*i &lt;= n</a:t>
              </a:r>
            </a:p>
          </p:txBody>
        </p:sp>
        <p:sp>
          <p:nvSpPr>
            <p:cNvPr id="6152" name="AutoShape 8">
              <a:extLst>
                <a:ext uri="{FF2B5EF4-FFF2-40B4-BE49-F238E27FC236}">
                  <a16:creationId xmlns:a16="http://schemas.microsoft.com/office/drawing/2014/main" id="{6B1F6F46-0A78-4FFE-82FC-AACA34663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158"/>
              <a:ext cx="1315" cy="318"/>
            </a:xfrm>
            <a:prstGeom prst="parallelogram">
              <a:avLst>
                <a:gd name="adj" fmla="val 1033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i*i</a:t>
              </a:r>
            </a:p>
          </p:txBody>
        </p:sp>
        <p:sp>
          <p:nvSpPr>
            <p:cNvPr id="6153" name="Rectangle 9">
              <a:extLst>
                <a:ext uri="{FF2B5EF4-FFF2-40B4-BE49-F238E27FC236}">
                  <a16:creationId xmlns:a16="http://schemas.microsoft.com/office/drawing/2014/main" id="{5383BA58-049F-4059-AB75-76E31075C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" y="3748"/>
              <a:ext cx="1112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++i</a:t>
              </a:r>
            </a:p>
          </p:txBody>
        </p:sp>
        <p:sp>
          <p:nvSpPr>
            <p:cNvPr id="6154" name="AutoShape 10">
              <a:extLst>
                <a:ext uri="{FF2B5EF4-FFF2-40B4-BE49-F238E27FC236}">
                  <a16:creationId xmlns:a16="http://schemas.microsoft.com/office/drawing/2014/main" id="{A90444F3-8CA3-4039-8B87-237FBB60B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158"/>
              <a:ext cx="1043" cy="36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End</a:t>
              </a:r>
              <a:endParaRPr lang="lv-LV" altLang="en-US" sz="2800" dirty="0"/>
            </a:p>
          </p:txBody>
        </p:sp>
        <p:cxnSp>
          <p:nvCxnSpPr>
            <p:cNvPr id="6155" name="AutoShape 11">
              <a:extLst>
                <a:ext uri="{FF2B5EF4-FFF2-40B4-BE49-F238E27FC236}">
                  <a16:creationId xmlns:a16="http://schemas.microsoft.com/office/drawing/2014/main" id="{8C6262E8-4DDB-4E13-95AC-DEEE48BABE6E}"/>
                </a:ext>
              </a:extLst>
            </p:cNvPr>
            <p:cNvCxnSpPr>
              <a:cxnSpLocks noChangeShapeType="1"/>
              <a:stCxn id="6149" idx="2"/>
              <a:endCxn id="6150" idx="1"/>
            </p:cNvCxnSpPr>
            <p:nvPr/>
          </p:nvCxnSpPr>
          <p:spPr bwMode="auto">
            <a:xfrm rot="5400000">
              <a:off x="4400" y="1797"/>
              <a:ext cx="27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56" name="AutoShape 12">
              <a:extLst>
                <a:ext uri="{FF2B5EF4-FFF2-40B4-BE49-F238E27FC236}">
                  <a16:creationId xmlns:a16="http://schemas.microsoft.com/office/drawing/2014/main" id="{CE24C9FA-EFB6-4735-A500-546646BFD9D5}"/>
                </a:ext>
              </a:extLst>
            </p:cNvPr>
            <p:cNvCxnSpPr>
              <a:cxnSpLocks noChangeShapeType="1"/>
              <a:stCxn id="6150" idx="4"/>
              <a:endCxn id="6151" idx="0"/>
            </p:cNvCxnSpPr>
            <p:nvPr/>
          </p:nvCxnSpPr>
          <p:spPr bwMode="auto">
            <a:xfrm rot="16200000" flipH="1">
              <a:off x="4401" y="2386"/>
              <a:ext cx="272" cy="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57" name="AutoShape 13">
              <a:extLst>
                <a:ext uri="{FF2B5EF4-FFF2-40B4-BE49-F238E27FC236}">
                  <a16:creationId xmlns:a16="http://schemas.microsoft.com/office/drawing/2014/main" id="{FEF456D5-C1E0-4A94-AA42-5806FC67F829}"/>
                </a:ext>
              </a:extLst>
            </p:cNvPr>
            <p:cNvCxnSpPr>
              <a:cxnSpLocks noChangeShapeType="1"/>
              <a:stCxn id="6151" idx="1"/>
              <a:endCxn id="6152" idx="1"/>
            </p:cNvCxnSpPr>
            <p:nvPr/>
          </p:nvCxnSpPr>
          <p:spPr bwMode="auto">
            <a:xfrm rot="10800000" flipV="1">
              <a:off x="3674" y="2796"/>
              <a:ext cx="228" cy="362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58" name="AutoShape 14">
              <a:extLst>
                <a:ext uri="{FF2B5EF4-FFF2-40B4-BE49-F238E27FC236}">
                  <a16:creationId xmlns:a16="http://schemas.microsoft.com/office/drawing/2014/main" id="{5864B430-0DDF-4B32-A026-972DA4A55C10}"/>
                </a:ext>
              </a:extLst>
            </p:cNvPr>
            <p:cNvCxnSpPr>
              <a:cxnSpLocks noChangeShapeType="1"/>
              <a:stCxn id="6152" idx="4"/>
              <a:endCxn id="6153" idx="0"/>
            </p:cNvCxnSpPr>
            <p:nvPr/>
          </p:nvCxnSpPr>
          <p:spPr bwMode="auto">
            <a:xfrm rot="5400000">
              <a:off x="3537" y="3610"/>
              <a:ext cx="272" cy="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59" name="AutoShape 15">
              <a:extLst>
                <a:ext uri="{FF2B5EF4-FFF2-40B4-BE49-F238E27FC236}">
                  <a16:creationId xmlns:a16="http://schemas.microsoft.com/office/drawing/2014/main" id="{456ECB9E-4A0E-438E-B348-729115FA0C85}"/>
                </a:ext>
              </a:extLst>
            </p:cNvPr>
            <p:cNvCxnSpPr>
              <a:cxnSpLocks noChangeShapeType="1"/>
              <a:stCxn id="6151" idx="3"/>
              <a:endCxn id="6154" idx="0"/>
            </p:cNvCxnSpPr>
            <p:nvPr/>
          </p:nvCxnSpPr>
          <p:spPr bwMode="auto">
            <a:xfrm>
              <a:off x="5173" y="2796"/>
              <a:ext cx="179" cy="362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62" name="Text Box 18">
              <a:extLst>
                <a:ext uri="{FF2B5EF4-FFF2-40B4-BE49-F238E27FC236}">
                  <a16:creationId xmlns:a16="http://schemas.microsoft.com/office/drawing/2014/main" id="{E24BC24B-7D93-466E-94A5-F9DCA6DBF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" y="2523"/>
              <a:ext cx="432" cy="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 dirty="0" err="1"/>
                <a:t>Yes</a:t>
              </a:r>
              <a:r>
                <a:rPr lang="lv-LV" altLang="en-US" dirty="0"/>
                <a:t>
</a:t>
              </a:r>
            </a:p>
          </p:txBody>
        </p:sp>
        <p:sp>
          <p:nvSpPr>
            <p:cNvPr id="6163" name="Text Box 19">
              <a:extLst>
                <a:ext uri="{FF2B5EF4-FFF2-40B4-BE49-F238E27FC236}">
                  <a16:creationId xmlns:a16="http://schemas.microsoft.com/office/drawing/2014/main" id="{6E26D57F-8AFD-473F-BD59-52336C391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4" y="2523"/>
              <a:ext cx="33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</a:t>
              </a:r>
            </a:p>
          </p:txBody>
        </p:sp>
        <p:sp>
          <p:nvSpPr>
            <p:cNvPr id="6164" name="Line 20">
              <a:extLst>
                <a:ext uri="{FF2B5EF4-FFF2-40B4-BE49-F238E27FC236}">
                  <a16:creationId xmlns:a16="http://schemas.microsoft.com/office/drawing/2014/main" id="{BFCF41EA-30C7-4080-9AF2-196C55BEA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406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Line 21">
              <a:extLst>
                <a:ext uri="{FF2B5EF4-FFF2-40B4-BE49-F238E27FC236}">
                  <a16:creationId xmlns:a16="http://schemas.microsoft.com/office/drawing/2014/main" id="{D09224B3-ED84-46A3-95F2-5F8503F57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4201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22">
              <a:extLst>
                <a:ext uri="{FF2B5EF4-FFF2-40B4-BE49-F238E27FC236}">
                  <a16:creationId xmlns:a16="http://schemas.microsoft.com/office/drawing/2014/main" id="{D4C484DF-A83C-48C4-9842-D85C2F640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2387"/>
              <a:ext cx="0" cy="18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Line 24">
              <a:extLst>
                <a:ext uri="{FF2B5EF4-FFF2-40B4-BE49-F238E27FC236}">
                  <a16:creationId xmlns:a16="http://schemas.microsoft.com/office/drawing/2014/main" id="{EF5F7AB6-C577-4D79-B723-F867F62DE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387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154BBF-C958-4948-8E1D-238F9AD2D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while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</a:t>
            </a:r>
            <a:r>
              <a:rPr lang="lv-LV" altLang="en-US" dirty="0" err="1"/>
              <a:t>practice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B93541D-CA48-4573-9510-9BBB9F0A3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dirty="0"/>
              <a:t>Input </a:t>
            </a:r>
            <a:r>
              <a:rPr lang="lv-LV" altLang="en-US" dirty="0" err="1"/>
              <a:t>integer</a:t>
            </a:r>
            <a:r>
              <a:rPr lang="lv-LV" altLang="en-US" dirty="0"/>
              <a:t> </a:t>
            </a:r>
            <a:r>
              <a:rPr lang="en-US" altLang="en-US" b="1" dirty="0"/>
              <a:t>n</a:t>
            </a:r>
            <a:r>
              <a:rPr lang="en-US" altLang="en-US" dirty="0"/>
              <a:t>. Write the program that calculates the sum of the digits of a number.
</a:t>
            </a:r>
            <a:endParaRPr lang="lv-LV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F17528-4E66-4B6C-B4F7-F4AAA4F04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do-</a:t>
            </a:r>
            <a:r>
              <a:rPr lang="en-US" altLang="en-US" dirty="0"/>
              <a:t>w</a:t>
            </a:r>
            <a:r>
              <a:rPr lang="lv-LV" altLang="en-US" dirty="0" err="1"/>
              <a:t>hile</a:t>
            </a:r>
            <a:r>
              <a:rPr lang="en-US" altLang="en-US" dirty="0"/>
              <a:t> loop</a:t>
            </a:r>
            <a:endParaRPr lang="lv-LV" altLang="en-US" dirty="0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2DF3841-1394-40AE-91A7-FFEA56641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1" y="1384052"/>
            <a:ext cx="5400600" cy="16129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do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{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    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 */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>
                <a:latin typeface="Courier New" panose="02070309020205020404" pitchFamily="49" charset="0"/>
              </a:rPr>
              <a:t>}</a:t>
            </a:r>
          </a:p>
          <a:p>
            <a:pPr marL="609600" indent="-6096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 dirty="0" err="1">
                <a:latin typeface="Courier New" panose="02070309020205020404" pitchFamily="49" charset="0"/>
              </a:rPr>
              <a:t>while</a:t>
            </a:r>
            <a:r>
              <a:rPr lang="lv-LV" altLang="en-US" sz="2000" dirty="0">
                <a:latin typeface="Courier New" panose="02070309020205020404" pitchFamily="49" charset="0"/>
              </a:rPr>
              <a:t>(/* </a:t>
            </a:r>
            <a:r>
              <a:rPr lang="lv-LV" altLang="en-US" sz="20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2000" dirty="0">
                <a:latin typeface="Courier New" panose="02070309020205020404" pitchFamily="49" charset="0"/>
              </a:rPr>
              <a:t>*/)</a:t>
            </a:r>
          </a:p>
          <a:p>
            <a:pPr marL="609600" indent="-609600">
              <a:lnSpc>
                <a:spcPct val="80000"/>
              </a:lnSpc>
            </a:pPr>
            <a:endParaRPr lang="lv-LV" altLang="en-US" sz="2000" dirty="0">
              <a:latin typeface="Courier New" panose="02070309020205020404" pitchFamily="49" charset="0"/>
            </a:endParaRPr>
          </a:p>
        </p:txBody>
      </p:sp>
      <p:grpSp>
        <p:nvGrpSpPr>
          <p:cNvPr id="8197" name="Group 5">
            <a:extLst>
              <a:ext uri="{FF2B5EF4-FFF2-40B4-BE49-F238E27FC236}">
                <a16:creationId xmlns:a16="http://schemas.microsoft.com/office/drawing/2014/main" id="{3945A26B-B365-4675-AEDE-00F0C6E1CFCE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206625"/>
            <a:ext cx="3143250" cy="4103688"/>
            <a:chOff x="3379" y="1344"/>
            <a:chExt cx="1980" cy="2585"/>
          </a:xfrm>
        </p:grpSpPr>
        <p:sp>
          <p:nvSpPr>
            <p:cNvPr id="8198" name="AutoShape 6">
              <a:extLst>
                <a:ext uri="{FF2B5EF4-FFF2-40B4-BE49-F238E27FC236}">
                  <a16:creationId xmlns:a16="http://schemas.microsoft.com/office/drawing/2014/main" id="{9C476468-C9D3-4A03-A56D-F94C18A31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795"/>
              <a:ext cx="1401" cy="637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Condition</a:t>
              </a:r>
              <a:endParaRPr lang="lv-LV" altLang="en-US" sz="2800" dirty="0"/>
            </a:p>
          </p:txBody>
        </p:sp>
        <p:sp>
          <p:nvSpPr>
            <p:cNvPr id="8199" name="Rectangle 7">
              <a:extLst>
                <a:ext uri="{FF2B5EF4-FFF2-40B4-BE49-F238E27FC236}">
                  <a16:creationId xmlns:a16="http://schemas.microsoft.com/office/drawing/2014/main" id="{6639A0A6-3239-4D07-B8F6-D42F59FA7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1933"/>
              <a:ext cx="1104" cy="46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Operation</a:t>
              </a:r>
              <a:r>
                <a:rPr lang="lv-LV" altLang="en-US" sz="2800" dirty="0"/>
                <a:t> </a:t>
              </a:r>
            </a:p>
            <a:p>
              <a:pPr algn="ctr"/>
              <a:r>
                <a:rPr lang="lv-LV" altLang="en-US" sz="2800" dirty="0" err="1"/>
                <a:t>sequence</a:t>
              </a:r>
              <a:endParaRPr lang="lv-LV" altLang="en-US" sz="2800" dirty="0"/>
            </a:p>
          </p:txBody>
        </p:sp>
        <p:cxnSp>
          <p:nvCxnSpPr>
            <p:cNvPr id="8200" name="AutoShape 8">
              <a:extLst>
                <a:ext uri="{FF2B5EF4-FFF2-40B4-BE49-F238E27FC236}">
                  <a16:creationId xmlns:a16="http://schemas.microsoft.com/office/drawing/2014/main" id="{7FE9E34C-E0D7-4491-ACDA-6C520979A634}"/>
                </a:ext>
              </a:extLst>
            </p:cNvPr>
            <p:cNvCxnSpPr>
              <a:cxnSpLocks noChangeShapeType="1"/>
              <a:endCxn id="8198" idx="0"/>
            </p:cNvCxnSpPr>
            <p:nvPr/>
          </p:nvCxnSpPr>
          <p:spPr bwMode="auto">
            <a:xfrm>
              <a:off x="4351" y="2413"/>
              <a:ext cx="1" cy="38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201" name="Text Box 9">
              <a:extLst>
                <a:ext uri="{FF2B5EF4-FFF2-40B4-BE49-F238E27FC236}">
                  <a16:creationId xmlns:a16="http://schemas.microsoft.com/office/drawing/2014/main" id="{81C99198-A6AE-4593-8B4A-01E20E498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840"/>
              <a:ext cx="3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Yes
</a:t>
              </a:r>
              <a:endParaRPr lang="lv-LV" altLang="en-US" dirty="0"/>
            </a:p>
          </p:txBody>
        </p:sp>
        <p:sp>
          <p:nvSpPr>
            <p:cNvPr id="8202" name="Text Box 10">
              <a:extLst>
                <a:ext uri="{FF2B5EF4-FFF2-40B4-BE49-F238E27FC236}">
                  <a16:creationId xmlns:a16="http://schemas.microsoft.com/office/drawing/2014/main" id="{C3D73264-BC2A-428F-AEFE-DEAFE12CF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2840"/>
              <a:ext cx="3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
</a:t>
              </a:r>
            </a:p>
          </p:txBody>
        </p:sp>
        <p:cxnSp>
          <p:nvCxnSpPr>
            <p:cNvPr id="8203" name="AutoShape 11">
              <a:extLst>
                <a:ext uri="{FF2B5EF4-FFF2-40B4-BE49-F238E27FC236}">
                  <a16:creationId xmlns:a16="http://schemas.microsoft.com/office/drawing/2014/main" id="{77B178C2-6D87-49DC-BC76-687DC209D23A}"/>
                </a:ext>
              </a:extLst>
            </p:cNvPr>
            <p:cNvCxnSpPr>
              <a:cxnSpLocks noChangeShapeType="1"/>
              <a:stCxn id="8198" idx="3"/>
            </p:cNvCxnSpPr>
            <p:nvPr/>
          </p:nvCxnSpPr>
          <p:spPr bwMode="auto">
            <a:xfrm flipH="1">
              <a:off x="4332" y="3114"/>
              <a:ext cx="720" cy="815"/>
            </a:xfrm>
            <a:prstGeom prst="bentConnector4">
              <a:avLst>
                <a:gd name="adj1" fmla="val -41528"/>
                <a:gd name="adj2" fmla="val 6944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4" name="AutoShape 12">
              <a:extLst>
                <a:ext uri="{FF2B5EF4-FFF2-40B4-BE49-F238E27FC236}">
                  <a16:creationId xmlns:a16="http://schemas.microsoft.com/office/drawing/2014/main" id="{6AD0FAD7-D17B-4561-93EF-98EDC17D331A}"/>
                </a:ext>
              </a:extLst>
            </p:cNvPr>
            <p:cNvCxnSpPr>
              <a:cxnSpLocks noChangeShapeType="1"/>
              <a:stCxn id="8198" idx="1"/>
            </p:cNvCxnSpPr>
            <p:nvPr/>
          </p:nvCxnSpPr>
          <p:spPr bwMode="auto">
            <a:xfrm rot="10800000" flipH="1">
              <a:off x="3651" y="1616"/>
              <a:ext cx="681" cy="1498"/>
            </a:xfrm>
            <a:prstGeom prst="bentConnector4">
              <a:avLst>
                <a:gd name="adj1" fmla="val -46551"/>
                <a:gd name="adj2" fmla="val 10019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205" name="Line 13">
              <a:extLst>
                <a:ext uri="{FF2B5EF4-FFF2-40B4-BE49-F238E27FC236}">
                  <a16:creationId xmlns:a16="http://schemas.microsoft.com/office/drawing/2014/main" id="{C4745FE9-F013-4BFD-B6EA-3E662A9CA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" y="1344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06" name="Text Box 14">
            <a:extLst>
              <a:ext uri="{FF2B5EF4-FFF2-40B4-BE49-F238E27FC236}">
                <a16:creationId xmlns:a16="http://schemas.microsoft.com/office/drawing/2014/main" id="{A3D0D4B4-D84E-41C1-8FD2-29A36C95A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1700213"/>
            <a:ext cx="2034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lv-LV" altLang="en-US" sz="2400" dirty="0" err="1"/>
              <a:t>Postcondition</a:t>
            </a:r>
            <a:endParaRPr lang="lv-LV" altLang="en-US" sz="2400" dirty="0"/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8B499B4B-50A6-422A-8398-D5C3CF0D5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212976"/>
            <a:ext cx="48958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400" dirty="0"/>
              <a:t>A condition check occurs after an operation sequence is executed.
The </a:t>
            </a:r>
            <a:r>
              <a:rPr lang="lv-LV" altLang="en-US" sz="2400" dirty="0" err="1"/>
              <a:t>operation</a:t>
            </a:r>
            <a:r>
              <a:rPr lang="lv-LV" altLang="en-US" sz="2400" dirty="0"/>
              <a:t> </a:t>
            </a:r>
            <a:r>
              <a:rPr lang="en-US" altLang="en-US" sz="2400" dirty="0"/>
              <a:t>sequence will be performed at least once!!!
This can lead to mistakes, so the do-while </a:t>
            </a:r>
            <a:r>
              <a:rPr lang="lv-LV" altLang="en-US" sz="2400" dirty="0" err="1"/>
              <a:t>loop</a:t>
            </a:r>
            <a:r>
              <a:rPr lang="lv-LV" altLang="en-US" sz="2400" dirty="0"/>
              <a:t> </a:t>
            </a:r>
            <a:r>
              <a:rPr lang="en-US" altLang="en-US" sz="2400" dirty="0"/>
              <a:t>should be used only when it simplifies the algorithm.</a:t>
            </a:r>
            <a:endParaRPr lang="lv-LV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C379AF-102C-4365-AE0D-4C2FE611C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do-</a:t>
            </a:r>
            <a:r>
              <a:rPr lang="lv-LV" altLang="en-US" dirty="0" err="1"/>
              <a:t>while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</a:t>
            </a:r>
            <a:r>
              <a:rPr lang="lv-LV" altLang="en-US" dirty="0" err="1"/>
              <a:t>example</a:t>
            </a:r>
            <a:endParaRPr lang="lv-LV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2A64CAE-EF81-47AD-AC63-AB9F51D2B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" y="1209675"/>
            <a:ext cx="6156325" cy="9239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lv-LV" altLang="en-US" sz="2000" dirty="0"/>
              <a:t>U</a:t>
            </a:r>
            <a:r>
              <a:rPr lang="en-US" altLang="en-US" sz="2000" dirty="0"/>
              <a:t>ser inputs </a:t>
            </a:r>
            <a:r>
              <a:rPr lang="lv-LV" altLang="en-US" sz="2000" dirty="0" err="1"/>
              <a:t>integer</a:t>
            </a:r>
            <a:r>
              <a:rPr lang="en-US" altLang="en-US" sz="2000" dirty="0"/>
              <a:t> numbers from the keyboard. To </a:t>
            </a:r>
            <a:r>
              <a:rPr lang="lv-LV" altLang="en-US" sz="2000" dirty="0" err="1"/>
              <a:t>finish</a:t>
            </a:r>
            <a:r>
              <a:rPr lang="en-US" altLang="en-US" sz="2000" dirty="0"/>
              <a:t> input press 0. </a:t>
            </a:r>
            <a:r>
              <a:rPr lang="lv-LV" altLang="en-US" sz="2000" dirty="0" err="1"/>
              <a:t>Program</a:t>
            </a:r>
            <a:r>
              <a:rPr lang="lv-LV" altLang="en-US" sz="2000" dirty="0"/>
              <a:t> </a:t>
            </a:r>
            <a:r>
              <a:rPr lang="lv-LV" altLang="en-US" sz="2000" dirty="0" err="1"/>
              <a:t>outputs</a:t>
            </a:r>
            <a:r>
              <a:rPr lang="en-US" altLang="en-US" sz="2000" dirty="0"/>
              <a:t> the sum of all numbers </a:t>
            </a:r>
            <a:r>
              <a:rPr lang="lv-LV" altLang="en-US" sz="2000" dirty="0" err="1"/>
              <a:t>user</a:t>
            </a:r>
            <a:r>
              <a:rPr lang="en-US" altLang="en-US" sz="2000" dirty="0"/>
              <a:t> ha</a:t>
            </a:r>
            <a:r>
              <a:rPr lang="lv-LV" altLang="en-US" sz="2000" dirty="0"/>
              <a:t>s</a:t>
            </a:r>
            <a:r>
              <a:rPr lang="en-US" altLang="en-US" sz="2000" dirty="0"/>
              <a:t> entered.
</a:t>
            </a:r>
            <a:endParaRPr lang="lv-LV" altLang="en-US" sz="2400" dirty="0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EC175EAB-B9B0-4622-86BB-9D419A96D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245568"/>
            <a:ext cx="5421312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int sum=0, n;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do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 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"Input n: ";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    </a:t>
            </a:r>
            <a:r>
              <a:rPr lang="en-US" altLang="en-US" dirty="0" err="1">
                <a:latin typeface="Courier New" panose="02070309020205020404" pitchFamily="49" charset="0"/>
              </a:rPr>
              <a:t>cin</a:t>
            </a:r>
            <a:r>
              <a:rPr lang="en-US" altLang="en-US" dirty="0">
                <a:latin typeface="Courier New" panose="02070309020205020404" pitchFamily="49" charset="0"/>
              </a:rPr>
              <a:t> &gt;&gt; n;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    sum += n;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while(n!=0);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"Sum: " &lt;&lt; sum &lt;&lt; </a:t>
            </a:r>
            <a:r>
              <a:rPr lang="en-US" altLang="en-US" dirty="0" err="1">
                <a:latin typeface="Courier New" panose="02070309020205020404" pitchFamily="49" charset="0"/>
              </a:rPr>
              <a:t>endl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system 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    return 0 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en-US" altLang="en-US" dirty="0">
                <a:latin typeface="Courier New" panose="02070309020205020404" pitchFamily="49" charset="0"/>
              </a:rPr>
              <a:t>}</a:t>
            </a:r>
            <a:endParaRPr lang="lv-LV" altLang="en-US" dirty="0">
              <a:latin typeface="Courier New" panose="02070309020205020404" pitchFamily="49" charset="0"/>
            </a:endParaRPr>
          </a:p>
        </p:txBody>
      </p:sp>
      <p:grpSp>
        <p:nvGrpSpPr>
          <p:cNvPr id="9245" name="Group 29">
            <a:extLst>
              <a:ext uri="{FF2B5EF4-FFF2-40B4-BE49-F238E27FC236}">
                <a16:creationId xmlns:a16="http://schemas.microsoft.com/office/drawing/2014/main" id="{ABAFE00E-725C-4C2D-984D-D6A85CD4904E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196975"/>
            <a:ext cx="2711450" cy="5483225"/>
            <a:chOff x="3787" y="754"/>
            <a:chExt cx="1708" cy="3454"/>
          </a:xfrm>
        </p:grpSpPr>
        <p:sp>
          <p:nvSpPr>
            <p:cNvPr id="9222" name="AutoShape 6">
              <a:extLst>
                <a:ext uri="{FF2B5EF4-FFF2-40B4-BE49-F238E27FC236}">
                  <a16:creationId xmlns:a16="http://schemas.microsoft.com/office/drawing/2014/main" id="{C849D5F0-C909-4B6F-BE1A-655FC4AD3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754"/>
              <a:ext cx="932" cy="32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/>
                <a:t>Start</a:t>
              </a:r>
            </a:p>
          </p:txBody>
        </p:sp>
        <p:sp>
          <p:nvSpPr>
            <p:cNvPr id="9223" name="AutoShape 7">
              <a:extLst>
                <a:ext uri="{FF2B5EF4-FFF2-40B4-BE49-F238E27FC236}">
                  <a16:creationId xmlns:a16="http://schemas.microsoft.com/office/drawing/2014/main" id="{8BF09331-4123-4CA6-AE1C-5C6EAA611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797"/>
              <a:ext cx="1173" cy="283"/>
            </a:xfrm>
            <a:prstGeom prst="parallelogram">
              <a:avLst>
                <a:gd name="adj" fmla="val 10362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3600"/>
                <a:t>n</a:t>
              </a:r>
            </a:p>
          </p:txBody>
        </p:sp>
        <p:sp>
          <p:nvSpPr>
            <p:cNvPr id="9224" name="AutoShape 8">
              <a:extLst>
                <a:ext uri="{FF2B5EF4-FFF2-40B4-BE49-F238E27FC236}">
                  <a16:creationId xmlns:a16="http://schemas.microsoft.com/office/drawing/2014/main" id="{DF4BCD6F-1666-4A46-836B-7631DD06E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2750"/>
              <a:ext cx="1134" cy="48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400"/>
                <a:t>n!=0</a:t>
              </a:r>
            </a:p>
          </p:txBody>
        </p:sp>
        <p:sp>
          <p:nvSpPr>
            <p:cNvPr id="9225" name="AutoShape 9">
              <a:extLst>
                <a:ext uri="{FF2B5EF4-FFF2-40B4-BE49-F238E27FC236}">
                  <a16:creationId xmlns:a16="http://schemas.microsoft.com/office/drawing/2014/main" id="{ABCF6041-628A-4DC9-BAD2-36856ACDB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385"/>
              <a:ext cx="1174" cy="284"/>
            </a:xfrm>
            <a:prstGeom prst="parallelogram">
              <a:avLst>
                <a:gd name="adj" fmla="val 10334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/>
                <a:t>sum</a:t>
              </a:r>
            </a:p>
          </p:txBody>
        </p:sp>
        <p:sp>
          <p:nvSpPr>
            <p:cNvPr id="9226" name="Rectangle 10">
              <a:extLst>
                <a:ext uri="{FF2B5EF4-FFF2-40B4-BE49-F238E27FC236}">
                  <a16:creationId xmlns:a16="http://schemas.microsoft.com/office/drawing/2014/main" id="{B78D4401-3A62-4C22-8B9F-C0B40728F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296"/>
              <a:ext cx="992" cy="2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/>
                <a:t>sum+=n</a:t>
              </a:r>
            </a:p>
          </p:txBody>
        </p:sp>
        <p:sp>
          <p:nvSpPr>
            <p:cNvPr id="9227" name="AutoShape 11">
              <a:extLst>
                <a:ext uri="{FF2B5EF4-FFF2-40B4-BE49-F238E27FC236}">
                  <a16:creationId xmlns:a16="http://schemas.microsoft.com/office/drawing/2014/main" id="{8B01B6B8-3759-4BF0-A51F-0DB7B8723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3884"/>
              <a:ext cx="931" cy="32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 dirty="0" err="1"/>
                <a:t>End</a:t>
              </a:r>
              <a:endParaRPr lang="lv-LV" altLang="en-US" sz="2800" dirty="0"/>
            </a:p>
          </p:txBody>
        </p:sp>
        <p:cxnSp>
          <p:nvCxnSpPr>
            <p:cNvPr id="9230" name="AutoShape 14">
              <a:extLst>
                <a:ext uri="{FF2B5EF4-FFF2-40B4-BE49-F238E27FC236}">
                  <a16:creationId xmlns:a16="http://schemas.microsoft.com/office/drawing/2014/main" id="{9BD053FA-B4E6-4854-8933-9A6D569E1C52}"/>
                </a:ext>
              </a:extLst>
            </p:cNvPr>
            <p:cNvCxnSpPr>
              <a:cxnSpLocks noChangeShapeType="1"/>
              <a:stCxn id="9224" idx="1"/>
            </p:cNvCxnSpPr>
            <p:nvPr/>
          </p:nvCxnSpPr>
          <p:spPr bwMode="auto">
            <a:xfrm rot="10800000" flipH="1">
              <a:off x="4121" y="1661"/>
              <a:ext cx="589" cy="1332"/>
            </a:xfrm>
            <a:prstGeom prst="bentConnector4">
              <a:avLst>
                <a:gd name="adj1" fmla="val -56708"/>
                <a:gd name="adj2" fmla="val 9984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32" name="AutoShape 16">
              <a:extLst>
                <a:ext uri="{FF2B5EF4-FFF2-40B4-BE49-F238E27FC236}">
                  <a16:creationId xmlns:a16="http://schemas.microsoft.com/office/drawing/2014/main" id="{585BEB4F-1203-433F-B08D-2DC61DA90871}"/>
                </a:ext>
              </a:extLst>
            </p:cNvPr>
            <p:cNvCxnSpPr>
              <a:cxnSpLocks noChangeShapeType="1"/>
              <a:stCxn id="9224" idx="3"/>
              <a:endCxn id="9225" idx="1"/>
            </p:cNvCxnSpPr>
            <p:nvPr/>
          </p:nvCxnSpPr>
          <p:spPr bwMode="auto">
            <a:xfrm flipH="1">
              <a:off x="4646" y="2993"/>
              <a:ext cx="609" cy="392"/>
            </a:xfrm>
            <a:prstGeom prst="bentConnector4">
              <a:avLst>
                <a:gd name="adj1" fmla="val -23644"/>
                <a:gd name="adj2" fmla="val 808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233" name="Text Box 17">
              <a:extLst>
                <a:ext uri="{FF2B5EF4-FFF2-40B4-BE49-F238E27FC236}">
                  <a16:creationId xmlns:a16="http://schemas.microsoft.com/office/drawing/2014/main" id="{53C9155A-D3AF-47AD-A08B-EB339960A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750"/>
              <a:ext cx="356" cy="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lv-LV" altLang="en-US" dirty="0" err="1"/>
                <a:t>Yes</a:t>
              </a:r>
              <a:r>
                <a:rPr lang="lv-LV" altLang="en-US" dirty="0"/>
                <a:t>
</a:t>
              </a:r>
            </a:p>
          </p:txBody>
        </p:sp>
        <p:sp>
          <p:nvSpPr>
            <p:cNvPr id="9234" name="Text Box 18">
              <a:extLst>
                <a:ext uri="{FF2B5EF4-FFF2-40B4-BE49-F238E27FC236}">
                  <a16:creationId xmlns:a16="http://schemas.microsoft.com/office/drawing/2014/main" id="{2AFB8604-B00F-408C-A2D5-D8A1219BE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3" y="2750"/>
              <a:ext cx="3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
</a:t>
              </a:r>
            </a:p>
          </p:txBody>
        </p:sp>
        <p:sp>
          <p:nvSpPr>
            <p:cNvPr id="9239" name="Rectangle 23">
              <a:extLst>
                <a:ext uri="{FF2B5EF4-FFF2-40B4-BE49-F238E27FC236}">
                  <a16:creationId xmlns:a16="http://schemas.microsoft.com/office/drawing/2014/main" id="{6977DB7C-EB84-44F0-86C7-ACCB298BA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298"/>
              <a:ext cx="992" cy="2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2800"/>
                <a:t>sum=0</a:t>
              </a:r>
            </a:p>
          </p:txBody>
        </p:sp>
        <p:cxnSp>
          <p:nvCxnSpPr>
            <p:cNvPr id="9240" name="AutoShape 24">
              <a:extLst>
                <a:ext uri="{FF2B5EF4-FFF2-40B4-BE49-F238E27FC236}">
                  <a16:creationId xmlns:a16="http://schemas.microsoft.com/office/drawing/2014/main" id="{8C00DA51-C6D9-4EF5-8B11-6EDF6C842AE6}"/>
                </a:ext>
              </a:extLst>
            </p:cNvPr>
            <p:cNvCxnSpPr>
              <a:cxnSpLocks noChangeShapeType="1"/>
              <a:stCxn id="9222" idx="2"/>
              <a:endCxn id="9239" idx="0"/>
            </p:cNvCxnSpPr>
            <p:nvPr/>
          </p:nvCxnSpPr>
          <p:spPr bwMode="auto">
            <a:xfrm>
              <a:off x="4691" y="1078"/>
              <a:ext cx="0" cy="2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41" name="AutoShape 25">
              <a:extLst>
                <a:ext uri="{FF2B5EF4-FFF2-40B4-BE49-F238E27FC236}">
                  <a16:creationId xmlns:a16="http://schemas.microsoft.com/office/drawing/2014/main" id="{F5A49285-8D27-4DB4-B4AE-80507E27B80B}"/>
                </a:ext>
              </a:extLst>
            </p:cNvPr>
            <p:cNvCxnSpPr>
              <a:cxnSpLocks noChangeShapeType="1"/>
              <a:stCxn id="9239" idx="2"/>
              <a:endCxn id="9223" idx="1"/>
            </p:cNvCxnSpPr>
            <p:nvPr/>
          </p:nvCxnSpPr>
          <p:spPr bwMode="auto">
            <a:xfrm>
              <a:off x="4691" y="1582"/>
              <a:ext cx="1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42" name="AutoShape 26">
              <a:extLst>
                <a:ext uri="{FF2B5EF4-FFF2-40B4-BE49-F238E27FC236}">
                  <a16:creationId xmlns:a16="http://schemas.microsoft.com/office/drawing/2014/main" id="{8EDE7ED7-023D-44CA-8370-8F394194FCEF}"/>
                </a:ext>
              </a:extLst>
            </p:cNvPr>
            <p:cNvCxnSpPr>
              <a:cxnSpLocks noChangeShapeType="1"/>
              <a:stCxn id="9223" idx="4"/>
              <a:endCxn id="9226" idx="0"/>
            </p:cNvCxnSpPr>
            <p:nvPr/>
          </p:nvCxnSpPr>
          <p:spPr bwMode="auto">
            <a:xfrm flipH="1">
              <a:off x="4691" y="2080"/>
              <a:ext cx="1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43" name="AutoShape 27">
              <a:extLst>
                <a:ext uri="{FF2B5EF4-FFF2-40B4-BE49-F238E27FC236}">
                  <a16:creationId xmlns:a16="http://schemas.microsoft.com/office/drawing/2014/main" id="{514F3E72-A13F-4BD2-9CD6-93F668F9C088}"/>
                </a:ext>
              </a:extLst>
            </p:cNvPr>
            <p:cNvCxnSpPr>
              <a:cxnSpLocks noChangeShapeType="1"/>
              <a:stCxn id="9226" idx="2"/>
              <a:endCxn id="9224" idx="0"/>
            </p:cNvCxnSpPr>
            <p:nvPr/>
          </p:nvCxnSpPr>
          <p:spPr bwMode="auto">
            <a:xfrm flipH="1">
              <a:off x="4688" y="2580"/>
              <a:ext cx="3" cy="17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44" name="AutoShape 28">
              <a:extLst>
                <a:ext uri="{FF2B5EF4-FFF2-40B4-BE49-F238E27FC236}">
                  <a16:creationId xmlns:a16="http://schemas.microsoft.com/office/drawing/2014/main" id="{8A962AC3-A8D5-4E53-96CE-80D5E91AE47E}"/>
                </a:ext>
              </a:extLst>
            </p:cNvPr>
            <p:cNvCxnSpPr>
              <a:cxnSpLocks noChangeShapeType="1"/>
              <a:stCxn id="9225" idx="4"/>
              <a:endCxn id="9227" idx="0"/>
            </p:cNvCxnSpPr>
            <p:nvPr/>
          </p:nvCxnSpPr>
          <p:spPr bwMode="auto">
            <a:xfrm flipH="1">
              <a:off x="4645" y="3669"/>
              <a:ext cx="1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65FE3F-E1D8-4A17-BD61-D86FD5424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do-</a:t>
            </a:r>
            <a:r>
              <a:rPr lang="lv-LV" altLang="en-US" dirty="0" err="1"/>
              <a:t>while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</a:t>
            </a:r>
            <a:r>
              <a:rPr lang="lv-LV" altLang="en-US" dirty="0" err="1"/>
              <a:t>practice</a:t>
            </a:r>
            <a:endParaRPr lang="lv-LV" altLang="en-US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91E20F-73C6-4971-B83C-118024E07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3600" dirty="0"/>
              <a:t>The program will </a:t>
            </a:r>
            <a:r>
              <a:rPr lang="lv-LV" altLang="en-US" sz="3600" dirty="0" err="1"/>
              <a:t>ask</a:t>
            </a:r>
            <a:r>
              <a:rPr lang="en-US" altLang="en-US" sz="3600" dirty="0"/>
              <a:t> a password until you enter the correct </a:t>
            </a:r>
            <a:r>
              <a:rPr lang="lv-LV" altLang="en-US" sz="3600" dirty="0" err="1"/>
              <a:t>one</a:t>
            </a:r>
            <a:r>
              <a:rPr lang="en-US" altLang="en-US" sz="3600" dirty="0"/>
              <a:t>.
</a:t>
            </a:r>
            <a:endParaRPr lang="lv-LV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6E61856-BF9E-4E61-82D1-031F3BF6A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for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endParaRPr lang="lv-LV" alt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B45A32-670D-48AD-9AA3-7C0BA3A68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1412875"/>
            <a:ext cx="8871395" cy="103663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60363" indent="-360363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for</a:t>
            </a:r>
            <a:r>
              <a:rPr lang="lv-LV" altLang="en-US" sz="1600" dirty="0">
                <a:latin typeface="Courier New" panose="02070309020205020404" pitchFamily="49" charset="0"/>
              </a:rPr>
              <a:t> ( /* </a:t>
            </a:r>
            <a:r>
              <a:rPr lang="lv-LV" altLang="en-US" sz="1600" dirty="0" err="1">
                <a:latin typeface="Courier New" panose="02070309020205020404" pitchFamily="49" charset="0"/>
              </a:rPr>
              <a:t>Expression</a:t>
            </a:r>
            <a:r>
              <a:rPr lang="lv-LV" altLang="en-US" sz="1600" dirty="0">
                <a:latin typeface="Courier New" panose="02070309020205020404" pitchFamily="49" charset="0"/>
              </a:rPr>
              <a:t> #1 */ ; /* </a:t>
            </a:r>
            <a:r>
              <a:rPr lang="lv-LV" altLang="en-US" sz="1600" dirty="0" err="1">
                <a:latin typeface="Courier New" panose="02070309020205020404" pitchFamily="49" charset="0"/>
              </a:rPr>
              <a:t>Condition</a:t>
            </a:r>
            <a:r>
              <a:rPr lang="lv-LV" altLang="en-US" sz="1600" dirty="0">
                <a:latin typeface="Courier New" panose="02070309020205020404" pitchFamily="49" charset="0"/>
              </a:rPr>
              <a:t> */ ; /* </a:t>
            </a:r>
            <a:r>
              <a:rPr lang="lv-LV" altLang="en-US" sz="1600" dirty="0" err="1">
                <a:latin typeface="Courier New" panose="02070309020205020404" pitchFamily="49" charset="0"/>
              </a:rPr>
              <a:t>Expression</a:t>
            </a:r>
            <a:r>
              <a:rPr lang="lv-LV" altLang="en-US" sz="1600" dirty="0">
                <a:latin typeface="Courier New" panose="02070309020205020404" pitchFamily="49" charset="0"/>
              </a:rPr>
              <a:t> #2 */)</a:t>
            </a:r>
          </a:p>
          <a:p>
            <a:pPr marL="360363" indent="-360363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</a:p>
          <a:p>
            <a:pPr marL="360363" indent="-360363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/* </a:t>
            </a:r>
            <a:r>
              <a:rPr lang="lv-LV" altLang="en-US" sz="16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600" dirty="0">
                <a:latin typeface="Courier New" panose="02070309020205020404" pitchFamily="49" charset="0"/>
              </a:rPr>
              <a:t> */</a:t>
            </a:r>
          </a:p>
          <a:p>
            <a:pPr marL="360363" indent="-360363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49151B3A-634F-44A3-A91E-ABE1B26A0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586038"/>
            <a:ext cx="4390946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/* </a:t>
            </a:r>
            <a:r>
              <a:rPr lang="lv-LV" altLang="en-US" dirty="0" err="1">
                <a:latin typeface="Courier New" panose="02070309020205020404" pitchFamily="49" charset="0"/>
              </a:rPr>
              <a:t>Expression</a:t>
            </a:r>
            <a:r>
              <a:rPr lang="lv-LV" altLang="en-US" dirty="0">
                <a:latin typeface="Courier New" panose="02070309020205020404" pitchFamily="49" charset="0"/>
              </a:rPr>
              <a:t> #1 */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while</a:t>
            </a:r>
            <a:r>
              <a:rPr lang="lv-LV" altLang="en-US" dirty="0">
                <a:latin typeface="Courier New" panose="02070309020205020404" pitchFamily="49" charset="0"/>
              </a:rPr>
              <a:t> ( /* </a:t>
            </a:r>
            <a:r>
              <a:rPr lang="lv-LV" altLang="en-US" sz="1800" dirty="0" err="1">
                <a:latin typeface="Courier New" panose="02070309020205020404" pitchFamily="49" charset="0"/>
              </a:rPr>
              <a:t>Condition</a:t>
            </a:r>
            <a:r>
              <a:rPr lang="lv-LV" altLang="en-US" dirty="0">
                <a:latin typeface="Courier New" panose="02070309020205020404" pitchFamily="49" charset="0"/>
              </a:rPr>
              <a:t> */ 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   /* </a:t>
            </a:r>
            <a:r>
              <a:rPr lang="lv-LV" altLang="en-US" sz="1800" dirty="0" err="1">
                <a:latin typeface="Courier New" panose="02070309020205020404" pitchFamily="49" charset="0"/>
              </a:rPr>
              <a:t>operation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sequence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dirty="0">
                <a:latin typeface="Courier New" panose="02070309020205020404" pitchFamily="49" charset="0"/>
              </a:rPr>
              <a:t>*/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    /* </a:t>
            </a:r>
            <a:r>
              <a:rPr lang="lv-LV" altLang="en-US" dirty="0" err="1">
                <a:latin typeface="Courier New" panose="02070309020205020404" pitchFamily="49" charset="0"/>
              </a:rPr>
              <a:t>Expression</a:t>
            </a:r>
            <a:r>
              <a:rPr lang="lv-LV" altLang="en-US" dirty="0">
                <a:latin typeface="Courier New" panose="02070309020205020404" pitchFamily="49" charset="0"/>
              </a:rPr>
              <a:t>  #2 */ 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11285" name="Group 21">
            <a:extLst>
              <a:ext uri="{FF2B5EF4-FFF2-40B4-BE49-F238E27FC236}">
                <a16:creationId xmlns:a16="http://schemas.microsoft.com/office/drawing/2014/main" id="{D511ACFD-D78E-4163-BA28-1E87E9D18C69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2924175"/>
            <a:ext cx="4160837" cy="3600450"/>
            <a:chOff x="2925" y="1842"/>
            <a:chExt cx="2621" cy="2268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EB52DC17-51B0-4328-ABC7-77BC27ADC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842"/>
              <a:ext cx="108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Expression</a:t>
              </a:r>
              <a:r>
                <a:rPr lang="lv-LV" altLang="en-US" dirty="0"/>
                <a:t> #1</a:t>
              </a:r>
            </a:p>
          </p:txBody>
        </p:sp>
        <p:sp>
          <p:nvSpPr>
            <p:cNvPr id="11270" name="AutoShape 6">
              <a:extLst>
                <a:ext uri="{FF2B5EF4-FFF2-40B4-BE49-F238E27FC236}">
                  <a16:creationId xmlns:a16="http://schemas.microsoft.com/office/drawing/2014/main" id="{758751B5-3243-4BF5-B91D-36A563B4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7" y="2387"/>
              <a:ext cx="1179" cy="453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Condition</a:t>
              </a:r>
              <a:endParaRPr lang="lv-LV" altLang="en-US" dirty="0"/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3992CDCE-E679-474F-9958-9D2B3D33F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" y="3113"/>
              <a:ext cx="108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sz="1800" dirty="0" err="1"/>
                <a:t>Operation</a:t>
              </a:r>
              <a:r>
                <a:rPr lang="lv-LV" altLang="en-US" sz="1800" dirty="0"/>
                <a:t> </a:t>
              </a:r>
            </a:p>
            <a:p>
              <a:pPr algn="ctr"/>
              <a:r>
                <a:rPr lang="lv-LV" altLang="en-US" sz="1800" dirty="0" err="1"/>
                <a:t>sequence</a:t>
              </a:r>
              <a:endParaRPr lang="lv-LV" altLang="en-US" sz="1800" dirty="0"/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922FECD0-EF06-4054-87E6-3CB31300B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" y="3657"/>
              <a:ext cx="1088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lv-LV" altLang="en-US" dirty="0" err="1"/>
                <a:t>Expression</a:t>
              </a:r>
              <a:r>
                <a:rPr lang="lv-LV" altLang="en-US" dirty="0"/>
                <a:t> #2</a:t>
              </a:r>
            </a:p>
          </p:txBody>
        </p:sp>
        <p:cxnSp>
          <p:nvCxnSpPr>
            <p:cNvPr id="11273" name="AutoShape 9">
              <a:extLst>
                <a:ext uri="{FF2B5EF4-FFF2-40B4-BE49-F238E27FC236}">
                  <a16:creationId xmlns:a16="http://schemas.microsoft.com/office/drawing/2014/main" id="{FA3A4028-384C-4BBD-8229-E7941C792E3B}"/>
                </a:ext>
              </a:extLst>
            </p:cNvPr>
            <p:cNvCxnSpPr>
              <a:cxnSpLocks noChangeShapeType="1"/>
              <a:stCxn id="11269" idx="2"/>
              <a:endCxn id="11270" idx="0"/>
            </p:cNvCxnSpPr>
            <p:nvPr/>
          </p:nvCxnSpPr>
          <p:spPr bwMode="auto">
            <a:xfrm flipH="1">
              <a:off x="4647" y="2160"/>
              <a:ext cx="2" cy="2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4" name="AutoShape 10">
              <a:extLst>
                <a:ext uri="{FF2B5EF4-FFF2-40B4-BE49-F238E27FC236}">
                  <a16:creationId xmlns:a16="http://schemas.microsoft.com/office/drawing/2014/main" id="{208FDF01-FCEA-4E9B-B0A0-2CEBADD4DE8E}"/>
                </a:ext>
              </a:extLst>
            </p:cNvPr>
            <p:cNvCxnSpPr>
              <a:cxnSpLocks noChangeShapeType="1"/>
              <a:stCxn id="11270" idx="1"/>
              <a:endCxn id="11271" idx="0"/>
            </p:cNvCxnSpPr>
            <p:nvPr/>
          </p:nvCxnSpPr>
          <p:spPr bwMode="auto">
            <a:xfrm rot="10800000" flipV="1">
              <a:off x="3606" y="2614"/>
              <a:ext cx="451" cy="499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5" name="AutoShape 11">
              <a:extLst>
                <a:ext uri="{FF2B5EF4-FFF2-40B4-BE49-F238E27FC236}">
                  <a16:creationId xmlns:a16="http://schemas.microsoft.com/office/drawing/2014/main" id="{1E4267E5-6C73-4D5D-9B1E-159D75545E74}"/>
                </a:ext>
              </a:extLst>
            </p:cNvPr>
            <p:cNvCxnSpPr>
              <a:cxnSpLocks noChangeShapeType="1"/>
              <a:stCxn id="11271" idx="2"/>
              <a:endCxn id="11272" idx="0"/>
            </p:cNvCxnSpPr>
            <p:nvPr/>
          </p:nvCxnSpPr>
          <p:spPr bwMode="auto">
            <a:xfrm>
              <a:off x="3606" y="3431"/>
              <a:ext cx="0" cy="2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6" name="AutoShape 12">
              <a:extLst>
                <a:ext uri="{FF2B5EF4-FFF2-40B4-BE49-F238E27FC236}">
                  <a16:creationId xmlns:a16="http://schemas.microsoft.com/office/drawing/2014/main" id="{060ADD2E-42C4-491C-80BA-85A6B3C6A658}"/>
                </a:ext>
              </a:extLst>
            </p:cNvPr>
            <p:cNvCxnSpPr>
              <a:cxnSpLocks noChangeShapeType="1"/>
              <a:stCxn id="11270" idx="3"/>
            </p:cNvCxnSpPr>
            <p:nvPr/>
          </p:nvCxnSpPr>
          <p:spPr bwMode="auto">
            <a:xfrm flipH="1">
              <a:off x="4650" y="2614"/>
              <a:ext cx="586" cy="1496"/>
            </a:xfrm>
            <a:prstGeom prst="bentConnector4">
              <a:avLst>
                <a:gd name="adj1" fmla="val -62287"/>
                <a:gd name="adj2" fmla="val 5748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279" name="Text Box 15">
              <a:extLst>
                <a:ext uri="{FF2B5EF4-FFF2-40B4-BE49-F238E27FC236}">
                  <a16:creationId xmlns:a16="http://schemas.microsoft.com/office/drawing/2014/main" id="{D7237355-470D-40AE-BFF4-0494490EE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3" y="2381"/>
              <a:ext cx="353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 err="1"/>
                <a:t>Yes</a:t>
              </a:r>
              <a:r>
                <a:rPr lang="lv-LV" altLang="en-US" dirty="0"/>
                <a:t>
</a:t>
              </a:r>
            </a:p>
          </p:txBody>
        </p:sp>
        <p:sp>
          <p:nvSpPr>
            <p:cNvPr id="11280" name="Text Box 16">
              <a:extLst>
                <a:ext uri="{FF2B5EF4-FFF2-40B4-BE49-F238E27FC236}">
                  <a16:creationId xmlns:a16="http://schemas.microsoft.com/office/drawing/2014/main" id="{8069A220-BC50-4990-8D91-6CAAE67D1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2381"/>
              <a:ext cx="30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lv-LV" altLang="en-US" dirty="0"/>
                <a:t>No
</a:t>
              </a:r>
            </a:p>
          </p:txBody>
        </p:sp>
        <p:sp>
          <p:nvSpPr>
            <p:cNvPr id="11281" name="Line 17">
              <a:extLst>
                <a:ext uri="{FF2B5EF4-FFF2-40B4-BE49-F238E27FC236}">
                  <a16:creationId xmlns:a16="http://schemas.microsoft.com/office/drawing/2014/main" id="{1BF2C5F5-5FED-4C53-B87F-158C1B000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397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Line 18">
              <a:extLst>
                <a:ext uri="{FF2B5EF4-FFF2-40B4-BE49-F238E27FC236}">
                  <a16:creationId xmlns:a16="http://schemas.microsoft.com/office/drawing/2014/main" id="{87D243F2-3B63-49C5-A202-1C40CF4D4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5" y="4110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19">
              <a:extLst>
                <a:ext uri="{FF2B5EF4-FFF2-40B4-BE49-F238E27FC236}">
                  <a16:creationId xmlns:a16="http://schemas.microsoft.com/office/drawing/2014/main" id="{108B7E3E-F9F2-4CFA-B1E5-C108C5D99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2296"/>
              <a:ext cx="0" cy="18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Line 20">
              <a:extLst>
                <a:ext uri="{FF2B5EF4-FFF2-40B4-BE49-F238E27FC236}">
                  <a16:creationId xmlns:a16="http://schemas.microsoft.com/office/drawing/2014/main" id="{40907FF4-2F00-420E-9A3D-4EE563033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296"/>
              <a:ext cx="17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022B2BA-629F-4293-B166-3E61787AB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for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1st </a:t>
            </a:r>
            <a:r>
              <a:rPr lang="lv-LV" altLang="en-US" dirty="0" err="1"/>
              <a:t>example</a:t>
            </a:r>
            <a:endParaRPr lang="lv-LV" altLang="en-US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482C972-19BC-4005-899A-582AA95AC16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44675"/>
            <a:ext cx="8218488" cy="482441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main</a:t>
            </a:r>
            <a:r>
              <a:rPr lang="lv-LV" altLang="en-US" sz="1600" dirty="0">
                <a:latin typeface="Courier New" panose="02070309020205020404" pitchFamily="49" charset="0"/>
              </a:rPr>
              <a:t> 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n;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Input</a:t>
            </a:r>
            <a:r>
              <a:rPr lang="lv-LV" altLang="en-US" sz="1600" dirty="0">
                <a:latin typeface="Courier New" panose="02070309020205020404" pitchFamily="49" charset="0"/>
              </a:rPr>
              <a:t> n: ";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cin</a:t>
            </a:r>
            <a:r>
              <a:rPr lang="lv-LV" altLang="en-US" sz="1600" dirty="0">
                <a:latin typeface="Courier New" panose="02070309020205020404" pitchFamily="49" charset="0"/>
              </a:rPr>
              <a:t> &gt;&gt; n;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sum = 0, i;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for</a:t>
            </a:r>
            <a:r>
              <a:rPr lang="lv-LV" altLang="en-US" sz="1600" dirty="0">
                <a:latin typeface="Courier New" panose="02070309020205020404" pitchFamily="49" charset="0"/>
              </a:rPr>
              <a:t> ( i = 1; i &lt;= n; i = i + 1)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    sum = sum + i 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By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for</a:t>
            </a:r>
            <a:r>
              <a:rPr lang="lv-LV" altLang="en-US" sz="1600" dirty="0">
                <a:latin typeface="Courier New" panose="02070309020205020404" pitchFamily="49" charset="0"/>
              </a:rPr>
              <a:t> sum: " &lt;&lt; sum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By</a:t>
            </a:r>
            <a:r>
              <a:rPr lang="lv-LV" altLang="en-US" sz="1600" dirty="0">
                <a:latin typeface="Courier New" panose="02070309020205020404" pitchFamily="49" charset="0"/>
              </a:rPr>
              <a:t> formula n*(n+1)/2 sum: " &lt;&lt; n*(n+1)/2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system</a:t>
            </a:r>
            <a:r>
              <a:rPr lang="lv-LV" altLang="en-US" sz="1600" dirty="0">
                <a:latin typeface="Courier New" panose="02070309020205020404" pitchFamily="49" charset="0"/>
              </a:rPr>
              <a:t> ("</a:t>
            </a:r>
            <a:r>
              <a:rPr lang="lv-LV" altLang="en-US" sz="1600" dirty="0" err="1">
                <a:latin typeface="Courier New" panose="02070309020205020404" pitchFamily="49" charset="0"/>
              </a:rPr>
              <a:t>pause</a:t>
            </a:r>
            <a:r>
              <a:rPr lang="lv-LV" altLang="en-US" sz="1600" dirty="0">
                <a:latin typeface="Courier New" panose="02070309020205020404" pitchFamily="49" charset="0"/>
              </a:rPr>
              <a:t>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12295" name="Group 7">
            <a:extLst>
              <a:ext uri="{FF2B5EF4-FFF2-40B4-BE49-F238E27FC236}">
                <a16:creationId xmlns:a16="http://schemas.microsoft.com/office/drawing/2014/main" id="{9B0C2457-9928-4285-B1D4-41ABCEB66C30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52538"/>
            <a:ext cx="6697662" cy="528637"/>
            <a:chOff x="249" y="853"/>
            <a:chExt cx="4219" cy="333"/>
          </a:xfrm>
        </p:grpSpPr>
        <p:sp>
          <p:nvSpPr>
            <p:cNvPr id="12292" name="Text Box 4">
              <a:extLst>
                <a:ext uri="{FF2B5EF4-FFF2-40B4-BE49-F238E27FC236}">
                  <a16:creationId xmlns:a16="http://schemas.microsoft.com/office/drawing/2014/main" id="{01E4440A-A968-4A2C-B446-2536F65F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890"/>
              <a:ext cx="4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lv-LV" altLang="en-US" dirty="0" err="1"/>
                <a:t>Calculate</a:t>
              </a:r>
              <a:r>
                <a:rPr lang="lv-LV" altLang="en-US" dirty="0"/>
                <a:t> </a:t>
              </a:r>
              <a:r>
                <a:rPr lang="lv-LV" altLang="en-US" dirty="0" err="1"/>
                <a:t>arithmetic</a:t>
              </a:r>
              <a:r>
                <a:rPr lang="lv-LV" altLang="en-US" dirty="0"/>
                <a:t> </a:t>
              </a:r>
              <a:r>
                <a:rPr lang="lv-LV" altLang="en-US" dirty="0" err="1"/>
                <a:t>progression</a:t>
              </a:r>
              <a:endParaRPr lang="lv-LV" altLang="en-US" dirty="0"/>
            </a:p>
          </p:txBody>
        </p:sp>
        <p:graphicFrame>
          <p:nvGraphicFramePr>
            <p:cNvPr id="12293" name="Object 5">
              <a:extLst>
                <a:ext uri="{FF2B5EF4-FFF2-40B4-BE49-F238E27FC236}">
                  <a16:creationId xmlns:a16="http://schemas.microsoft.com/office/drawing/2014/main" id="{213FAFA4-136F-4052-9BC7-57085DDCAA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1621906"/>
                </p:ext>
              </p:extLst>
            </p:nvPr>
          </p:nvGraphicFramePr>
          <p:xfrm>
            <a:off x="2364" y="853"/>
            <a:ext cx="72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name="Equation" r:id="rId3" imgW="634680" imgH="291960" progId="Equation.3">
                    <p:embed/>
                  </p:oleObj>
                </mc:Choice>
                <mc:Fallback>
                  <p:oleObj name="Equation" r:id="rId3" imgW="634680" imgH="2919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4" y="853"/>
                          <a:ext cx="72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C5D65E0-8432-4D36-A6D4-7C5D5C6AC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for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2nd </a:t>
            </a:r>
            <a:r>
              <a:rPr lang="lv-LV" altLang="en-US" dirty="0" err="1"/>
              <a:t>example</a:t>
            </a:r>
            <a:endParaRPr lang="lv-LV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854C7A5-E46F-4E8A-AD1D-2BDB402EFB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44675"/>
            <a:ext cx="8218488" cy="44640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main</a:t>
            </a:r>
            <a:r>
              <a:rPr lang="lv-LV" altLang="en-US" sz="1600" dirty="0">
                <a:latin typeface="Courier New" panose="02070309020205020404" pitchFamily="49" charset="0"/>
              </a:rPr>
              <a:t> 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n;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Input</a:t>
            </a:r>
            <a:r>
              <a:rPr lang="lv-LV" altLang="en-US" sz="1600" dirty="0">
                <a:latin typeface="Courier New" panose="02070309020205020404" pitchFamily="49" charset="0"/>
              </a:rPr>
              <a:t> n: ";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cin</a:t>
            </a:r>
            <a:r>
              <a:rPr lang="lv-LV" altLang="en-US" sz="1600" dirty="0">
                <a:latin typeface="Courier New" panose="02070309020205020404" pitchFamily="49" charset="0"/>
              </a:rPr>
              <a:t> &gt;&gt; n;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sum =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for</a:t>
            </a:r>
            <a:r>
              <a:rPr lang="lv-LV" altLang="en-US" sz="1600" dirty="0">
                <a:latin typeface="Courier New" panose="02070309020205020404" pitchFamily="49" charset="0"/>
              </a:rPr>
              <a:t> ( </a:t>
            </a:r>
            <a:r>
              <a:rPr lang="lv-LV" altLang="en-US" sz="1600" dirty="0" err="1">
                <a:latin typeface="Courier New" panose="02070309020205020404" pitchFamily="49" charset="0"/>
              </a:rPr>
              <a:t>int</a:t>
            </a:r>
            <a:r>
              <a:rPr lang="lv-LV" altLang="en-US" sz="1600" dirty="0">
                <a:latin typeface="Courier New" panose="02070309020205020404" pitchFamily="49" charset="0"/>
              </a:rPr>
              <a:t> i = 1; i &lt;= n; i = i + 1)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    sum = sum + i 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By</a:t>
            </a:r>
            <a:r>
              <a:rPr lang="lv-LV" altLang="en-US" sz="1600" dirty="0">
                <a:latin typeface="Courier New" panose="02070309020205020404" pitchFamily="49" charset="0"/>
              </a:rPr>
              <a:t> </a:t>
            </a:r>
            <a:r>
              <a:rPr lang="lv-LV" altLang="en-US" sz="1600" dirty="0" err="1">
                <a:latin typeface="Courier New" panose="02070309020205020404" pitchFamily="49" charset="0"/>
              </a:rPr>
              <a:t>for</a:t>
            </a:r>
            <a:r>
              <a:rPr lang="lv-LV" altLang="en-US" sz="1600" dirty="0">
                <a:latin typeface="Courier New" panose="02070309020205020404" pitchFamily="49" charset="0"/>
              </a:rPr>
              <a:t> sum: " &lt;&lt; sum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cout</a:t>
            </a:r>
            <a:r>
              <a:rPr lang="lv-LV" altLang="en-US" sz="1600" dirty="0">
                <a:latin typeface="Courier New" panose="02070309020205020404" pitchFamily="49" charset="0"/>
              </a:rPr>
              <a:t> &lt;&lt; "</a:t>
            </a:r>
            <a:r>
              <a:rPr lang="lv-LV" altLang="en-US" sz="1600" dirty="0" err="1">
                <a:latin typeface="Courier New" panose="02070309020205020404" pitchFamily="49" charset="0"/>
              </a:rPr>
              <a:t>By</a:t>
            </a:r>
            <a:r>
              <a:rPr lang="lv-LV" altLang="en-US" sz="1600" dirty="0">
                <a:latin typeface="Courier New" panose="02070309020205020404" pitchFamily="49" charset="0"/>
              </a:rPr>
              <a:t> formula n*(n+1)/2 sum: " &lt;&lt; n*(n+1)/2 &lt;&lt; </a:t>
            </a:r>
            <a:r>
              <a:rPr lang="lv-LV" altLang="en-US" sz="1600" dirty="0" err="1">
                <a:latin typeface="Courier New" panose="02070309020205020404" pitchFamily="49" charset="0"/>
              </a:rPr>
              <a:t>endl</a:t>
            </a:r>
            <a:r>
              <a:rPr lang="lv-LV" altLang="en-US" sz="16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system</a:t>
            </a:r>
            <a:r>
              <a:rPr lang="lv-LV" altLang="en-US" sz="1600" dirty="0">
                <a:latin typeface="Courier New" panose="02070309020205020404" pitchFamily="49" charset="0"/>
              </a:rPr>
              <a:t> ("</a:t>
            </a:r>
            <a:r>
              <a:rPr lang="lv-LV" altLang="en-US" sz="1600" dirty="0" err="1">
                <a:latin typeface="Courier New" panose="02070309020205020404" pitchFamily="49" charset="0"/>
              </a:rPr>
              <a:t>pause</a:t>
            </a:r>
            <a:r>
              <a:rPr lang="lv-LV" altLang="en-US" sz="1600" dirty="0">
                <a:latin typeface="Courier New" panose="02070309020205020404" pitchFamily="49" charset="0"/>
              </a:rPr>
              <a:t>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    </a:t>
            </a:r>
            <a:r>
              <a:rPr lang="lv-LV" altLang="en-US" sz="1600" dirty="0" err="1">
                <a:latin typeface="Courier New" panose="02070309020205020404" pitchFamily="49" charset="0"/>
              </a:rPr>
              <a:t>return</a:t>
            </a:r>
            <a:r>
              <a:rPr lang="lv-LV" altLang="en-US" sz="1600" dirty="0">
                <a:latin typeface="Courier New" panose="02070309020205020404" pitchFamily="49" charset="0"/>
              </a:rPr>
              <a:t>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8E889BE5-F768-483E-A9B4-EB419C0CF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11275"/>
            <a:ext cx="66976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same </a:t>
            </a:r>
            <a:r>
              <a:rPr lang="lv-LV" altLang="en-US" dirty="0" err="1"/>
              <a:t>in</a:t>
            </a:r>
            <a:r>
              <a:rPr lang="lv-LV" altLang="en-US" dirty="0"/>
              <a:t> </a:t>
            </a:r>
            <a:r>
              <a:rPr lang="lv-LV" altLang="en-US" dirty="0" err="1"/>
              <a:t>shortened</a:t>
            </a:r>
            <a:r>
              <a:rPr lang="lv-LV" altLang="en-US" dirty="0"/>
              <a:t> </a:t>
            </a:r>
            <a:r>
              <a:rPr lang="en-US" altLang="en-US" dirty="0"/>
              <a:t>notation.</a:t>
            </a:r>
            <a:endParaRPr lang="lv-LV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332F44F-2F9A-48CB-A2AE-A317A78D8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for</a:t>
            </a:r>
            <a:r>
              <a:rPr lang="lv-LV" altLang="en-US" dirty="0"/>
              <a:t> </a:t>
            </a:r>
            <a:r>
              <a:rPr lang="lv-LV" altLang="en-US" dirty="0" err="1"/>
              <a:t>loop</a:t>
            </a:r>
            <a:r>
              <a:rPr lang="lv-LV" altLang="en-US" dirty="0"/>
              <a:t> </a:t>
            </a:r>
            <a:r>
              <a:rPr lang="lv-LV" altLang="en-US" dirty="0" err="1"/>
              <a:t>practice</a:t>
            </a:r>
            <a:endParaRPr lang="lv-LV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67FC906-3EED-44C4-88F7-39F6E37E9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9138"/>
            <a:ext cx="8229600" cy="41370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3600" dirty="0"/>
              <a:t>By given natural </a:t>
            </a:r>
            <a:r>
              <a:rPr lang="en-US" altLang="en-US" sz="3600" b="1" dirty="0"/>
              <a:t>n</a:t>
            </a:r>
            <a:r>
              <a:rPr lang="en-US" altLang="en-US" sz="3600" dirty="0"/>
              <a:t> calculate
</a:t>
            </a:r>
            <a:r>
              <a:rPr lang="lv-LV" altLang="en-US" sz="3600" dirty="0"/>
              <a:t>1</a:t>
            </a:r>
            <a:r>
              <a:rPr lang="lv-LV" altLang="en-US" sz="3600" baseline="30000" dirty="0"/>
              <a:t>2</a:t>
            </a:r>
            <a:r>
              <a:rPr lang="lv-LV" altLang="en-US" sz="3600" dirty="0"/>
              <a:t>+2</a:t>
            </a:r>
            <a:r>
              <a:rPr lang="lv-LV" altLang="en-US" sz="3600" baseline="30000" dirty="0"/>
              <a:t>2</a:t>
            </a:r>
            <a:r>
              <a:rPr lang="lv-LV" altLang="en-US" sz="3600" dirty="0"/>
              <a:t>+…+n</a:t>
            </a:r>
            <a:r>
              <a:rPr lang="lv-LV" altLang="en-US" sz="3600" baseline="30000" dirty="0"/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1BC00E-A6F8-4972-9115-F9F8616A0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lv-LV" altLang="en-US" dirty="0" err="1"/>
              <a:t>Practice</a:t>
            </a:r>
            <a:endParaRPr lang="lv-LV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277C607-75AD-4E6D-B451-0C22125B5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52736"/>
            <a:ext cx="8713788" cy="5688632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lv-LV" altLang="en-US" sz="2000" dirty="0" err="1"/>
              <a:t>By</a:t>
            </a:r>
            <a:r>
              <a:rPr lang="lv-LV" altLang="en-US" sz="2000" dirty="0"/>
              <a:t> </a:t>
            </a:r>
            <a:r>
              <a:rPr lang="lv-LV" altLang="en-US" sz="2000" dirty="0" err="1"/>
              <a:t>given</a:t>
            </a:r>
            <a:r>
              <a:rPr lang="lv-LV" altLang="en-US" sz="2000" dirty="0"/>
              <a:t> </a:t>
            </a:r>
            <a:r>
              <a:rPr lang="lv-LV" altLang="en-US" sz="2000" b="1" dirty="0"/>
              <a:t>n</a:t>
            </a:r>
            <a:r>
              <a:rPr lang="lv-LV" altLang="en-US" sz="2000" dirty="0"/>
              <a:t> </a:t>
            </a:r>
            <a:r>
              <a:rPr lang="lv-LV" altLang="en-US" sz="2000" dirty="0" err="1"/>
              <a:t>calculate</a:t>
            </a:r>
            <a:r>
              <a:rPr lang="lv-LV" altLang="en-US" sz="2000" dirty="0"/>
              <a:t> </a:t>
            </a:r>
            <a:r>
              <a:rPr lang="lv-LV" altLang="en-US" sz="2000" b="1" dirty="0"/>
              <a:t>n!</a:t>
            </a:r>
            <a:r>
              <a:rPr lang="lv-LV" altLang="en-US" sz="2000" dirty="0"/>
              <a:t>
</a:t>
            </a:r>
            <a:r>
              <a:rPr lang="lv-LV" altLang="en-US" sz="2000" dirty="0" err="1"/>
              <a:t>By</a:t>
            </a:r>
            <a:r>
              <a:rPr lang="lv-LV" altLang="en-US" sz="2000" dirty="0"/>
              <a:t> </a:t>
            </a:r>
            <a:r>
              <a:rPr lang="lv-LV" altLang="en-US" sz="2000" dirty="0" err="1"/>
              <a:t>given</a:t>
            </a:r>
            <a:r>
              <a:rPr lang="lv-LV" altLang="en-US" sz="2000" dirty="0"/>
              <a:t> i</a:t>
            </a:r>
            <a:r>
              <a:rPr lang="en-US" altLang="en-US" sz="2000" dirty="0" err="1"/>
              <a:t>ntegers</a:t>
            </a:r>
            <a:r>
              <a:rPr lang="en-US" altLang="en-US" sz="2000" dirty="0"/>
              <a:t> A and B</a:t>
            </a:r>
            <a:r>
              <a:rPr lang="lv-LV" altLang="en-US" sz="2000" dirty="0"/>
              <a:t> w</a:t>
            </a:r>
            <a:r>
              <a:rPr lang="en-US" altLang="en-US" sz="2000" dirty="0"/>
              <a:t>rite the program that calculates the product without multiplication “*”</a:t>
            </a:r>
            <a:r>
              <a:rPr lang="lv-LV" altLang="en-US" sz="2000" dirty="0"/>
              <a:t> </a:t>
            </a:r>
            <a:r>
              <a:rPr lang="lv-LV" altLang="en-US" sz="2000" dirty="0" err="1"/>
              <a:t>operation</a:t>
            </a:r>
            <a:r>
              <a:rPr lang="en-US" altLang="en-US" sz="20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000" dirty="0"/>
              <a:t>Input an integer number and count the number of digits in it. For example: If the user enters 2319, the output of the program will be 4.</a:t>
            </a:r>
            <a:endParaRPr lang="lv-LV" altLang="en-US" sz="2000" dirty="0"/>
          </a:p>
          <a:p>
            <a:pPr marL="609600" indent="-609600">
              <a:buFontTx/>
              <a:buAutoNum type="arabicPeriod"/>
            </a:pPr>
            <a:r>
              <a:rPr lang="en-US" altLang="en-US" sz="2000" dirty="0"/>
              <a:t>Input an integer and find the maximal and minimal digit values. For example: If the user enters 2319, the output of the program will be 9 and 1.
Program takes N integers and calculates the sum of odd and even numbers.
There are natural numbers that are equal to the sum of its digits cubes. For example, this characteristic has a number 370=3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+7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+0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. Find all three-digit numbers that satisfy this condition. (</a:t>
            </a:r>
            <a:r>
              <a:rPr lang="en-US" altLang="en-US" sz="2000" i="1" dirty="0"/>
              <a:t>Answer: 153, 370, 371, 407.</a:t>
            </a:r>
            <a:r>
              <a:rPr lang="en-US" altLang="en-US" sz="2000" dirty="0"/>
              <a:t>) </a:t>
            </a:r>
            <a:endParaRPr lang="lv-LV" altLang="en-US" sz="2000" dirty="0"/>
          </a:p>
          <a:p>
            <a:pPr marL="609600" indent="-609600">
              <a:buFontTx/>
              <a:buAutoNum type="arabicPeriod"/>
            </a:pPr>
            <a:r>
              <a:rPr lang="en-US" altLang="en-US" sz="2000" dirty="0"/>
              <a:t>Input an integer and find all its natural dividers (divides with no reminder).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685</Words>
  <Application>Microsoft Office PowerPoint</Application>
  <PresentationFormat>On-screen Show (4:3)</PresentationFormat>
  <Paragraphs>167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Default Design</vt:lpstr>
      <vt:lpstr>Equation</vt:lpstr>
      <vt:lpstr>Loops</vt:lpstr>
      <vt:lpstr>Pre- and Post- condition loops</vt:lpstr>
      <vt:lpstr>C++ loop types</vt:lpstr>
      <vt:lpstr>while loop</vt:lpstr>
      <vt:lpstr>while loop example</vt:lpstr>
      <vt:lpstr>while loop practice</vt:lpstr>
      <vt:lpstr>do-while loop</vt:lpstr>
      <vt:lpstr>do-while loop example</vt:lpstr>
      <vt:lpstr>do-while loop practice</vt:lpstr>
      <vt:lpstr>for loop</vt:lpstr>
      <vt:lpstr>for loop 1st example</vt:lpstr>
      <vt:lpstr>for loop 2nd example</vt:lpstr>
      <vt:lpstr>for loop practice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Cikli</dc:title>
  <dc:creator>Home</dc:creator>
  <cp:lastModifiedBy>Andrej Liepiņš</cp:lastModifiedBy>
  <cp:revision>23</cp:revision>
  <dcterms:created xsi:type="dcterms:W3CDTF">2011-07-09T09:07:04Z</dcterms:created>
  <dcterms:modified xsi:type="dcterms:W3CDTF">2019-03-04T10:38:51Z</dcterms:modified>
</cp:coreProperties>
</file>